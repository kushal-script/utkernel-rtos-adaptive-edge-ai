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Adaptive keyword spotting where the RTOS is an active co-optimiser rather than a scheduler. Every number in this deck is measured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this is not FP32 versus INT8. The best configuration is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arrow in the pipeline is a native uT-Kernel primitive. The RTOS is load bearing, not incidental.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Adaptive is not a compromise between the two static builds, it beats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asymmetry is the whole reason a mixed operating point exists. It was measured,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independence is the strongest form this claim can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judge who finds an error themselves reads it as a mistake. One you hand them reads it as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three is backed by a measurement, and the power one is a ratio rather than a wattage.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board brought up cleanly: the maths was settled before any flash.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Intellectual honesty scores better than an overreaching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source, reproducible from the board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27306E"/>
          </a:solidFill>
          <a:ln/>
        </p:spPr>
      </p:sp>
      <p:sp>
        <p:nvSpPr>
          <p:cNvPr id="3" name="Shape 1"/>
          <p:cNvSpPr/>
          <p:nvPr/>
        </p:nvSpPr>
        <p:spPr>
          <a:xfrm>
            <a:off x="10607040" y="4206240"/>
            <a:ext cx="3108960" cy="3108960"/>
          </a:xfrm>
          <a:prstGeom prst="ellipse">
            <a:avLst/>
          </a:prstGeom>
          <a:solidFill>
            <a:srgbClr val="27306E"/>
          </a:solidFill>
          <a:ln/>
        </p:spPr>
      </p:sp>
      <p:sp>
        <p:nvSpPr>
          <p:cNvPr id="4" name="Text 2"/>
          <p:cNvSpPr txBox="1"/>
          <p:nvPr/>
        </p:nvSpPr>
        <p:spPr>
          <a:xfrm>
            <a:off x="640080" y="1143000"/>
            <a:ext cx="8595360" cy="292608"/>
          </a:xfrm>
          <a:prstGeom prst="rect">
            <a:avLst/>
          </a:prstGeom>
          <a:noFill/>
          <a:ln/>
        </p:spPr>
        <p:txBody>
          <a:bodyPr wrap="square" lIns="0" tIns="0" rIns="0" bIns="0" rtlCol="0" anchor="t"/>
          <a:lstStyle/>
          <a:p>
            <a:pPr indent="0" marL="0">
              <a:buNone/>
            </a:pPr>
            <a:r>
              <a:rPr lang="en-US" sz="1300" b="1" spc="120" kern="0" dirty="0">
                <a:solidFill>
                  <a:srgbClr val="F6AE2D"/>
                </a:solidFill>
                <a:latin typeface="Calibri" pitchFamily="34" charset="0"/>
                <a:ea typeface="Calibri" pitchFamily="34" charset="-122"/>
                <a:cs typeface="Calibri" pitchFamily="34" charset="-120"/>
              </a:rPr>
              <a:t>TRON Programming Contest 2026   ·   RTOS Application, Students</a:t>
            </a:r>
            <a:endParaRPr lang="en-US" sz="1300" dirty="0"/>
          </a:p>
        </p:txBody>
      </p:sp>
      <p:sp>
        <p:nvSpPr>
          <p:cNvPr id="5" name="Text 3"/>
          <p:cNvSpPr txBox="1"/>
          <p:nvPr/>
        </p:nvSpPr>
        <p:spPr>
          <a:xfrm>
            <a:off x="640080" y="1691640"/>
            <a:ext cx="8778240" cy="1920240"/>
          </a:xfrm>
          <a:prstGeom prst="rect">
            <a:avLst/>
          </a:prstGeom>
          <a:noFill/>
          <a:ln/>
        </p:spPr>
        <p:txBody>
          <a:bodyPr wrap="square" lIns="0" tIns="0" rIns="0" bIns="0" rtlCol="0" anchor="t"/>
          <a:lstStyle/>
          <a:p>
            <a:pPr indent="0" marL="0">
              <a:lnSpc>
                <a:spcPct val="95000"/>
              </a:lnSpc>
              <a:buNone/>
            </a:pPr>
            <a:r>
              <a:rPr lang="en-US" sz="5200" b="1" dirty="0">
                <a:solidFill>
                  <a:srgbClr val="FFFFFF"/>
                </a:solidFill>
                <a:latin typeface="Cambria" pitchFamily="34" charset="0"/>
                <a:ea typeface="Cambria" pitchFamily="34" charset="-122"/>
                <a:cs typeface="Cambria" pitchFamily="34" charset="-120"/>
              </a:rPr>
              <a:t>RTOS-Coupled</a:t>
            </a:r>
            <a:endParaRPr lang="en-US" sz="5200" dirty="0"/>
          </a:p>
          <a:p>
            <a:pPr indent="0" marL="0">
              <a:lnSpc>
                <a:spcPct val="95000"/>
              </a:lnSpc>
              <a:buNone/>
            </a:pPr>
            <a:r>
              <a:rPr lang="en-US" sz="5200" b="1" dirty="0">
                <a:solidFill>
                  <a:srgbClr val="FFFFFF"/>
                </a:solidFill>
                <a:latin typeface="Cambria" pitchFamily="34" charset="0"/>
                <a:ea typeface="Cambria" pitchFamily="34" charset="-122"/>
                <a:cs typeface="Cambria" pitchFamily="34" charset="-120"/>
              </a:rPr>
              <a:t>Adaptive Edge AI</a:t>
            </a:r>
            <a:endParaRPr lang="en-US" sz="5200" dirty="0"/>
          </a:p>
        </p:txBody>
      </p:sp>
      <p:sp>
        <p:nvSpPr>
          <p:cNvPr id="6" name="Text 4"/>
          <p:cNvSpPr txBox="1"/>
          <p:nvPr/>
        </p:nvSpPr>
        <p:spPr>
          <a:xfrm>
            <a:off x="640080" y="3794760"/>
            <a:ext cx="8595360" cy="45720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The kernel measures its own silicon and reshapes inference to fit a deadline</a:t>
            </a:r>
            <a:endParaRPr lang="en-US" sz="1700" dirty="0"/>
          </a:p>
        </p:txBody>
      </p:sp>
      <p:sp>
        <p:nvSpPr>
          <p:cNvPr id="7" name="Text 5"/>
          <p:cNvSpPr txBox="1"/>
          <p:nvPr/>
        </p:nvSpPr>
        <p:spPr>
          <a:xfrm>
            <a:off x="640080" y="4800600"/>
            <a:ext cx="2651760" cy="502920"/>
          </a:xfrm>
          <a:prstGeom prst="rect">
            <a:avLst/>
          </a:prstGeom>
          <a:noFill/>
          <a:ln/>
        </p:spPr>
        <p:txBody>
          <a:bodyPr wrap="square" lIns="0" tIns="0" rIns="0" bIns="0" rtlCol="0" anchor="t"/>
          <a:lstStyle/>
          <a:p>
            <a:pPr indent="0" marL="0">
              <a:buNone/>
            </a:pPr>
            <a:r>
              <a:rPr lang="en-US" sz="2600" b="1" dirty="0">
                <a:solidFill>
                  <a:srgbClr val="F6AE2D"/>
                </a:solidFill>
                <a:latin typeface="Cambria" pitchFamily="34" charset="0"/>
                <a:ea typeface="Cambria" pitchFamily="34" charset="-122"/>
                <a:cs typeface="Cambria" pitchFamily="34" charset="-120"/>
              </a:rPr>
              <a:t>98.2 ms</a:t>
            </a:r>
            <a:endParaRPr lang="en-US" sz="2600" dirty="0"/>
          </a:p>
        </p:txBody>
      </p:sp>
      <p:sp>
        <p:nvSpPr>
          <p:cNvPr id="8" name="Text 6"/>
          <p:cNvSpPr txBox="1"/>
          <p:nvPr/>
        </p:nvSpPr>
        <p:spPr>
          <a:xfrm>
            <a:off x="640080" y="5321808"/>
            <a:ext cx="2651760" cy="292608"/>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adaptive latency</a:t>
            </a:r>
            <a:endParaRPr lang="en-US" sz="1250" dirty="0"/>
          </a:p>
        </p:txBody>
      </p:sp>
      <p:sp>
        <p:nvSpPr>
          <p:cNvPr id="9" name="Text 7"/>
          <p:cNvSpPr txBox="1"/>
          <p:nvPr/>
        </p:nvSpPr>
        <p:spPr>
          <a:xfrm>
            <a:off x="3474720" y="4800600"/>
            <a:ext cx="2651760" cy="502920"/>
          </a:xfrm>
          <a:prstGeom prst="rect">
            <a:avLst/>
          </a:prstGeom>
          <a:noFill/>
          <a:ln/>
        </p:spPr>
        <p:txBody>
          <a:bodyPr wrap="square" lIns="0" tIns="0" rIns="0" bIns="0" rtlCol="0" anchor="t"/>
          <a:lstStyle/>
          <a:p>
            <a:pPr indent="0" marL="0">
              <a:buNone/>
            </a:pPr>
            <a:r>
              <a:rPr lang="en-US" sz="2600" b="1" dirty="0">
                <a:solidFill>
                  <a:srgbClr val="F6AE2D"/>
                </a:solidFill>
                <a:latin typeface="Cambria" pitchFamily="34" charset="0"/>
                <a:ea typeface="Cambria" pitchFamily="34" charset="-122"/>
                <a:cs typeface="Cambria" pitchFamily="34" charset="-120"/>
              </a:rPr>
              <a:t>94.0 %</a:t>
            </a:r>
            <a:endParaRPr lang="en-US" sz="2600" dirty="0"/>
          </a:p>
        </p:txBody>
      </p:sp>
      <p:sp>
        <p:nvSpPr>
          <p:cNvPr id="10" name="Text 8"/>
          <p:cNvSpPr txBox="1"/>
          <p:nvPr/>
        </p:nvSpPr>
        <p:spPr>
          <a:xfrm>
            <a:off x="3474720" y="5321808"/>
            <a:ext cx="2651760" cy="292608"/>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core accuracy</a:t>
            </a:r>
            <a:endParaRPr lang="en-US" sz="1250" dirty="0"/>
          </a:p>
        </p:txBody>
      </p:sp>
      <p:sp>
        <p:nvSpPr>
          <p:cNvPr id="11" name="Text 9"/>
          <p:cNvSpPr txBox="1"/>
          <p:nvPr/>
        </p:nvSpPr>
        <p:spPr>
          <a:xfrm>
            <a:off x="6309360" y="4800600"/>
            <a:ext cx="2651760" cy="502920"/>
          </a:xfrm>
          <a:prstGeom prst="rect">
            <a:avLst/>
          </a:prstGeom>
          <a:noFill/>
          <a:ln/>
        </p:spPr>
        <p:txBody>
          <a:bodyPr wrap="square" lIns="0" tIns="0" rIns="0" bIns="0" rtlCol="0" anchor="t"/>
          <a:lstStyle/>
          <a:p>
            <a:pPr indent="0" marL="0">
              <a:buNone/>
            </a:pPr>
            <a:r>
              <a:rPr lang="en-US" sz="2600" b="1" dirty="0">
                <a:solidFill>
                  <a:srgbClr val="F6AE2D"/>
                </a:solidFill>
                <a:latin typeface="Cambria" pitchFamily="34" charset="0"/>
                <a:ea typeface="Cambria" pitchFamily="34" charset="-122"/>
                <a:cs typeface="Cambria" pitchFamily="34" charset="-120"/>
              </a:rPr>
              <a:t>120 ms</a:t>
            </a:r>
            <a:endParaRPr lang="en-US" sz="2600" dirty="0"/>
          </a:p>
        </p:txBody>
      </p:sp>
      <p:sp>
        <p:nvSpPr>
          <p:cNvPr id="12" name="Text 10"/>
          <p:cNvSpPr txBox="1"/>
          <p:nvPr/>
        </p:nvSpPr>
        <p:spPr>
          <a:xfrm>
            <a:off x="6309360" y="5321808"/>
            <a:ext cx="2651760" cy="292608"/>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deadline held</a:t>
            </a:r>
            <a:endParaRPr lang="en-US" sz="1250" dirty="0"/>
          </a:p>
        </p:txBody>
      </p:sp>
      <p:sp>
        <p:nvSpPr>
          <p:cNvPr id="13" name="Text 11"/>
          <p:cNvSpPr txBox="1"/>
          <p:nvPr/>
        </p:nvSpPr>
        <p:spPr>
          <a:xfrm>
            <a:off x="640080" y="6035040"/>
            <a:ext cx="10058400" cy="32004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NUCLEO-H533RE</a:t>
            </a:r>
            <a:pPr indent="0" marL="0">
              <a:buNone/>
            </a:pPr>
            <a:r>
              <a:rPr lang="en-US" sz="1350" dirty="0">
                <a:solidFill>
                  <a:srgbClr val="8FA2C4"/>
                </a:solidFill>
                <a:latin typeface="Calibri" pitchFamily="34" charset="0"/>
                <a:ea typeface="Calibri" pitchFamily="34" charset="-122"/>
                <a:cs typeface="Calibri" pitchFamily="34" charset="-120"/>
              </a:rPr>
              <a:t>   Cortex-M33 at 250 MHz   ·   µT-Kernel 3.0   ·   keyword spotting   ·   open source, MIT</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t"/>
          <a:lstStyle/>
          <a:p>
            <a:pPr indent="0" marL="0">
              <a:buNone/>
            </a:pPr>
            <a:r>
              <a:rPr lang="en-US" sz="1200" b="1" spc="140" kern="0" dirty="0">
                <a:solidFill>
                  <a:srgbClr val="F6AE2D"/>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640080" y="658368"/>
            <a:ext cx="10881360" cy="713232"/>
          </a:xfrm>
          <a:prstGeom prst="rect">
            <a:avLst/>
          </a:prstGeom>
          <a:noFill/>
          <a:ln/>
        </p:spPr>
        <p:txBody>
          <a:bodyPr wrap="square" lIns="0" tIns="0" rIns="0" bIns="0" rtlCol="0" anchor="t"/>
          <a:lstStyle/>
          <a:p>
            <a:pPr indent="0" marL="0">
              <a:buNone/>
            </a:pPr>
            <a:r>
              <a:rPr lang="en-US" sz="3400" b="1" dirty="0">
                <a:solidFill>
                  <a:srgbClr val="12193A"/>
                </a:solidFill>
                <a:latin typeface="Cambria" pitchFamily="34" charset="0"/>
                <a:ea typeface="Cambria" pitchFamily="34" charset="-122"/>
                <a:cs typeface="Cambria" pitchFamily="34" charset="-120"/>
              </a:rPr>
              <a:t>Every optimisation decision is frozen at compile time</a:t>
            </a:r>
            <a:endParaRPr lang="en-US" sz="3400" dirty="0"/>
          </a:p>
        </p:txBody>
      </p:sp>
      <p:sp>
        <p:nvSpPr>
          <p:cNvPr id="4" name="Text 2"/>
          <p:cNvSpPr txBox="1"/>
          <p:nvPr/>
        </p:nvSpPr>
        <p:spPr>
          <a:xfrm>
            <a:off x="640080" y="1691640"/>
            <a:ext cx="5486400" cy="1280160"/>
          </a:xfrm>
          <a:prstGeom prst="rect">
            <a:avLst/>
          </a:prstGeom>
          <a:noFill/>
          <a:ln/>
        </p:spPr>
        <p:txBody>
          <a:bodyPr wrap="square" lIns="0" tIns="0" rIns="0" bIns="0" rtlCol="0" anchor="t"/>
          <a:lstStyle/>
          <a:p>
            <a:pPr indent="0" marL="0">
              <a:lnSpc>
                <a:spcPct val="118000"/>
              </a:lnSpc>
              <a:buNone/>
            </a:pPr>
            <a:r>
              <a:rPr lang="en-US" sz="1500" dirty="0">
                <a:solidFill>
                  <a:srgbClr val="5A6B8C"/>
                </a:solidFill>
                <a:latin typeface="Calibri" pitchFamily="34" charset="0"/>
                <a:ea typeface="Calibri" pitchFamily="34" charset="-122"/>
                <a:cs typeface="Calibri" pitchFamily="34" charset="-120"/>
              </a:rPr>
              <a:t>Deploying a model on a microcontroller means fixing every execution choice before the board has seen a single sample. The RTOS runs the model but does not shape it.</a:t>
            </a:r>
            <a:endParaRPr lang="en-US" sz="1500" dirty="0"/>
          </a:p>
        </p:txBody>
      </p:sp>
      <p:sp>
        <p:nvSpPr>
          <p:cNvPr id="5" name="Text 3"/>
          <p:cNvSpPr txBox="1"/>
          <p:nvPr/>
        </p:nvSpPr>
        <p:spPr>
          <a:xfrm>
            <a:off x="640080" y="3063240"/>
            <a:ext cx="5486400" cy="320040"/>
          </a:xfrm>
          <a:prstGeom prst="rect">
            <a:avLst/>
          </a:prstGeom>
          <a:noFill/>
          <a:ln/>
        </p:spPr>
        <p:txBody>
          <a:bodyPr wrap="square" lIns="0" tIns="0" rIns="0" bIns="0" rtlCol="0" anchor="t"/>
          <a:lstStyle/>
          <a:p>
            <a:pPr indent="0" marL="0">
              <a:buNone/>
            </a:pPr>
            <a:r>
              <a:rPr lang="en-US" sz="1300" b="1" dirty="0">
                <a:solidFill>
                  <a:srgbClr val="12193A"/>
                </a:solidFill>
                <a:latin typeface="Calibri" pitchFamily="34" charset="0"/>
                <a:ea typeface="Calibri" pitchFamily="34" charset="-122"/>
                <a:cs typeface="Calibri" pitchFamily="34" charset="-120"/>
              </a:rPr>
              <a:t>Fixed at build time, and never revisited</a:t>
            </a:r>
            <a:endParaRPr lang="en-US" sz="1300" dirty="0"/>
          </a:p>
        </p:txBody>
      </p:sp>
      <p:sp>
        <p:nvSpPr>
          <p:cNvPr id="6" name="Shape 4"/>
          <p:cNvSpPr/>
          <p:nvPr/>
        </p:nvSpPr>
        <p:spPr>
          <a:xfrm>
            <a:off x="676656" y="3575304"/>
            <a:ext cx="146304" cy="146304"/>
          </a:xfrm>
          <a:prstGeom prst="ellipse">
            <a:avLst/>
          </a:prstGeom>
          <a:solidFill>
            <a:srgbClr val="F6AE2D"/>
          </a:solidFill>
          <a:ln/>
        </p:spPr>
      </p:sp>
      <p:sp>
        <p:nvSpPr>
          <p:cNvPr id="7" name="Text 5"/>
          <p:cNvSpPr txBox="1"/>
          <p:nvPr/>
        </p:nvSpPr>
        <p:spPr>
          <a:xfrm>
            <a:off x="1024128" y="3493008"/>
            <a:ext cx="5029200" cy="347472"/>
          </a:xfrm>
          <a:prstGeom prst="rect">
            <a:avLst/>
          </a:prstGeom>
          <a:noFill/>
          <a:ln/>
        </p:spPr>
        <p:txBody>
          <a:bodyPr wrap="square" lIns="0" tIns="0" rIns="0" bIns="0" rtlCol="0" anchor="t"/>
          <a:lstStyle/>
          <a:p>
            <a:pPr indent="0" marL="0">
              <a:buNone/>
            </a:pPr>
            <a:r>
              <a:rPr lang="en-US" sz="1400" dirty="0">
                <a:solidFill>
                  <a:srgbClr val="5A6B8C"/>
                </a:solidFill>
                <a:latin typeface="Calibri" pitchFamily="34" charset="0"/>
                <a:ea typeface="Calibri" pitchFamily="34" charset="-122"/>
                <a:cs typeface="Calibri" pitchFamily="34" charset="-120"/>
              </a:rPr>
              <a:t>capture window length</a:t>
            </a:r>
            <a:endParaRPr lang="en-US" sz="1400" dirty="0"/>
          </a:p>
        </p:txBody>
      </p:sp>
      <p:sp>
        <p:nvSpPr>
          <p:cNvPr id="8" name="Shape 6"/>
          <p:cNvSpPr/>
          <p:nvPr/>
        </p:nvSpPr>
        <p:spPr>
          <a:xfrm>
            <a:off x="676656" y="4142232"/>
            <a:ext cx="146304" cy="146304"/>
          </a:xfrm>
          <a:prstGeom prst="ellipse">
            <a:avLst/>
          </a:prstGeom>
          <a:solidFill>
            <a:srgbClr val="F6AE2D"/>
          </a:solidFill>
          <a:ln/>
        </p:spPr>
      </p:sp>
      <p:sp>
        <p:nvSpPr>
          <p:cNvPr id="9" name="Text 7"/>
          <p:cNvSpPr txBox="1"/>
          <p:nvPr/>
        </p:nvSpPr>
        <p:spPr>
          <a:xfrm>
            <a:off x="1024128" y="4059936"/>
            <a:ext cx="5029200" cy="347472"/>
          </a:xfrm>
          <a:prstGeom prst="rect">
            <a:avLst/>
          </a:prstGeom>
          <a:noFill/>
          <a:ln/>
        </p:spPr>
        <p:txBody>
          <a:bodyPr wrap="square" lIns="0" tIns="0" rIns="0" bIns="0" rtlCol="0" anchor="t"/>
          <a:lstStyle/>
          <a:p>
            <a:pPr indent="0" marL="0">
              <a:buNone/>
            </a:pPr>
            <a:r>
              <a:rPr lang="en-US" sz="1400" dirty="0">
                <a:solidFill>
                  <a:srgbClr val="5A6B8C"/>
                </a:solidFill>
                <a:latin typeface="Calibri" pitchFamily="34" charset="0"/>
                <a:ea typeface="Calibri" pitchFamily="34" charset="-122"/>
                <a:cs typeface="Calibri" pitchFamily="34" charset="-120"/>
              </a:rPr>
              <a:t>whether features are extracted at all</a:t>
            </a:r>
            <a:endParaRPr lang="en-US" sz="1400" dirty="0"/>
          </a:p>
        </p:txBody>
      </p:sp>
      <p:sp>
        <p:nvSpPr>
          <p:cNvPr id="10" name="Shape 8"/>
          <p:cNvSpPr/>
          <p:nvPr/>
        </p:nvSpPr>
        <p:spPr>
          <a:xfrm>
            <a:off x="676656" y="4709160"/>
            <a:ext cx="146304" cy="146304"/>
          </a:xfrm>
          <a:prstGeom prst="ellipse">
            <a:avLst/>
          </a:prstGeom>
          <a:solidFill>
            <a:srgbClr val="F6AE2D"/>
          </a:solidFill>
          <a:ln/>
        </p:spPr>
      </p:sp>
      <p:sp>
        <p:nvSpPr>
          <p:cNvPr id="11" name="Text 9"/>
          <p:cNvSpPr txBox="1"/>
          <p:nvPr/>
        </p:nvSpPr>
        <p:spPr>
          <a:xfrm>
            <a:off x="1024128" y="4626864"/>
            <a:ext cx="5029200" cy="347472"/>
          </a:xfrm>
          <a:prstGeom prst="rect">
            <a:avLst/>
          </a:prstGeom>
          <a:noFill/>
          <a:ln/>
        </p:spPr>
        <p:txBody>
          <a:bodyPr wrap="square" lIns="0" tIns="0" rIns="0" bIns="0" rtlCol="0" anchor="t"/>
          <a:lstStyle/>
          <a:p>
            <a:pPr indent="0" marL="0">
              <a:buNone/>
            </a:pPr>
            <a:r>
              <a:rPr lang="en-US" sz="1400" dirty="0">
                <a:solidFill>
                  <a:srgbClr val="5A6B8C"/>
                </a:solidFill>
                <a:latin typeface="Calibri" pitchFamily="34" charset="0"/>
                <a:ea typeface="Calibri" pitchFamily="34" charset="-122"/>
                <a:cs typeface="Calibri" pitchFamily="34" charset="-120"/>
              </a:rPr>
              <a:t>task priority ordering</a:t>
            </a:r>
            <a:endParaRPr lang="en-US" sz="1400" dirty="0"/>
          </a:p>
        </p:txBody>
      </p:sp>
      <p:sp>
        <p:nvSpPr>
          <p:cNvPr id="12" name="Shape 10"/>
          <p:cNvSpPr/>
          <p:nvPr/>
        </p:nvSpPr>
        <p:spPr>
          <a:xfrm>
            <a:off x="676656" y="5276088"/>
            <a:ext cx="146304" cy="146304"/>
          </a:xfrm>
          <a:prstGeom prst="ellipse">
            <a:avLst/>
          </a:prstGeom>
          <a:solidFill>
            <a:srgbClr val="F6AE2D"/>
          </a:solidFill>
          <a:ln/>
        </p:spPr>
      </p:sp>
      <p:sp>
        <p:nvSpPr>
          <p:cNvPr id="13" name="Text 11"/>
          <p:cNvSpPr txBox="1"/>
          <p:nvPr/>
        </p:nvSpPr>
        <p:spPr>
          <a:xfrm>
            <a:off x="1024128" y="5193792"/>
            <a:ext cx="5029200" cy="347472"/>
          </a:xfrm>
          <a:prstGeom prst="rect">
            <a:avLst/>
          </a:prstGeom>
          <a:noFill/>
          <a:ln/>
        </p:spPr>
        <p:txBody>
          <a:bodyPr wrap="square" lIns="0" tIns="0" rIns="0" bIns="0" rtlCol="0" anchor="t"/>
          <a:lstStyle/>
          <a:p>
            <a:pPr indent="0" marL="0">
              <a:buNone/>
            </a:pPr>
            <a:r>
              <a:rPr lang="en-US" sz="1400" dirty="0">
                <a:solidFill>
                  <a:srgbClr val="5A6B8C"/>
                </a:solidFill>
                <a:latin typeface="Calibri" pitchFamily="34" charset="0"/>
                <a:ea typeface="Calibri" pitchFamily="34" charset="-122"/>
                <a:cs typeface="Calibri" pitchFamily="34" charset="-120"/>
              </a:rPr>
              <a:t>numeric precision, every layer</a:t>
            </a:r>
            <a:endParaRPr lang="en-US" sz="1400" dirty="0"/>
          </a:p>
        </p:txBody>
      </p:sp>
      <p:sp>
        <p:nvSpPr>
          <p:cNvPr id="14" name="Shape 12"/>
          <p:cNvSpPr/>
          <p:nvPr/>
        </p:nvSpPr>
        <p:spPr>
          <a:xfrm>
            <a:off x="6720840" y="1691640"/>
            <a:ext cx="4800600" cy="1371600"/>
          </a:xfrm>
          <a:prstGeom prst="roundRect">
            <a:avLst>
              <a:gd name="adj" fmla="val 6667"/>
            </a:avLst>
          </a:prstGeom>
          <a:solidFill>
            <a:srgbClr val="F4F7FC"/>
          </a:solidFill>
          <a:ln/>
        </p:spPr>
      </p:sp>
      <p:sp>
        <p:nvSpPr>
          <p:cNvPr id="15" name="Text 13"/>
          <p:cNvSpPr txBox="1"/>
          <p:nvPr/>
        </p:nvSpPr>
        <p:spPr>
          <a:xfrm>
            <a:off x="7040880" y="2002536"/>
            <a:ext cx="2651760" cy="320040"/>
          </a:xfrm>
          <a:prstGeom prst="rect">
            <a:avLst/>
          </a:prstGeom>
          <a:noFill/>
          <a:ln/>
        </p:spPr>
        <p:txBody>
          <a:bodyPr wrap="square" lIns="0" tIns="0" rIns="0" bIns="0" rtlCol="0" anchor="t"/>
          <a:lstStyle/>
          <a:p>
            <a:pPr indent="0" marL="0">
              <a:buNone/>
            </a:pPr>
            <a:r>
              <a:rPr lang="en-US" sz="1500" b="1" dirty="0">
                <a:solidFill>
                  <a:srgbClr val="12193A"/>
                </a:solidFill>
                <a:latin typeface="Calibri" pitchFamily="34" charset="0"/>
                <a:ea typeface="Calibri" pitchFamily="34" charset="-122"/>
                <a:cs typeface="Calibri" pitchFamily="34" charset="-120"/>
              </a:rPr>
              <a:t>Static FP32</a:t>
            </a:r>
            <a:endParaRPr lang="en-US" sz="1500" dirty="0"/>
          </a:p>
        </p:txBody>
      </p:sp>
      <p:sp>
        <p:nvSpPr>
          <p:cNvPr id="16" name="Text 14"/>
          <p:cNvSpPr txBox="1"/>
          <p:nvPr/>
        </p:nvSpPr>
        <p:spPr>
          <a:xfrm>
            <a:off x="7040880" y="2350008"/>
            <a:ext cx="2743200" cy="320040"/>
          </a:xfrm>
          <a:prstGeom prst="rect">
            <a:avLst/>
          </a:prstGeom>
          <a:noFill/>
          <a:ln/>
        </p:spPr>
        <p:txBody>
          <a:bodyPr wrap="square" lIns="0" tIns="0" rIns="0" bIns="0" rtlCol="0" anchor="t"/>
          <a:lstStyle/>
          <a:p>
            <a:pPr indent="0" marL="0">
              <a:buNone/>
            </a:pPr>
            <a:r>
              <a:rPr lang="en-US" sz="1300" dirty="0">
                <a:solidFill>
                  <a:srgbClr val="5A6B8C"/>
                </a:solidFill>
                <a:latin typeface="Calibri" pitchFamily="34" charset="0"/>
                <a:ea typeface="Calibri" pitchFamily="34" charset="-122"/>
                <a:cs typeface="Calibri" pitchFamily="34" charset="-120"/>
              </a:rPr>
              <a:t>misses the deadline</a:t>
            </a:r>
            <a:endParaRPr lang="en-US" sz="1300" dirty="0"/>
          </a:p>
        </p:txBody>
      </p:sp>
      <p:sp>
        <p:nvSpPr>
          <p:cNvPr id="17" name="Text 15"/>
          <p:cNvSpPr txBox="1"/>
          <p:nvPr/>
        </p:nvSpPr>
        <p:spPr>
          <a:xfrm>
            <a:off x="9372600" y="2148840"/>
            <a:ext cx="1828800" cy="566928"/>
          </a:xfrm>
          <a:prstGeom prst="rect">
            <a:avLst/>
          </a:prstGeom>
          <a:noFill/>
          <a:ln/>
        </p:spPr>
        <p:txBody>
          <a:bodyPr wrap="square" lIns="0" tIns="0" rIns="0" bIns="0" rtlCol="0" anchor="t"/>
          <a:lstStyle/>
          <a:p>
            <a:pPr algn="r" indent="0" marL="0">
              <a:buNone/>
            </a:pPr>
            <a:r>
              <a:rPr lang="en-US" sz="3000" b="1" dirty="0">
                <a:solidFill>
                  <a:srgbClr val="C0392B"/>
                </a:solidFill>
                <a:latin typeface="Cambria" pitchFamily="34" charset="0"/>
                <a:ea typeface="Cambria" pitchFamily="34" charset="-122"/>
                <a:cs typeface="Cambria" pitchFamily="34" charset="-120"/>
              </a:rPr>
              <a:t>125.9</a:t>
            </a:r>
            <a:pPr algn="r" indent="0" marL="0">
              <a:buNone/>
            </a:pPr>
            <a:r>
              <a:rPr lang="en-US" sz="1700" b="1" dirty="0">
                <a:solidFill>
                  <a:srgbClr val="C0392B"/>
                </a:solidFill>
                <a:latin typeface="Cambria" pitchFamily="34" charset="0"/>
                <a:ea typeface="Cambria" pitchFamily="34" charset="-122"/>
                <a:cs typeface="Cambria" pitchFamily="34" charset="-120"/>
              </a:rPr>
              <a:t> ms</a:t>
            </a:r>
            <a:endParaRPr lang="en-US" sz="3000" dirty="0"/>
          </a:p>
        </p:txBody>
      </p:sp>
      <p:sp>
        <p:nvSpPr>
          <p:cNvPr id="18" name="Shape 16"/>
          <p:cNvSpPr/>
          <p:nvPr/>
        </p:nvSpPr>
        <p:spPr>
          <a:xfrm>
            <a:off x="6720840" y="3264408"/>
            <a:ext cx="4800600" cy="1371600"/>
          </a:xfrm>
          <a:prstGeom prst="roundRect">
            <a:avLst>
              <a:gd name="adj" fmla="val 6667"/>
            </a:avLst>
          </a:prstGeom>
          <a:solidFill>
            <a:srgbClr val="F4F7FC"/>
          </a:solidFill>
          <a:ln/>
        </p:spPr>
      </p:sp>
      <p:sp>
        <p:nvSpPr>
          <p:cNvPr id="19" name="Text 17"/>
          <p:cNvSpPr txBox="1"/>
          <p:nvPr/>
        </p:nvSpPr>
        <p:spPr>
          <a:xfrm>
            <a:off x="7040880" y="3575304"/>
            <a:ext cx="2651760" cy="320040"/>
          </a:xfrm>
          <a:prstGeom prst="rect">
            <a:avLst/>
          </a:prstGeom>
          <a:noFill/>
          <a:ln/>
        </p:spPr>
        <p:txBody>
          <a:bodyPr wrap="square" lIns="0" tIns="0" rIns="0" bIns="0" rtlCol="0" anchor="t"/>
          <a:lstStyle/>
          <a:p>
            <a:pPr indent="0" marL="0">
              <a:buNone/>
            </a:pPr>
            <a:r>
              <a:rPr lang="en-US" sz="1500" b="1" dirty="0">
                <a:solidFill>
                  <a:srgbClr val="12193A"/>
                </a:solidFill>
                <a:latin typeface="Calibri" pitchFamily="34" charset="0"/>
                <a:ea typeface="Calibri" pitchFamily="34" charset="-122"/>
                <a:cs typeface="Calibri" pitchFamily="34" charset="-120"/>
              </a:rPr>
              <a:t>Static INT8</a:t>
            </a:r>
            <a:endParaRPr lang="en-US" sz="1500" dirty="0"/>
          </a:p>
        </p:txBody>
      </p:sp>
      <p:sp>
        <p:nvSpPr>
          <p:cNvPr id="20" name="Text 18"/>
          <p:cNvSpPr txBox="1"/>
          <p:nvPr/>
        </p:nvSpPr>
        <p:spPr>
          <a:xfrm>
            <a:off x="7040880" y="3922776"/>
            <a:ext cx="2743200" cy="320040"/>
          </a:xfrm>
          <a:prstGeom prst="rect">
            <a:avLst/>
          </a:prstGeom>
          <a:noFill/>
          <a:ln/>
        </p:spPr>
        <p:txBody>
          <a:bodyPr wrap="square" lIns="0" tIns="0" rIns="0" bIns="0" rtlCol="0" anchor="t"/>
          <a:lstStyle/>
          <a:p>
            <a:pPr indent="0" marL="0">
              <a:buNone/>
            </a:pPr>
            <a:r>
              <a:rPr lang="en-US" sz="1300" dirty="0">
                <a:solidFill>
                  <a:srgbClr val="5A6B8C"/>
                </a:solidFill>
                <a:latin typeface="Calibri" pitchFamily="34" charset="0"/>
                <a:ea typeface="Calibri" pitchFamily="34" charset="-122"/>
                <a:cs typeface="Calibri" pitchFamily="34" charset="-120"/>
              </a:rPr>
              <a:t>leaves performance unused</a:t>
            </a:r>
            <a:endParaRPr lang="en-US" sz="1300" dirty="0"/>
          </a:p>
        </p:txBody>
      </p:sp>
      <p:sp>
        <p:nvSpPr>
          <p:cNvPr id="21" name="Text 19"/>
          <p:cNvSpPr txBox="1"/>
          <p:nvPr/>
        </p:nvSpPr>
        <p:spPr>
          <a:xfrm>
            <a:off x="9372600" y="3721608"/>
            <a:ext cx="1828800" cy="566928"/>
          </a:xfrm>
          <a:prstGeom prst="rect">
            <a:avLst/>
          </a:prstGeom>
          <a:noFill/>
          <a:ln/>
        </p:spPr>
        <p:txBody>
          <a:bodyPr wrap="square" lIns="0" tIns="0" rIns="0" bIns="0" rtlCol="0" anchor="t"/>
          <a:lstStyle/>
          <a:p>
            <a:pPr algn="r" indent="0" marL="0">
              <a:buNone/>
            </a:pPr>
            <a:r>
              <a:rPr lang="en-US" sz="3000" b="1" dirty="0">
                <a:solidFill>
                  <a:srgbClr val="1E2761"/>
                </a:solidFill>
                <a:latin typeface="Cambria" pitchFamily="34" charset="0"/>
                <a:ea typeface="Cambria" pitchFamily="34" charset="-122"/>
                <a:cs typeface="Cambria" pitchFamily="34" charset="-120"/>
              </a:rPr>
              <a:t>101.5</a:t>
            </a:r>
            <a:pPr algn="r" indent="0" marL="0">
              <a:buNone/>
            </a:pPr>
            <a:r>
              <a:rPr lang="en-US" sz="1700" b="1" dirty="0">
                <a:solidFill>
                  <a:srgbClr val="1E2761"/>
                </a:solidFill>
                <a:latin typeface="Cambria" pitchFamily="34" charset="0"/>
                <a:ea typeface="Cambria" pitchFamily="34" charset="-122"/>
                <a:cs typeface="Cambria" pitchFamily="34" charset="-120"/>
              </a:rPr>
              <a:t> ms</a:t>
            </a:r>
            <a:endParaRPr lang="en-US" sz="3000" dirty="0"/>
          </a:p>
        </p:txBody>
      </p:sp>
      <p:sp>
        <p:nvSpPr>
          <p:cNvPr id="22" name="Shape 20"/>
          <p:cNvSpPr/>
          <p:nvPr/>
        </p:nvSpPr>
        <p:spPr>
          <a:xfrm>
            <a:off x="6720840" y="4837176"/>
            <a:ext cx="4800600" cy="1207008"/>
          </a:xfrm>
          <a:prstGeom prst="roundRect">
            <a:avLst>
              <a:gd name="adj" fmla="val 7576"/>
            </a:avLst>
          </a:prstGeom>
          <a:solidFill>
            <a:srgbClr val="1E2761"/>
          </a:solidFill>
          <a:ln/>
        </p:spPr>
      </p:sp>
      <p:sp>
        <p:nvSpPr>
          <p:cNvPr id="23" name="Text 21"/>
          <p:cNvSpPr txBox="1"/>
          <p:nvPr/>
        </p:nvSpPr>
        <p:spPr>
          <a:xfrm>
            <a:off x="7040880" y="5138928"/>
            <a:ext cx="4160520"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Neither can express the configuration that is actually best.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t"/>
          <a:lstStyle/>
          <a:p>
            <a:pPr indent="0" marL="0">
              <a:buNone/>
            </a:pPr>
            <a:r>
              <a:rPr lang="en-US" sz="1200" b="1" spc="140" kern="0" dirty="0">
                <a:solidFill>
                  <a:srgbClr val="F6AE2D"/>
                </a:solidFill>
                <a:latin typeface="Calibri" pitchFamily="34" charset="0"/>
                <a:ea typeface="Calibri" pitchFamily="34" charset="-122"/>
                <a:cs typeface="Calibri" pitchFamily="34" charset="-120"/>
              </a:rPr>
              <a:t>THE IDEA</a:t>
            </a:r>
            <a:endParaRPr lang="en-US" sz="1200" dirty="0"/>
          </a:p>
        </p:txBody>
      </p:sp>
      <p:sp>
        <p:nvSpPr>
          <p:cNvPr id="3" name="Text 1"/>
          <p:cNvSpPr txBox="1"/>
          <p:nvPr/>
        </p:nvSpPr>
        <p:spPr>
          <a:xfrm>
            <a:off x="640080" y="658368"/>
            <a:ext cx="10881360" cy="713232"/>
          </a:xfrm>
          <a:prstGeom prst="rect">
            <a:avLst/>
          </a:prstGeom>
          <a:noFill/>
          <a:ln/>
        </p:spPr>
        <p:txBody>
          <a:bodyPr wrap="square" lIns="0" tIns="0" rIns="0" bIns="0" rtlCol="0" anchor="t"/>
          <a:lstStyle/>
          <a:p>
            <a:pPr indent="0" marL="0">
              <a:buNone/>
            </a:pPr>
            <a:r>
              <a:rPr lang="en-US" sz="3400" b="1" dirty="0">
                <a:solidFill>
                  <a:srgbClr val="12193A"/>
                </a:solidFill>
                <a:latin typeface="Cambria" pitchFamily="34" charset="0"/>
                <a:ea typeface="Cambria" pitchFamily="34" charset="-122"/>
                <a:cs typeface="Cambria" pitchFamily="34" charset="-120"/>
              </a:rPr>
              <a:t>Five tasks, and every link is a kernel primitive</a:t>
            </a:r>
            <a:endParaRPr lang="en-US" sz="3400" dirty="0"/>
          </a:p>
        </p:txBody>
      </p:sp>
      <p:sp>
        <p:nvSpPr>
          <p:cNvPr id="4" name="Text 2"/>
          <p:cNvSpPr txBox="1"/>
          <p:nvPr/>
        </p:nvSpPr>
        <p:spPr>
          <a:xfrm>
            <a:off x="640080" y="1627632"/>
            <a:ext cx="10881360" cy="640080"/>
          </a:xfrm>
          <a:prstGeom prst="rect">
            <a:avLst/>
          </a:prstGeom>
          <a:noFill/>
          <a:ln/>
        </p:spPr>
        <p:txBody>
          <a:bodyPr wrap="square" lIns="0" tIns="0" rIns="0" bIns="0" rtlCol="0" anchor="t"/>
          <a:lstStyle/>
          <a:p>
            <a:pPr indent="0" marL="0">
              <a:lnSpc>
                <a:spcPct val="118000"/>
              </a:lnSpc>
              <a:buNone/>
            </a:pPr>
            <a:r>
              <a:rPr lang="en-US" sz="1500" dirty="0">
                <a:solidFill>
                  <a:srgbClr val="5A6B8C"/>
                </a:solidFill>
                <a:latin typeface="Calibri" pitchFamily="34" charset="0"/>
                <a:ea typeface="Calibri" pitchFamily="34" charset="-122"/>
                <a:cs typeface="Calibri" pitchFamily="34" charset="-120"/>
              </a:rPr>
              <a:t>µT-Kernel reads the DWT cycle counter and the signal statistics, then writes back into how the model executes. Each of the four levers is a native kernel call, not a library shim.</a:t>
            </a:r>
            <a:endParaRPr lang="en-US" sz="1500" dirty="0"/>
          </a:p>
        </p:txBody>
      </p:sp>
      <p:sp>
        <p:nvSpPr>
          <p:cNvPr id="5" name="Shape 3"/>
          <p:cNvSpPr/>
          <p:nvPr/>
        </p:nvSpPr>
        <p:spPr>
          <a:xfrm>
            <a:off x="502920" y="2450592"/>
            <a:ext cx="1965960" cy="1234440"/>
          </a:xfrm>
          <a:prstGeom prst="roundRect">
            <a:avLst>
              <a:gd name="adj" fmla="val 7407"/>
            </a:avLst>
          </a:prstGeom>
          <a:solidFill>
            <a:srgbClr val="1E2761"/>
          </a:solidFill>
          <a:ln/>
        </p:spPr>
      </p:sp>
      <p:sp>
        <p:nvSpPr>
          <p:cNvPr id="6" name="Text 4"/>
          <p:cNvSpPr txBox="1"/>
          <p:nvPr/>
        </p:nvSpPr>
        <p:spPr>
          <a:xfrm>
            <a:off x="502920" y="2633472"/>
            <a:ext cx="1965960" cy="384048"/>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T1</a:t>
            </a:r>
            <a:endParaRPr lang="en-US" sz="2200" dirty="0"/>
          </a:p>
        </p:txBody>
      </p:sp>
      <p:sp>
        <p:nvSpPr>
          <p:cNvPr id="7" name="Text 5"/>
          <p:cNvSpPr txBox="1"/>
          <p:nvPr/>
        </p:nvSpPr>
        <p:spPr>
          <a:xfrm>
            <a:off x="594360" y="3090672"/>
            <a:ext cx="1783080" cy="41148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DMA ingest</a:t>
            </a:r>
            <a:endParaRPr lang="en-US" sz="1200" dirty="0"/>
          </a:p>
        </p:txBody>
      </p:sp>
      <p:sp>
        <p:nvSpPr>
          <p:cNvPr id="8" name="Shape 6"/>
          <p:cNvSpPr/>
          <p:nvPr/>
        </p:nvSpPr>
        <p:spPr>
          <a:xfrm>
            <a:off x="2514600" y="2967228"/>
            <a:ext cx="228600" cy="201168"/>
          </a:xfrm>
          <a:prstGeom prst="rightArrow">
            <a:avLst/>
          </a:prstGeom>
          <a:solidFill>
            <a:srgbClr val="8FA2C4"/>
          </a:solidFill>
          <a:ln/>
        </p:spPr>
      </p:sp>
      <p:sp>
        <p:nvSpPr>
          <p:cNvPr id="9" name="Shape 7"/>
          <p:cNvSpPr/>
          <p:nvPr/>
        </p:nvSpPr>
        <p:spPr>
          <a:xfrm>
            <a:off x="2788920" y="2450592"/>
            <a:ext cx="1965960" cy="1234440"/>
          </a:xfrm>
          <a:prstGeom prst="roundRect">
            <a:avLst>
              <a:gd name="adj" fmla="val 7407"/>
            </a:avLst>
          </a:prstGeom>
          <a:solidFill>
            <a:srgbClr val="1E2761"/>
          </a:solidFill>
          <a:ln/>
        </p:spPr>
      </p:sp>
      <p:sp>
        <p:nvSpPr>
          <p:cNvPr id="10" name="Text 8"/>
          <p:cNvSpPr txBox="1"/>
          <p:nvPr/>
        </p:nvSpPr>
        <p:spPr>
          <a:xfrm>
            <a:off x="2788920" y="2633472"/>
            <a:ext cx="1965960" cy="384048"/>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T2</a:t>
            </a:r>
            <a:endParaRPr lang="en-US" sz="2200" dirty="0"/>
          </a:p>
        </p:txBody>
      </p:sp>
      <p:sp>
        <p:nvSpPr>
          <p:cNvPr id="11" name="Text 9"/>
          <p:cNvSpPr txBox="1"/>
          <p:nvPr/>
        </p:nvSpPr>
        <p:spPr>
          <a:xfrm>
            <a:off x="2880360" y="3090672"/>
            <a:ext cx="1783080" cy="41148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variance + gate</a:t>
            </a:r>
            <a:endParaRPr lang="en-US" sz="1200" dirty="0"/>
          </a:p>
        </p:txBody>
      </p:sp>
      <p:sp>
        <p:nvSpPr>
          <p:cNvPr id="12" name="Shape 10"/>
          <p:cNvSpPr/>
          <p:nvPr/>
        </p:nvSpPr>
        <p:spPr>
          <a:xfrm>
            <a:off x="4800600" y="2967228"/>
            <a:ext cx="228600" cy="201168"/>
          </a:xfrm>
          <a:prstGeom prst="rightArrow">
            <a:avLst/>
          </a:prstGeom>
          <a:solidFill>
            <a:srgbClr val="8FA2C4"/>
          </a:solidFill>
          <a:ln/>
        </p:spPr>
      </p:sp>
      <p:sp>
        <p:nvSpPr>
          <p:cNvPr id="13" name="Shape 11"/>
          <p:cNvSpPr/>
          <p:nvPr/>
        </p:nvSpPr>
        <p:spPr>
          <a:xfrm>
            <a:off x="5074920" y="2450592"/>
            <a:ext cx="1965960" cy="1234440"/>
          </a:xfrm>
          <a:prstGeom prst="roundRect">
            <a:avLst>
              <a:gd name="adj" fmla="val 7407"/>
            </a:avLst>
          </a:prstGeom>
          <a:solidFill>
            <a:srgbClr val="1E2761"/>
          </a:solidFill>
          <a:ln/>
        </p:spPr>
      </p:sp>
      <p:sp>
        <p:nvSpPr>
          <p:cNvPr id="14" name="Text 12"/>
          <p:cNvSpPr txBox="1"/>
          <p:nvPr/>
        </p:nvSpPr>
        <p:spPr>
          <a:xfrm>
            <a:off x="5074920" y="2633472"/>
            <a:ext cx="1965960" cy="384048"/>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T3</a:t>
            </a:r>
            <a:endParaRPr lang="en-US" sz="2200" dirty="0"/>
          </a:p>
        </p:txBody>
      </p:sp>
      <p:sp>
        <p:nvSpPr>
          <p:cNvPr id="15" name="Text 13"/>
          <p:cNvSpPr txBox="1"/>
          <p:nvPr/>
        </p:nvSpPr>
        <p:spPr>
          <a:xfrm>
            <a:off x="5166360" y="3090672"/>
            <a:ext cx="1783080" cy="41148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MFCC features</a:t>
            </a:r>
            <a:endParaRPr lang="en-US" sz="1200" dirty="0"/>
          </a:p>
        </p:txBody>
      </p:sp>
      <p:sp>
        <p:nvSpPr>
          <p:cNvPr id="16" name="Shape 14"/>
          <p:cNvSpPr/>
          <p:nvPr/>
        </p:nvSpPr>
        <p:spPr>
          <a:xfrm>
            <a:off x="7086600" y="2967228"/>
            <a:ext cx="228600" cy="201168"/>
          </a:xfrm>
          <a:prstGeom prst="rightArrow">
            <a:avLst/>
          </a:prstGeom>
          <a:solidFill>
            <a:srgbClr val="8FA2C4"/>
          </a:solidFill>
          <a:ln/>
        </p:spPr>
      </p:sp>
      <p:sp>
        <p:nvSpPr>
          <p:cNvPr id="17" name="Shape 15"/>
          <p:cNvSpPr/>
          <p:nvPr/>
        </p:nvSpPr>
        <p:spPr>
          <a:xfrm>
            <a:off x="7360920" y="2450592"/>
            <a:ext cx="1965960" cy="1234440"/>
          </a:xfrm>
          <a:prstGeom prst="roundRect">
            <a:avLst>
              <a:gd name="adj" fmla="val 7407"/>
            </a:avLst>
          </a:prstGeom>
          <a:solidFill>
            <a:srgbClr val="1E2761"/>
          </a:solidFill>
          <a:ln/>
        </p:spPr>
      </p:sp>
      <p:sp>
        <p:nvSpPr>
          <p:cNvPr id="18" name="Text 16"/>
          <p:cNvSpPr txBox="1"/>
          <p:nvPr/>
        </p:nvSpPr>
        <p:spPr>
          <a:xfrm>
            <a:off x="7360920" y="2633472"/>
            <a:ext cx="1965960" cy="384048"/>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T4</a:t>
            </a:r>
            <a:endParaRPr lang="en-US" sz="2200" dirty="0"/>
          </a:p>
        </p:txBody>
      </p:sp>
      <p:sp>
        <p:nvSpPr>
          <p:cNvPr id="19" name="Text 17"/>
          <p:cNvSpPr txBox="1"/>
          <p:nvPr/>
        </p:nvSpPr>
        <p:spPr>
          <a:xfrm>
            <a:off x="7452360" y="3090672"/>
            <a:ext cx="1783080" cy="41148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inference</a:t>
            </a:r>
            <a:endParaRPr lang="en-US" sz="1200" dirty="0"/>
          </a:p>
        </p:txBody>
      </p:sp>
      <p:sp>
        <p:nvSpPr>
          <p:cNvPr id="20" name="Shape 18"/>
          <p:cNvSpPr/>
          <p:nvPr/>
        </p:nvSpPr>
        <p:spPr>
          <a:xfrm>
            <a:off x="9372600" y="2967228"/>
            <a:ext cx="228600" cy="201168"/>
          </a:xfrm>
          <a:prstGeom prst="rightArrow">
            <a:avLst/>
          </a:prstGeom>
          <a:solidFill>
            <a:srgbClr val="8FA2C4"/>
          </a:solidFill>
          <a:ln/>
        </p:spPr>
      </p:sp>
      <p:sp>
        <p:nvSpPr>
          <p:cNvPr id="21" name="Shape 19"/>
          <p:cNvSpPr/>
          <p:nvPr/>
        </p:nvSpPr>
        <p:spPr>
          <a:xfrm>
            <a:off x="9646920" y="2450592"/>
            <a:ext cx="1965960" cy="1234440"/>
          </a:xfrm>
          <a:prstGeom prst="roundRect">
            <a:avLst>
              <a:gd name="adj" fmla="val 7407"/>
            </a:avLst>
          </a:prstGeom>
          <a:solidFill>
            <a:srgbClr val="F6AE2D"/>
          </a:solidFill>
          <a:ln/>
        </p:spPr>
      </p:sp>
      <p:sp>
        <p:nvSpPr>
          <p:cNvPr id="22" name="Text 20"/>
          <p:cNvSpPr txBox="1"/>
          <p:nvPr/>
        </p:nvSpPr>
        <p:spPr>
          <a:xfrm>
            <a:off x="9646920" y="2633472"/>
            <a:ext cx="1965960" cy="384048"/>
          </a:xfrm>
          <a:prstGeom prst="rect">
            <a:avLst/>
          </a:prstGeom>
          <a:noFill/>
          <a:ln/>
        </p:spPr>
        <p:txBody>
          <a:bodyPr wrap="square" lIns="0" tIns="0" rIns="0" bIns="0" rtlCol="0" anchor="t"/>
          <a:lstStyle/>
          <a:p>
            <a:pPr algn="ctr" indent="0" marL="0">
              <a:buNone/>
            </a:pPr>
            <a:r>
              <a:rPr lang="en-US" sz="2200" b="1" dirty="0">
                <a:solidFill>
                  <a:srgbClr val="12193A"/>
                </a:solidFill>
                <a:latin typeface="Cambria" pitchFamily="34" charset="0"/>
                <a:ea typeface="Cambria" pitchFamily="34" charset="-122"/>
                <a:cs typeface="Cambria" pitchFamily="34" charset="-120"/>
              </a:rPr>
              <a:t>T5</a:t>
            </a:r>
            <a:endParaRPr lang="en-US" sz="2200" dirty="0"/>
          </a:p>
        </p:txBody>
      </p:sp>
      <p:sp>
        <p:nvSpPr>
          <p:cNvPr id="23" name="Text 21"/>
          <p:cNvSpPr txBox="1"/>
          <p:nvPr/>
        </p:nvSpPr>
        <p:spPr>
          <a:xfrm>
            <a:off x="9738360" y="3090672"/>
            <a:ext cx="1783080" cy="411480"/>
          </a:xfrm>
          <a:prstGeom prst="rect">
            <a:avLst/>
          </a:prstGeom>
          <a:noFill/>
          <a:ln/>
        </p:spPr>
        <p:txBody>
          <a:bodyPr wrap="square" lIns="0" tIns="0" rIns="0" bIns="0" rtlCol="0" anchor="t"/>
          <a:lstStyle/>
          <a:p>
            <a:pPr algn="ctr" indent="0" marL="0">
              <a:buNone/>
            </a:pPr>
            <a:r>
              <a:rPr lang="en-US" sz="1200" dirty="0">
                <a:solidFill>
                  <a:srgbClr val="12193A"/>
                </a:solidFill>
                <a:latin typeface="Calibri" pitchFamily="34" charset="0"/>
                <a:ea typeface="Calibri" pitchFamily="34" charset="-122"/>
                <a:cs typeface="Calibri" pitchFamily="34" charset="-120"/>
              </a:rPr>
              <a:t>controller</a:t>
            </a:r>
            <a:endParaRPr lang="en-US" sz="1200" dirty="0"/>
          </a:p>
        </p:txBody>
      </p:sp>
      <p:sp>
        <p:nvSpPr>
          <p:cNvPr id="24" name="Shape 22"/>
          <p:cNvSpPr/>
          <p:nvPr/>
        </p:nvSpPr>
        <p:spPr>
          <a:xfrm>
            <a:off x="502920" y="3913632"/>
            <a:ext cx="11109960" cy="457200"/>
          </a:xfrm>
          <a:prstGeom prst="leftArrow">
            <a:avLst/>
          </a:prstGeom>
          <a:solidFill>
            <a:srgbClr val="F6AE2D"/>
          </a:solidFill>
          <a:ln/>
        </p:spPr>
      </p:sp>
      <p:sp>
        <p:nvSpPr>
          <p:cNvPr id="25" name="Text 23"/>
          <p:cNvSpPr txBox="1"/>
          <p:nvPr/>
        </p:nvSpPr>
        <p:spPr>
          <a:xfrm>
            <a:off x="502920" y="3913632"/>
            <a:ext cx="11109960" cy="457200"/>
          </a:xfrm>
          <a:prstGeom prst="rect">
            <a:avLst/>
          </a:prstGeom>
          <a:noFill/>
          <a:ln/>
        </p:spPr>
        <p:txBody>
          <a:bodyPr wrap="square" lIns="0" tIns="0" rIns="0" bIns="0" rtlCol="0" anchor="ctr"/>
          <a:lstStyle/>
          <a:p>
            <a:pPr algn="ctr" indent="0" marL="0">
              <a:buNone/>
            </a:pPr>
            <a:r>
              <a:rPr lang="en-US" sz="1350" b="1" dirty="0">
                <a:solidFill>
                  <a:srgbClr val="12193A"/>
                </a:solidFill>
                <a:latin typeface="Calibri" pitchFamily="34" charset="0"/>
                <a:ea typeface="Calibri" pitchFamily="34" charset="-122"/>
                <a:cs typeface="Calibri" pitchFamily="34" charset="-120"/>
              </a:rPr>
              <a:t>T5 measures, then writes back into all four levers</a:t>
            </a:r>
            <a:endParaRPr lang="en-US" sz="1350" dirty="0"/>
          </a:p>
        </p:txBody>
      </p:sp>
      <p:sp>
        <p:nvSpPr>
          <p:cNvPr id="26" name="Shape 24"/>
          <p:cNvSpPr/>
          <p:nvPr/>
        </p:nvSpPr>
        <p:spPr>
          <a:xfrm>
            <a:off x="502920" y="4617720"/>
            <a:ext cx="2571750" cy="1051560"/>
          </a:xfrm>
          <a:prstGeom prst="roundRect">
            <a:avLst>
              <a:gd name="adj" fmla="val 8696"/>
            </a:avLst>
          </a:prstGeom>
          <a:solidFill>
            <a:srgbClr val="F4F7FC"/>
          </a:solidFill>
          <a:ln/>
        </p:spPr>
      </p:sp>
      <p:sp>
        <p:nvSpPr>
          <p:cNvPr id="27" name="Text 25"/>
          <p:cNvSpPr txBox="1"/>
          <p:nvPr/>
        </p:nvSpPr>
        <p:spPr>
          <a:xfrm>
            <a:off x="758952" y="4791456"/>
            <a:ext cx="2114550" cy="310896"/>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tk_snd_mbx</a:t>
            </a:r>
            <a:endParaRPr lang="en-US" sz="1500" dirty="0"/>
          </a:p>
        </p:txBody>
      </p:sp>
      <p:sp>
        <p:nvSpPr>
          <p:cNvPr id="28" name="Text 26"/>
          <p:cNvSpPr txBox="1"/>
          <p:nvPr/>
        </p:nvSpPr>
        <p:spPr>
          <a:xfrm>
            <a:off x="758952" y="5120640"/>
            <a:ext cx="2114550" cy="365760"/>
          </a:xfrm>
          <a:prstGeom prst="rect">
            <a:avLst/>
          </a:prstGeom>
          <a:noFill/>
          <a:ln/>
        </p:spPr>
        <p:txBody>
          <a:bodyPr wrap="square" lIns="0" tIns="0" rIns="0" bIns="0" rtlCol="0" anchor="t"/>
          <a:lstStyle/>
          <a:p>
            <a:pPr indent="0" marL="0">
              <a:buNone/>
            </a:pPr>
            <a:r>
              <a:rPr lang="en-US" sz="1250" dirty="0">
                <a:solidFill>
                  <a:srgbClr val="5A6B8C"/>
                </a:solidFill>
                <a:latin typeface="Calibri" pitchFamily="34" charset="0"/>
                <a:ea typeface="Calibri" pitchFamily="34" charset="-122"/>
                <a:cs typeface="Calibri" pitchFamily="34" charset="-120"/>
              </a:rPr>
              <a:t>capture window resize</a:t>
            </a:r>
            <a:endParaRPr lang="en-US" sz="1250" dirty="0"/>
          </a:p>
        </p:txBody>
      </p:sp>
      <p:sp>
        <p:nvSpPr>
          <p:cNvPr id="29" name="Shape 27"/>
          <p:cNvSpPr/>
          <p:nvPr/>
        </p:nvSpPr>
        <p:spPr>
          <a:xfrm>
            <a:off x="3348990" y="4617720"/>
            <a:ext cx="2571750" cy="1051560"/>
          </a:xfrm>
          <a:prstGeom prst="roundRect">
            <a:avLst>
              <a:gd name="adj" fmla="val 8696"/>
            </a:avLst>
          </a:prstGeom>
          <a:solidFill>
            <a:srgbClr val="F4F7FC"/>
          </a:solidFill>
          <a:ln/>
        </p:spPr>
      </p:sp>
      <p:sp>
        <p:nvSpPr>
          <p:cNvPr id="30" name="Text 28"/>
          <p:cNvSpPr txBox="1"/>
          <p:nvPr/>
        </p:nvSpPr>
        <p:spPr>
          <a:xfrm>
            <a:off x="3605022" y="4791456"/>
            <a:ext cx="2114550" cy="310896"/>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tk_ref_flg</a:t>
            </a:r>
            <a:endParaRPr lang="en-US" sz="1500" dirty="0"/>
          </a:p>
        </p:txBody>
      </p:sp>
      <p:sp>
        <p:nvSpPr>
          <p:cNvPr id="31" name="Text 29"/>
          <p:cNvSpPr txBox="1"/>
          <p:nvPr/>
        </p:nvSpPr>
        <p:spPr>
          <a:xfrm>
            <a:off x="3605022" y="5120640"/>
            <a:ext cx="2114550" cy="365760"/>
          </a:xfrm>
          <a:prstGeom prst="rect">
            <a:avLst/>
          </a:prstGeom>
          <a:noFill/>
          <a:ln/>
        </p:spPr>
        <p:txBody>
          <a:bodyPr wrap="square" lIns="0" tIns="0" rIns="0" bIns="0" rtlCol="0" anchor="t"/>
          <a:lstStyle/>
          <a:p>
            <a:pPr indent="0" marL="0">
              <a:buNone/>
            </a:pPr>
            <a:r>
              <a:rPr lang="en-US" sz="1250" dirty="0">
                <a:solidFill>
                  <a:srgbClr val="5A6B8C"/>
                </a:solidFill>
                <a:latin typeface="Calibri" pitchFamily="34" charset="0"/>
                <a:ea typeface="Calibri" pitchFamily="34" charset="-122"/>
                <a:cs typeface="Calibri" pitchFamily="34" charset="-120"/>
              </a:rPr>
              <a:t>feature gate</a:t>
            </a:r>
            <a:endParaRPr lang="en-US" sz="1250" dirty="0"/>
          </a:p>
        </p:txBody>
      </p:sp>
      <p:sp>
        <p:nvSpPr>
          <p:cNvPr id="32" name="Shape 30"/>
          <p:cNvSpPr/>
          <p:nvPr/>
        </p:nvSpPr>
        <p:spPr>
          <a:xfrm>
            <a:off x="6195060" y="4617720"/>
            <a:ext cx="2571750" cy="1051560"/>
          </a:xfrm>
          <a:prstGeom prst="roundRect">
            <a:avLst>
              <a:gd name="adj" fmla="val 8696"/>
            </a:avLst>
          </a:prstGeom>
          <a:solidFill>
            <a:srgbClr val="F4F7FC"/>
          </a:solidFill>
          <a:ln/>
        </p:spPr>
      </p:sp>
      <p:sp>
        <p:nvSpPr>
          <p:cNvPr id="33" name="Text 31"/>
          <p:cNvSpPr txBox="1"/>
          <p:nvPr/>
        </p:nvSpPr>
        <p:spPr>
          <a:xfrm>
            <a:off x="6451092" y="4791456"/>
            <a:ext cx="2114550" cy="310896"/>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tk_chg_pri</a:t>
            </a:r>
            <a:endParaRPr lang="en-US" sz="1500" dirty="0"/>
          </a:p>
        </p:txBody>
      </p:sp>
      <p:sp>
        <p:nvSpPr>
          <p:cNvPr id="34" name="Text 32"/>
          <p:cNvSpPr txBox="1"/>
          <p:nvPr/>
        </p:nvSpPr>
        <p:spPr>
          <a:xfrm>
            <a:off x="6451092" y="5120640"/>
            <a:ext cx="2114550" cy="365760"/>
          </a:xfrm>
          <a:prstGeom prst="rect">
            <a:avLst/>
          </a:prstGeom>
          <a:noFill/>
          <a:ln/>
        </p:spPr>
        <p:txBody>
          <a:bodyPr wrap="square" lIns="0" tIns="0" rIns="0" bIns="0" rtlCol="0" anchor="t"/>
          <a:lstStyle/>
          <a:p>
            <a:pPr indent="0" marL="0">
              <a:buNone/>
            </a:pPr>
            <a:r>
              <a:rPr lang="en-US" sz="1250" dirty="0">
                <a:solidFill>
                  <a:srgbClr val="5A6B8C"/>
                </a:solidFill>
                <a:latin typeface="Calibri" pitchFamily="34" charset="0"/>
                <a:ea typeface="Calibri" pitchFamily="34" charset="-122"/>
                <a:cs typeface="Calibri" pitchFamily="34" charset="-120"/>
              </a:rPr>
              <a:t>task urgency</a:t>
            </a:r>
            <a:endParaRPr lang="en-US" sz="1250" dirty="0"/>
          </a:p>
        </p:txBody>
      </p:sp>
      <p:sp>
        <p:nvSpPr>
          <p:cNvPr id="35" name="Shape 33"/>
          <p:cNvSpPr/>
          <p:nvPr/>
        </p:nvSpPr>
        <p:spPr>
          <a:xfrm>
            <a:off x="9041130" y="4617720"/>
            <a:ext cx="2571750" cy="1051560"/>
          </a:xfrm>
          <a:prstGeom prst="roundRect">
            <a:avLst>
              <a:gd name="adj" fmla="val 8696"/>
            </a:avLst>
          </a:prstGeom>
          <a:solidFill>
            <a:srgbClr val="F4F7FC"/>
          </a:solidFill>
          <a:ln/>
        </p:spPr>
      </p:sp>
      <p:sp>
        <p:nvSpPr>
          <p:cNvPr id="36" name="Text 34"/>
          <p:cNvSpPr txBox="1"/>
          <p:nvPr/>
        </p:nvSpPr>
        <p:spPr>
          <a:xfrm>
            <a:off x="9297162" y="4791456"/>
            <a:ext cx="2114550" cy="310896"/>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tk_get_mpl</a:t>
            </a:r>
            <a:endParaRPr lang="en-US" sz="1500" dirty="0"/>
          </a:p>
        </p:txBody>
      </p:sp>
      <p:sp>
        <p:nvSpPr>
          <p:cNvPr id="37" name="Text 35"/>
          <p:cNvSpPr txBox="1"/>
          <p:nvPr/>
        </p:nvSpPr>
        <p:spPr>
          <a:xfrm>
            <a:off x="9297162" y="5120640"/>
            <a:ext cx="2114550" cy="365760"/>
          </a:xfrm>
          <a:prstGeom prst="rect">
            <a:avLst/>
          </a:prstGeom>
          <a:noFill/>
          <a:ln/>
        </p:spPr>
        <p:txBody>
          <a:bodyPr wrap="square" lIns="0" tIns="0" rIns="0" bIns="0" rtlCol="0" anchor="t"/>
          <a:lstStyle/>
          <a:p>
            <a:pPr indent="0" marL="0">
              <a:buNone/>
            </a:pPr>
            <a:r>
              <a:rPr lang="en-US" sz="1250" dirty="0">
                <a:solidFill>
                  <a:srgbClr val="5A6B8C"/>
                </a:solidFill>
                <a:latin typeface="Calibri" pitchFamily="34" charset="0"/>
                <a:ea typeface="Calibri" pitchFamily="34" charset="-122"/>
                <a:cs typeface="Calibri" pitchFamily="34" charset="-120"/>
              </a:rPr>
              <a:t>layer weight streaming</a:t>
            </a:r>
            <a:endParaRPr lang="en-US" sz="1250" dirty="0"/>
          </a:p>
        </p:txBody>
      </p:sp>
      <p:sp>
        <p:nvSpPr>
          <p:cNvPr id="38" name="Text 36"/>
          <p:cNvSpPr txBox="1"/>
          <p:nvPr/>
        </p:nvSpPr>
        <p:spPr>
          <a:xfrm>
            <a:off x="640080" y="5943600"/>
            <a:ext cx="10881360" cy="365760"/>
          </a:xfrm>
          <a:prstGeom prst="rect">
            <a:avLst/>
          </a:prstGeom>
          <a:noFill/>
          <a:ln/>
        </p:spPr>
        <p:txBody>
          <a:bodyPr wrap="square" lIns="0" tIns="0" rIns="0" bIns="0" rtlCol="0" anchor="t"/>
          <a:lstStyle/>
          <a:p>
            <a:pPr indent="0" marL="0">
              <a:buNone/>
            </a:pPr>
            <a:r>
              <a:rPr lang="en-US" sz="1400" i="1" dirty="0">
                <a:solidFill>
                  <a:srgbClr val="5A6B8C"/>
                </a:solidFill>
                <a:latin typeface="Calibri" pitchFamily="34" charset="0"/>
                <a:ea typeface="Calibri" pitchFamily="34" charset="-122"/>
                <a:cs typeface="Calibri" pitchFamily="34" charset="-120"/>
              </a:rPr>
              <a:t>Every stage handoff is tk_set_flg and tk_wai_flg. Remove the kernel and the adaptive loop does not degrade, it stops.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t"/>
          <a:lstStyle/>
          <a:p>
            <a:pPr indent="0" marL="0">
              <a:buNone/>
            </a:pPr>
            <a:r>
              <a:rPr lang="en-US" sz="1200" b="1" spc="140" kern="0" dirty="0">
                <a:solidFill>
                  <a:srgbClr val="F6AE2D"/>
                </a:solidFill>
                <a:latin typeface="Calibri" pitchFamily="34" charset="0"/>
                <a:ea typeface="Calibri" pitchFamily="34" charset="-122"/>
                <a:cs typeface="Calibri" pitchFamily="34" charset="-120"/>
              </a:rPr>
              <a:t>MEASURED ON HARDWARE</a:t>
            </a:r>
            <a:endParaRPr lang="en-US" sz="1200" dirty="0"/>
          </a:p>
        </p:txBody>
      </p:sp>
      <p:sp>
        <p:nvSpPr>
          <p:cNvPr id="3" name="Text 1"/>
          <p:cNvSpPr txBox="1"/>
          <p:nvPr/>
        </p:nvSpPr>
        <p:spPr>
          <a:xfrm>
            <a:off x="640080" y="658368"/>
            <a:ext cx="10881360" cy="713232"/>
          </a:xfrm>
          <a:prstGeom prst="rect">
            <a:avLst/>
          </a:prstGeom>
          <a:noFill/>
          <a:ln/>
        </p:spPr>
        <p:txBody>
          <a:bodyPr wrap="square" lIns="0" tIns="0" rIns="0" bIns="0" rtlCol="0" anchor="t"/>
          <a:lstStyle/>
          <a:p>
            <a:pPr indent="0" marL="0">
              <a:buNone/>
            </a:pPr>
            <a:r>
              <a:rPr lang="en-US" sz="3400" b="1" dirty="0">
                <a:solidFill>
                  <a:srgbClr val="12193A"/>
                </a:solidFill>
                <a:latin typeface="Cambria" pitchFamily="34" charset="0"/>
                <a:ea typeface="Cambria" pitchFamily="34" charset="-122"/>
                <a:cs typeface="Cambria" pitchFamily="34" charset="-120"/>
              </a:rPr>
              <a:t>The adaptive point is faster than either static build</a:t>
            </a:r>
            <a:endParaRPr lang="en-US" sz="3400" dirty="0"/>
          </a:p>
        </p:txBody>
      </p:sp>
      <p:sp>
        <p:nvSpPr>
          <p:cNvPr id="4" name="Text 2"/>
          <p:cNvSpPr txBox="1"/>
          <p:nvPr/>
        </p:nvSpPr>
        <p:spPr>
          <a:xfrm>
            <a:off x="960120" y="1783080"/>
            <a:ext cx="2377440" cy="274320"/>
          </a:xfrm>
          <a:prstGeom prst="rect">
            <a:avLst/>
          </a:prstGeom>
          <a:noFill/>
          <a:ln/>
        </p:spPr>
        <p:txBody>
          <a:bodyPr wrap="square" lIns="0" tIns="0" rIns="0" bIns="0" rtlCol="0" anchor="t"/>
          <a:lstStyle/>
          <a:p>
            <a:pPr indent="0" marL="0">
              <a:buNone/>
            </a:pPr>
            <a:r>
              <a:rPr lang="en-US" sz="1100" b="1" spc="100" kern="0" dirty="0">
                <a:solidFill>
                  <a:srgbClr val="5A6B8C"/>
                </a:solidFill>
                <a:latin typeface="Calibri" pitchFamily="34" charset="0"/>
                <a:ea typeface="Calibri" pitchFamily="34" charset="-122"/>
                <a:cs typeface="Calibri" pitchFamily="34" charset="-120"/>
              </a:rPr>
              <a:t>CONFIGURATION</a:t>
            </a:r>
            <a:endParaRPr lang="en-US" sz="1100" dirty="0"/>
          </a:p>
        </p:txBody>
      </p:sp>
      <p:sp>
        <p:nvSpPr>
          <p:cNvPr id="5" name="Text 3"/>
          <p:cNvSpPr txBox="1"/>
          <p:nvPr/>
        </p:nvSpPr>
        <p:spPr>
          <a:xfrm>
            <a:off x="3429000" y="1783080"/>
            <a:ext cx="1463040" cy="274320"/>
          </a:xfrm>
          <a:prstGeom prst="rect">
            <a:avLst/>
          </a:prstGeom>
          <a:noFill/>
          <a:ln/>
        </p:spPr>
        <p:txBody>
          <a:bodyPr wrap="square" lIns="0" tIns="0" rIns="0" bIns="0" rtlCol="0" anchor="t"/>
          <a:lstStyle/>
          <a:p>
            <a:pPr indent="0" marL="0">
              <a:buNone/>
            </a:pPr>
            <a:r>
              <a:rPr lang="en-US" sz="1100" b="1" spc="100" kern="0" dirty="0">
                <a:solidFill>
                  <a:srgbClr val="5A6B8C"/>
                </a:solidFill>
                <a:latin typeface="Calibri" pitchFamily="34" charset="0"/>
                <a:ea typeface="Calibri" pitchFamily="34" charset="-122"/>
                <a:cs typeface="Calibri" pitchFamily="34" charset="-120"/>
              </a:rPr>
              <a:t>LATENCY</a:t>
            </a:r>
            <a:endParaRPr lang="en-US" sz="1100" dirty="0"/>
          </a:p>
        </p:txBody>
      </p:sp>
      <p:sp>
        <p:nvSpPr>
          <p:cNvPr id="6" name="Text 4"/>
          <p:cNvSpPr txBox="1"/>
          <p:nvPr/>
        </p:nvSpPr>
        <p:spPr>
          <a:xfrm>
            <a:off x="4983480" y="1783080"/>
            <a:ext cx="1463040" cy="274320"/>
          </a:xfrm>
          <a:prstGeom prst="rect">
            <a:avLst/>
          </a:prstGeom>
          <a:noFill/>
          <a:ln/>
        </p:spPr>
        <p:txBody>
          <a:bodyPr wrap="square" lIns="0" tIns="0" rIns="0" bIns="0" rtlCol="0" anchor="t"/>
          <a:lstStyle/>
          <a:p>
            <a:pPr indent="0" marL="0">
              <a:buNone/>
            </a:pPr>
            <a:r>
              <a:rPr lang="en-US" sz="1100" b="1" spc="100" kern="0" dirty="0">
                <a:solidFill>
                  <a:srgbClr val="5A6B8C"/>
                </a:solidFill>
                <a:latin typeface="Calibri" pitchFamily="34" charset="0"/>
                <a:ea typeface="Calibri" pitchFamily="34" charset="-122"/>
                <a:cs typeface="Calibri" pitchFamily="34" charset="-120"/>
              </a:rPr>
              <a:t>DEADLINE</a:t>
            </a:r>
            <a:endParaRPr lang="en-US" sz="1100" dirty="0"/>
          </a:p>
        </p:txBody>
      </p:sp>
      <p:sp>
        <p:nvSpPr>
          <p:cNvPr id="7" name="Text 5"/>
          <p:cNvSpPr txBox="1"/>
          <p:nvPr/>
        </p:nvSpPr>
        <p:spPr>
          <a:xfrm>
            <a:off x="6446520" y="1783080"/>
            <a:ext cx="1188720" cy="274320"/>
          </a:xfrm>
          <a:prstGeom prst="rect">
            <a:avLst/>
          </a:prstGeom>
          <a:noFill/>
          <a:ln/>
        </p:spPr>
        <p:txBody>
          <a:bodyPr wrap="square" lIns="0" tIns="0" rIns="0" bIns="0" rtlCol="0" anchor="t"/>
          <a:lstStyle/>
          <a:p>
            <a:pPr indent="0" marL="0">
              <a:buNone/>
            </a:pPr>
            <a:r>
              <a:rPr lang="en-US" sz="1100" b="1" spc="100" kern="0" dirty="0">
                <a:solidFill>
                  <a:srgbClr val="5A6B8C"/>
                </a:solidFill>
                <a:latin typeface="Calibri" pitchFamily="34" charset="0"/>
                <a:ea typeface="Calibri" pitchFamily="34" charset="-122"/>
                <a:cs typeface="Calibri" pitchFamily="34" charset="-120"/>
              </a:rPr>
              <a:t>CORE IDLE</a:t>
            </a:r>
            <a:endParaRPr lang="en-US" sz="1100" dirty="0"/>
          </a:p>
        </p:txBody>
      </p:sp>
      <p:sp>
        <p:nvSpPr>
          <p:cNvPr id="8" name="Shape 6"/>
          <p:cNvSpPr/>
          <p:nvPr/>
        </p:nvSpPr>
        <p:spPr>
          <a:xfrm>
            <a:off x="640080" y="2185416"/>
            <a:ext cx="6949440" cy="768096"/>
          </a:xfrm>
          <a:prstGeom prst="roundRect">
            <a:avLst>
              <a:gd name="adj" fmla="val 11905"/>
            </a:avLst>
          </a:prstGeom>
          <a:solidFill>
            <a:srgbClr val="F4F7FC"/>
          </a:solidFill>
          <a:ln/>
        </p:spPr>
      </p:sp>
      <p:sp>
        <p:nvSpPr>
          <p:cNvPr id="9" name="Text 7"/>
          <p:cNvSpPr txBox="1"/>
          <p:nvPr/>
        </p:nvSpPr>
        <p:spPr>
          <a:xfrm>
            <a:off x="960120" y="2423160"/>
            <a:ext cx="2377440" cy="365760"/>
          </a:xfrm>
          <a:prstGeom prst="rect">
            <a:avLst/>
          </a:prstGeom>
          <a:noFill/>
          <a:ln/>
        </p:spPr>
        <p:txBody>
          <a:bodyPr wrap="square" lIns="0" tIns="0" rIns="0" bIns="0" rtlCol="0" anchor="t"/>
          <a:lstStyle/>
          <a:p>
            <a:pPr indent="0" marL="0">
              <a:buNone/>
            </a:pPr>
            <a:r>
              <a:rPr lang="en-US" sz="1500" dirty="0">
                <a:solidFill>
                  <a:srgbClr val="12193A"/>
                </a:solidFill>
                <a:latin typeface="Calibri" pitchFamily="34" charset="0"/>
                <a:ea typeface="Calibri" pitchFamily="34" charset="-122"/>
                <a:cs typeface="Calibri" pitchFamily="34" charset="-120"/>
              </a:rPr>
              <a:t>Static FP32</a:t>
            </a:r>
            <a:endParaRPr lang="en-US" sz="1500" dirty="0"/>
          </a:p>
        </p:txBody>
      </p:sp>
      <p:sp>
        <p:nvSpPr>
          <p:cNvPr id="10" name="Text 8"/>
          <p:cNvSpPr txBox="1"/>
          <p:nvPr/>
        </p:nvSpPr>
        <p:spPr>
          <a:xfrm>
            <a:off x="3429000" y="2368296"/>
            <a:ext cx="1554480" cy="420624"/>
          </a:xfrm>
          <a:prstGeom prst="rect">
            <a:avLst/>
          </a:prstGeom>
          <a:noFill/>
          <a:ln/>
        </p:spPr>
        <p:txBody>
          <a:bodyPr wrap="square" lIns="0" tIns="0" rIns="0" bIns="0" rtlCol="0" anchor="t"/>
          <a:lstStyle/>
          <a:p>
            <a:pPr indent="0" marL="0">
              <a:buNone/>
            </a:pPr>
            <a:r>
              <a:rPr lang="en-US" sz="2000" b="1" dirty="0">
                <a:solidFill>
                  <a:srgbClr val="12193A"/>
                </a:solidFill>
                <a:latin typeface="Cambria" pitchFamily="34" charset="0"/>
                <a:ea typeface="Cambria" pitchFamily="34" charset="-122"/>
                <a:cs typeface="Cambria" pitchFamily="34" charset="-120"/>
              </a:rPr>
              <a:t>125.9 ms</a:t>
            </a:r>
            <a:endParaRPr lang="en-US" sz="2000" dirty="0"/>
          </a:p>
        </p:txBody>
      </p:sp>
      <p:sp>
        <p:nvSpPr>
          <p:cNvPr id="11" name="Text 9"/>
          <p:cNvSpPr txBox="1"/>
          <p:nvPr/>
        </p:nvSpPr>
        <p:spPr>
          <a:xfrm>
            <a:off x="4983480" y="2423160"/>
            <a:ext cx="1554480" cy="365760"/>
          </a:xfrm>
          <a:prstGeom prst="rect">
            <a:avLst/>
          </a:prstGeom>
          <a:noFill/>
          <a:ln/>
        </p:spPr>
        <p:txBody>
          <a:bodyPr wrap="square" lIns="0" tIns="0" rIns="0" bIns="0" rtlCol="0" anchor="t"/>
          <a:lstStyle/>
          <a:p>
            <a:pPr indent="0" marL="0">
              <a:buNone/>
            </a:pPr>
            <a:r>
              <a:rPr lang="en-US" sz="1400" b="1" dirty="0">
                <a:solidFill>
                  <a:srgbClr val="C0392B"/>
                </a:solidFill>
                <a:latin typeface="Calibri" pitchFamily="34" charset="0"/>
                <a:ea typeface="Calibri" pitchFamily="34" charset="-122"/>
                <a:cs typeface="Calibri" pitchFamily="34" charset="-120"/>
              </a:rPr>
              <a:t>missed</a:t>
            </a:r>
            <a:endParaRPr lang="en-US" sz="1400" dirty="0"/>
          </a:p>
        </p:txBody>
      </p:sp>
      <p:sp>
        <p:nvSpPr>
          <p:cNvPr id="12" name="Text 10"/>
          <p:cNvSpPr txBox="1"/>
          <p:nvPr/>
        </p:nvSpPr>
        <p:spPr>
          <a:xfrm>
            <a:off x="6446520" y="2423160"/>
            <a:ext cx="1188720" cy="365760"/>
          </a:xfrm>
          <a:prstGeom prst="rect">
            <a:avLst/>
          </a:prstGeom>
          <a:noFill/>
          <a:ln/>
        </p:spPr>
        <p:txBody>
          <a:bodyPr wrap="square" lIns="0" tIns="0" rIns="0" bIns="0" rtlCol="0" anchor="t"/>
          <a:lstStyle/>
          <a:p>
            <a:pPr indent="0" marL="0">
              <a:buNone/>
            </a:pPr>
            <a:r>
              <a:rPr lang="en-US" sz="1400" dirty="0">
                <a:solidFill>
                  <a:srgbClr val="5A6B8C"/>
                </a:solidFill>
                <a:latin typeface="Calibri" pitchFamily="34" charset="0"/>
                <a:ea typeface="Calibri" pitchFamily="34" charset="-122"/>
                <a:cs typeface="Calibri" pitchFamily="34" charset="-120"/>
              </a:rPr>
              <a:t>23.5 %</a:t>
            </a:r>
            <a:endParaRPr lang="en-US" sz="1400" dirty="0"/>
          </a:p>
        </p:txBody>
      </p:sp>
      <p:sp>
        <p:nvSpPr>
          <p:cNvPr id="13" name="Shape 11"/>
          <p:cNvSpPr/>
          <p:nvPr/>
        </p:nvSpPr>
        <p:spPr>
          <a:xfrm>
            <a:off x="640080" y="3081528"/>
            <a:ext cx="6949440" cy="768096"/>
          </a:xfrm>
          <a:prstGeom prst="roundRect">
            <a:avLst>
              <a:gd name="adj" fmla="val 11905"/>
            </a:avLst>
          </a:prstGeom>
          <a:solidFill>
            <a:srgbClr val="F4F7FC"/>
          </a:solidFill>
          <a:ln/>
        </p:spPr>
      </p:sp>
      <p:sp>
        <p:nvSpPr>
          <p:cNvPr id="14" name="Text 12"/>
          <p:cNvSpPr txBox="1"/>
          <p:nvPr/>
        </p:nvSpPr>
        <p:spPr>
          <a:xfrm>
            <a:off x="960120" y="3319272"/>
            <a:ext cx="2377440" cy="365760"/>
          </a:xfrm>
          <a:prstGeom prst="rect">
            <a:avLst/>
          </a:prstGeom>
          <a:noFill/>
          <a:ln/>
        </p:spPr>
        <p:txBody>
          <a:bodyPr wrap="square" lIns="0" tIns="0" rIns="0" bIns="0" rtlCol="0" anchor="t"/>
          <a:lstStyle/>
          <a:p>
            <a:pPr indent="0" marL="0">
              <a:buNone/>
            </a:pPr>
            <a:r>
              <a:rPr lang="en-US" sz="1500" dirty="0">
                <a:solidFill>
                  <a:srgbClr val="12193A"/>
                </a:solidFill>
                <a:latin typeface="Calibri" pitchFamily="34" charset="0"/>
                <a:ea typeface="Calibri" pitchFamily="34" charset="-122"/>
                <a:cs typeface="Calibri" pitchFamily="34" charset="-120"/>
              </a:rPr>
              <a:t>Static INT8</a:t>
            </a:r>
            <a:endParaRPr lang="en-US" sz="1500" dirty="0"/>
          </a:p>
        </p:txBody>
      </p:sp>
      <p:sp>
        <p:nvSpPr>
          <p:cNvPr id="15" name="Text 13"/>
          <p:cNvSpPr txBox="1"/>
          <p:nvPr/>
        </p:nvSpPr>
        <p:spPr>
          <a:xfrm>
            <a:off x="3429000" y="3264408"/>
            <a:ext cx="1554480" cy="420624"/>
          </a:xfrm>
          <a:prstGeom prst="rect">
            <a:avLst/>
          </a:prstGeom>
          <a:noFill/>
          <a:ln/>
        </p:spPr>
        <p:txBody>
          <a:bodyPr wrap="square" lIns="0" tIns="0" rIns="0" bIns="0" rtlCol="0" anchor="t"/>
          <a:lstStyle/>
          <a:p>
            <a:pPr indent="0" marL="0">
              <a:buNone/>
            </a:pPr>
            <a:r>
              <a:rPr lang="en-US" sz="2000" b="1" dirty="0">
                <a:solidFill>
                  <a:srgbClr val="12193A"/>
                </a:solidFill>
                <a:latin typeface="Cambria" pitchFamily="34" charset="0"/>
                <a:ea typeface="Cambria" pitchFamily="34" charset="-122"/>
                <a:cs typeface="Cambria" pitchFamily="34" charset="-120"/>
              </a:rPr>
              <a:t>101.5 ms</a:t>
            </a:r>
            <a:endParaRPr lang="en-US" sz="2000" dirty="0"/>
          </a:p>
        </p:txBody>
      </p:sp>
      <p:sp>
        <p:nvSpPr>
          <p:cNvPr id="16" name="Text 14"/>
          <p:cNvSpPr txBox="1"/>
          <p:nvPr/>
        </p:nvSpPr>
        <p:spPr>
          <a:xfrm>
            <a:off x="4983480" y="3319272"/>
            <a:ext cx="1554480" cy="365760"/>
          </a:xfrm>
          <a:prstGeom prst="rect">
            <a:avLst/>
          </a:prstGeom>
          <a:noFill/>
          <a:ln/>
        </p:spPr>
        <p:txBody>
          <a:bodyPr wrap="square" lIns="0" tIns="0" rIns="0" bIns="0" rtlCol="0" anchor="t"/>
          <a:lstStyle/>
          <a:p>
            <a:pPr indent="0" marL="0">
              <a:buNone/>
            </a:pPr>
            <a:r>
              <a:rPr lang="en-US" sz="1400" b="1" dirty="0">
                <a:solidFill>
                  <a:srgbClr val="2C7A4B"/>
                </a:solidFill>
                <a:latin typeface="Calibri" pitchFamily="34" charset="0"/>
                <a:ea typeface="Calibri" pitchFamily="34" charset="-122"/>
                <a:cs typeface="Calibri" pitchFamily="34" charset="-120"/>
              </a:rPr>
              <a:t>met</a:t>
            </a:r>
            <a:endParaRPr lang="en-US" sz="1400" dirty="0"/>
          </a:p>
        </p:txBody>
      </p:sp>
      <p:sp>
        <p:nvSpPr>
          <p:cNvPr id="17" name="Text 15"/>
          <p:cNvSpPr txBox="1"/>
          <p:nvPr/>
        </p:nvSpPr>
        <p:spPr>
          <a:xfrm>
            <a:off x="6446520" y="3319272"/>
            <a:ext cx="1188720" cy="365760"/>
          </a:xfrm>
          <a:prstGeom prst="rect">
            <a:avLst/>
          </a:prstGeom>
          <a:noFill/>
          <a:ln/>
        </p:spPr>
        <p:txBody>
          <a:bodyPr wrap="square" lIns="0" tIns="0" rIns="0" bIns="0" rtlCol="0" anchor="t"/>
          <a:lstStyle/>
          <a:p>
            <a:pPr indent="0" marL="0">
              <a:buNone/>
            </a:pPr>
            <a:r>
              <a:rPr lang="en-US" sz="1400" dirty="0">
                <a:solidFill>
                  <a:srgbClr val="5A6B8C"/>
                </a:solidFill>
                <a:latin typeface="Calibri" pitchFamily="34" charset="0"/>
                <a:ea typeface="Calibri" pitchFamily="34" charset="-122"/>
                <a:cs typeface="Calibri" pitchFamily="34" charset="-120"/>
              </a:rPr>
              <a:t>39.9 %</a:t>
            </a:r>
            <a:endParaRPr lang="en-US" sz="1400" dirty="0"/>
          </a:p>
        </p:txBody>
      </p:sp>
      <p:sp>
        <p:nvSpPr>
          <p:cNvPr id="18" name="Shape 16"/>
          <p:cNvSpPr/>
          <p:nvPr/>
        </p:nvSpPr>
        <p:spPr>
          <a:xfrm>
            <a:off x="640080" y="3977640"/>
            <a:ext cx="6949440" cy="768096"/>
          </a:xfrm>
          <a:prstGeom prst="roundRect">
            <a:avLst>
              <a:gd name="adj" fmla="val 11905"/>
            </a:avLst>
          </a:prstGeom>
          <a:solidFill>
            <a:srgbClr val="1E2761"/>
          </a:solidFill>
          <a:ln/>
        </p:spPr>
      </p:sp>
      <p:sp>
        <p:nvSpPr>
          <p:cNvPr id="19" name="Text 17"/>
          <p:cNvSpPr txBox="1"/>
          <p:nvPr/>
        </p:nvSpPr>
        <p:spPr>
          <a:xfrm>
            <a:off x="960120" y="4215384"/>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Adaptive</a:t>
            </a:r>
            <a:endParaRPr lang="en-US" sz="1500" dirty="0"/>
          </a:p>
        </p:txBody>
      </p:sp>
      <p:sp>
        <p:nvSpPr>
          <p:cNvPr id="20" name="Text 18"/>
          <p:cNvSpPr txBox="1"/>
          <p:nvPr/>
        </p:nvSpPr>
        <p:spPr>
          <a:xfrm>
            <a:off x="3429000" y="4160520"/>
            <a:ext cx="1554480" cy="420624"/>
          </a:xfrm>
          <a:prstGeom prst="rect">
            <a:avLst/>
          </a:prstGeom>
          <a:noFill/>
          <a:ln/>
        </p:spPr>
        <p:txBody>
          <a:bodyPr wrap="square" lIns="0" tIns="0" rIns="0" bIns="0" rtlCol="0" anchor="t"/>
          <a:lstStyle/>
          <a:p>
            <a:pPr indent="0" marL="0">
              <a:buNone/>
            </a:pPr>
            <a:r>
              <a:rPr lang="en-US" sz="2000" b="1" dirty="0">
                <a:solidFill>
                  <a:srgbClr val="F6AE2D"/>
                </a:solidFill>
                <a:latin typeface="Cambria" pitchFamily="34" charset="0"/>
                <a:ea typeface="Cambria" pitchFamily="34" charset="-122"/>
                <a:cs typeface="Cambria" pitchFamily="34" charset="-120"/>
              </a:rPr>
              <a:t>98.2 ms</a:t>
            </a:r>
            <a:endParaRPr lang="en-US" sz="2000" dirty="0"/>
          </a:p>
        </p:txBody>
      </p:sp>
      <p:sp>
        <p:nvSpPr>
          <p:cNvPr id="21" name="Text 19"/>
          <p:cNvSpPr txBox="1"/>
          <p:nvPr/>
        </p:nvSpPr>
        <p:spPr>
          <a:xfrm>
            <a:off x="4983480" y="4215384"/>
            <a:ext cx="1554480" cy="3657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met</a:t>
            </a:r>
            <a:endParaRPr lang="en-US" sz="1400" dirty="0"/>
          </a:p>
        </p:txBody>
      </p:sp>
      <p:sp>
        <p:nvSpPr>
          <p:cNvPr id="22" name="Text 20"/>
          <p:cNvSpPr txBox="1"/>
          <p:nvPr/>
        </p:nvSpPr>
        <p:spPr>
          <a:xfrm>
            <a:off x="6446520" y="4215384"/>
            <a:ext cx="1188720" cy="36576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42.0 %</a:t>
            </a:r>
            <a:endParaRPr lang="en-US" sz="1400" dirty="0"/>
          </a:p>
        </p:txBody>
      </p:sp>
      <p:sp>
        <p:nvSpPr>
          <p:cNvPr id="23" name="Shape 21"/>
          <p:cNvSpPr/>
          <p:nvPr/>
        </p:nvSpPr>
        <p:spPr>
          <a:xfrm>
            <a:off x="8001000" y="2185416"/>
            <a:ext cx="3520440" cy="2560320"/>
          </a:xfrm>
          <a:prstGeom prst="roundRect">
            <a:avLst>
              <a:gd name="adj" fmla="val 3571"/>
            </a:avLst>
          </a:prstGeom>
          <a:solidFill>
            <a:srgbClr val="F6AE2D"/>
          </a:solidFill>
          <a:ln/>
        </p:spPr>
      </p:sp>
      <p:sp>
        <p:nvSpPr>
          <p:cNvPr id="24" name="Text 22"/>
          <p:cNvSpPr txBox="1"/>
          <p:nvPr/>
        </p:nvSpPr>
        <p:spPr>
          <a:xfrm>
            <a:off x="8293608" y="2688336"/>
            <a:ext cx="2935224" cy="822960"/>
          </a:xfrm>
          <a:prstGeom prst="rect">
            <a:avLst/>
          </a:prstGeom>
          <a:noFill/>
          <a:ln/>
        </p:spPr>
        <p:txBody>
          <a:bodyPr wrap="square" lIns="0" tIns="0" rIns="0" bIns="0" rtlCol="0" anchor="t"/>
          <a:lstStyle/>
          <a:p>
            <a:pPr indent="0" marL="0">
              <a:buNone/>
            </a:pPr>
            <a:r>
              <a:rPr lang="en-US" sz="4400" b="1" dirty="0">
                <a:solidFill>
                  <a:srgbClr val="12193A"/>
                </a:solidFill>
                <a:latin typeface="Cambria" pitchFamily="34" charset="0"/>
                <a:ea typeface="Cambria" pitchFamily="34" charset="-122"/>
                <a:cs typeface="Cambria" pitchFamily="34" charset="-120"/>
              </a:rPr>
              <a:t>98.2 ms</a:t>
            </a:r>
            <a:endParaRPr lang="en-US" sz="4400" dirty="0"/>
          </a:p>
        </p:txBody>
      </p:sp>
      <p:sp>
        <p:nvSpPr>
          <p:cNvPr id="25" name="Text 23"/>
          <p:cNvSpPr txBox="1"/>
          <p:nvPr/>
        </p:nvSpPr>
        <p:spPr>
          <a:xfrm>
            <a:off x="8293608" y="3602736"/>
            <a:ext cx="2935224" cy="868680"/>
          </a:xfrm>
          <a:prstGeom prst="rect">
            <a:avLst/>
          </a:prstGeom>
          <a:noFill/>
          <a:ln/>
        </p:spPr>
        <p:txBody>
          <a:bodyPr wrap="square" lIns="0" tIns="0" rIns="0" bIns="0" rtlCol="0" anchor="t"/>
          <a:lstStyle/>
          <a:p>
            <a:pPr indent="0" marL="0">
              <a:lnSpc>
                <a:spcPct val="118000"/>
              </a:lnSpc>
              <a:buNone/>
            </a:pPr>
            <a:r>
              <a:rPr lang="en-US" sz="1400" dirty="0">
                <a:solidFill>
                  <a:srgbClr val="6B4E0A"/>
                </a:solidFill>
                <a:latin typeface="Calibri" pitchFamily="34" charset="0"/>
                <a:ea typeface="Calibri" pitchFamily="34" charset="-122"/>
                <a:cs typeface="Calibri" pitchFamily="34" charset="-120"/>
              </a:rPr>
              <a:t>faster than the best static compile, at identical accuracy</a:t>
            </a:r>
            <a:endParaRPr lang="en-US" sz="1400" dirty="0"/>
          </a:p>
        </p:txBody>
      </p:sp>
      <p:sp>
        <p:nvSpPr>
          <p:cNvPr id="26" name="Text 24"/>
          <p:cNvSpPr txBox="1"/>
          <p:nvPr/>
        </p:nvSpPr>
        <p:spPr>
          <a:xfrm>
            <a:off x="640080" y="5212080"/>
            <a:ext cx="10881360" cy="365760"/>
          </a:xfrm>
          <a:prstGeom prst="rect">
            <a:avLst/>
          </a:prstGeom>
          <a:noFill/>
          <a:ln/>
        </p:spPr>
        <p:txBody>
          <a:bodyPr wrap="square" lIns="0" tIns="0" rIns="0" bIns="0" rtlCol="0" anchor="t"/>
          <a:lstStyle/>
          <a:p>
            <a:pPr indent="0" marL="0">
              <a:buNone/>
            </a:pPr>
            <a:r>
              <a:rPr lang="en-US" sz="1400" dirty="0">
                <a:solidFill>
                  <a:srgbClr val="5A6B8C"/>
                </a:solidFill>
                <a:latin typeface="Calibri" pitchFamily="34" charset="0"/>
                <a:ea typeface="Calibri" pitchFamily="34" charset="-122"/>
                <a:cs typeface="Calibri" pitchFamily="34" charset="-120"/>
              </a:rPr>
              <a:t>The deadline is the classification period itself, derived from the inference stride, not chosen after seeing the costs.</a:t>
            </a:r>
            <a:endParaRPr lang="en-US" sz="1400" dirty="0"/>
          </a:p>
        </p:txBody>
      </p:sp>
      <p:sp>
        <p:nvSpPr>
          <p:cNvPr id="27" name="Text 25"/>
          <p:cNvSpPr txBox="1"/>
          <p:nvPr/>
        </p:nvSpPr>
        <p:spPr>
          <a:xfrm>
            <a:off x="640080" y="5650992"/>
            <a:ext cx="10881360" cy="365760"/>
          </a:xfrm>
          <a:prstGeom prst="rect">
            <a:avLst/>
          </a:prstGeom>
          <a:noFill/>
          <a:ln/>
        </p:spPr>
        <p:txBody>
          <a:bodyPr wrap="square" lIns="0" tIns="0" rIns="0" bIns="0" rtlCol="0" anchor="t"/>
          <a:lstStyle/>
          <a:p>
            <a:pPr indent="0" marL="0">
              <a:buNone/>
            </a:pPr>
            <a:r>
              <a:rPr lang="en-US" sz="1300" i="1" dirty="0">
                <a:solidFill>
                  <a:srgbClr val="8FA2C4"/>
                </a:solidFill>
                <a:latin typeface="Calibri" pitchFamily="34" charset="0"/>
                <a:ea typeface="Calibri" pitchFamily="34" charset="-122"/>
                <a:cs typeface="Calibri" pitchFamily="34" charset="-120"/>
              </a:rPr>
              <a:t>Core accuracy is 94.0 percent in all three configurations, so the speedup costs nothing.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t"/>
          <a:lstStyle/>
          <a:p>
            <a:pPr indent="0" marL="0">
              <a:buNone/>
            </a:pPr>
            <a:r>
              <a:rPr lang="en-US" sz="1200" b="1" spc="140" kern="0" dirty="0">
                <a:solidFill>
                  <a:srgbClr val="F6AE2D"/>
                </a:solidFill>
                <a:latin typeface="Calibri" pitchFamily="34" charset="0"/>
                <a:ea typeface="Calibri" pitchFamily="34" charset="-122"/>
                <a:cs typeface="Calibri" pitchFamily="34" charset="-120"/>
              </a:rPr>
              <a:t>THE MECHANISM</a:t>
            </a:r>
            <a:endParaRPr lang="en-US" sz="1200" dirty="0"/>
          </a:p>
        </p:txBody>
      </p:sp>
      <p:sp>
        <p:nvSpPr>
          <p:cNvPr id="3" name="Text 1"/>
          <p:cNvSpPr txBox="1"/>
          <p:nvPr/>
        </p:nvSpPr>
        <p:spPr>
          <a:xfrm>
            <a:off x="640080" y="658368"/>
            <a:ext cx="10881360" cy="713232"/>
          </a:xfrm>
          <a:prstGeom prst="rect">
            <a:avLst/>
          </a:prstGeom>
          <a:noFill/>
          <a:ln/>
        </p:spPr>
        <p:txBody>
          <a:bodyPr wrap="square" lIns="0" tIns="0" rIns="0" bIns="0" rtlCol="0" anchor="t"/>
          <a:lstStyle/>
          <a:p>
            <a:pPr indent="0" marL="0">
              <a:buNone/>
            </a:pPr>
            <a:r>
              <a:rPr lang="en-US" sz="3400" b="1" dirty="0">
                <a:solidFill>
                  <a:srgbClr val="12193A"/>
                </a:solidFill>
                <a:latin typeface="Cambria" pitchFamily="34" charset="0"/>
                <a:ea typeface="Cambria" pitchFamily="34" charset="-122"/>
                <a:cs typeface="Cambria" pitchFamily="34" charset="-120"/>
              </a:rPr>
              <a:t>Why a mixed configuration wins</a:t>
            </a:r>
            <a:endParaRPr lang="en-US" sz="3400" dirty="0"/>
          </a:p>
        </p:txBody>
      </p:sp>
      <p:pic>
        <p:nvPicPr>
          <p:cNvPr id="4" name="Image 0" descr="/Users/kushalsathyanarayan/Desktop/TRON/docs/figures/layer_inversion.png">    </p:cNvPr>
          <p:cNvPicPr>
            <a:picLocks noChangeAspect="1"/>
          </p:cNvPicPr>
          <p:nvPr/>
        </p:nvPicPr>
        <p:blipFill>
          <a:blip r:embed="rId1"/>
          <a:stretch>
            <a:fillRect/>
          </a:stretch>
        </p:blipFill>
        <p:spPr>
          <a:xfrm>
            <a:off x="640080" y="1554480"/>
            <a:ext cx="10881360" cy="3154680"/>
          </a:xfrm>
          <a:prstGeom prst="rect">
            <a:avLst/>
          </a:prstGeom>
        </p:spPr>
      </p:pic>
      <p:sp>
        <p:nvSpPr>
          <p:cNvPr id="5" name="Shape 2"/>
          <p:cNvSpPr/>
          <p:nvPr/>
        </p:nvSpPr>
        <p:spPr>
          <a:xfrm>
            <a:off x="640080" y="4892040"/>
            <a:ext cx="3456432" cy="1280160"/>
          </a:xfrm>
          <a:prstGeom prst="roundRect">
            <a:avLst>
              <a:gd name="adj" fmla="val 7143"/>
            </a:avLst>
          </a:prstGeom>
          <a:solidFill>
            <a:srgbClr val="F4F7FC"/>
          </a:solidFill>
          <a:ln/>
        </p:spPr>
      </p:sp>
      <p:sp>
        <p:nvSpPr>
          <p:cNvPr id="6" name="Text 3"/>
          <p:cNvSpPr txBox="1"/>
          <p:nvPr/>
        </p:nvSpPr>
        <p:spPr>
          <a:xfrm>
            <a:off x="896112" y="5074920"/>
            <a:ext cx="2999232" cy="310896"/>
          </a:xfrm>
          <a:prstGeom prst="rect">
            <a:avLst/>
          </a:prstGeom>
          <a:noFill/>
          <a:ln/>
        </p:spPr>
        <p:txBody>
          <a:bodyPr wrap="square" lIns="0" tIns="0" rIns="0" bIns="0" rtlCol="0" anchor="t"/>
          <a:lstStyle/>
          <a:p>
            <a:pPr indent="0" marL="0">
              <a:buNone/>
            </a:pPr>
            <a:r>
              <a:rPr lang="en-US" sz="1350" b="1" dirty="0">
                <a:solidFill>
                  <a:srgbClr val="12193A"/>
                </a:solidFill>
                <a:latin typeface="Calibri" pitchFamily="34" charset="0"/>
                <a:ea typeface="Calibri" pitchFamily="34" charset="-122"/>
                <a:cs typeface="Calibri" pitchFamily="34" charset="-120"/>
              </a:rPr>
              <a:t>Four depthwise layers</a:t>
            </a:r>
            <a:endParaRPr lang="en-US" sz="1350" dirty="0"/>
          </a:p>
        </p:txBody>
      </p:sp>
      <p:sp>
        <p:nvSpPr>
          <p:cNvPr id="7" name="Text 4"/>
          <p:cNvSpPr txBox="1"/>
          <p:nvPr/>
        </p:nvSpPr>
        <p:spPr>
          <a:xfrm>
            <a:off x="896112" y="5422392"/>
            <a:ext cx="2999232" cy="640080"/>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57 percent slower in INT8, their kernels cannot pack</a:t>
            </a:r>
            <a:endParaRPr lang="en-US" sz="1250" dirty="0"/>
          </a:p>
        </p:txBody>
      </p:sp>
      <p:sp>
        <p:nvSpPr>
          <p:cNvPr id="8" name="Shape 5"/>
          <p:cNvSpPr/>
          <p:nvPr/>
        </p:nvSpPr>
        <p:spPr>
          <a:xfrm>
            <a:off x="4352544" y="4892040"/>
            <a:ext cx="3456432" cy="1280160"/>
          </a:xfrm>
          <a:prstGeom prst="roundRect">
            <a:avLst>
              <a:gd name="adj" fmla="val 7143"/>
            </a:avLst>
          </a:prstGeom>
          <a:solidFill>
            <a:srgbClr val="F4F7FC"/>
          </a:solidFill>
          <a:ln/>
        </p:spPr>
      </p:sp>
      <p:sp>
        <p:nvSpPr>
          <p:cNvPr id="9" name="Text 6"/>
          <p:cNvSpPr txBox="1"/>
          <p:nvPr/>
        </p:nvSpPr>
        <p:spPr>
          <a:xfrm>
            <a:off x="4608576" y="5074920"/>
            <a:ext cx="2999232" cy="310896"/>
          </a:xfrm>
          <a:prstGeom prst="rect">
            <a:avLst/>
          </a:prstGeom>
          <a:noFill/>
          <a:ln/>
        </p:spPr>
        <p:txBody>
          <a:bodyPr wrap="square" lIns="0" tIns="0" rIns="0" bIns="0" rtlCol="0" anchor="t"/>
          <a:lstStyle/>
          <a:p>
            <a:pPr indent="0" marL="0">
              <a:buNone/>
            </a:pPr>
            <a:r>
              <a:rPr lang="en-US" sz="1350" b="1" dirty="0">
                <a:solidFill>
                  <a:srgbClr val="12193A"/>
                </a:solidFill>
                <a:latin typeface="Calibri" pitchFamily="34" charset="0"/>
                <a:ea typeface="Calibri" pitchFamily="34" charset="-122"/>
                <a:cs typeface="Calibri" pitchFamily="34" charset="-120"/>
              </a:rPr>
              <a:t>Every other layer</a:t>
            </a:r>
            <a:endParaRPr lang="en-US" sz="1350" dirty="0"/>
          </a:p>
        </p:txBody>
      </p:sp>
      <p:sp>
        <p:nvSpPr>
          <p:cNvPr id="10" name="Text 7"/>
          <p:cNvSpPr txBox="1"/>
          <p:nvPr/>
        </p:nvSpPr>
        <p:spPr>
          <a:xfrm>
            <a:off x="4608576" y="5422392"/>
            <a:ext cx="2999232" cy="640080"/>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32 percent faster in INT8, packed SXTB16 and SMLAD</a:t>
            </a:r>
            <a:endParaRPr lang="en-US" sz="1250" dirty="0"/>
          </a:p>
        </p:txBody>
      </p:sp>
      <p:sp>
        <p:nvSpPr>
          <p:cNvPr id="11" name="Shape 8"/>
          <p:cNvSpPr/>
          <p:nvPr/>
        </p:nvSpPr>
        <p:spPr>
          <a:xfrm>
            <a:off x="8065008" y="4892040"/>
            <a:ext cx="3456432" cy="1280160"/>
          </a:xfrm>
          <a:prstGeom prst="roundRect">
            <a:avLst>
              <a:gd name="adj" fmla="val 7143"/>
            </a:avLst>
          </a:prstGeom>
          <a:solidFill>
            <a:srgbClr val="1E2761"/>
          </a:solidFill>
          <a:ln/>
        </p:spPr>
      </p:sp>
      <p:sp>
        <p:nvSpPr>
          <p:cNvPr id="12" name="Text 9"/>
          <p:cNvSpPr txBox="1"/>
          <p:nvPr/>
        </p:nvSpPr>
        <p:spPr>
          <a:xfrm>
            <a:off x="8321040" y="5074920"/>
            <a:ext cx="2999232" cy="310896"/>
          </a:xfrm>
          <a:prstGeom prst="rect">
            <a:avLst/>
          </a:prstGeom>
          <a:noFill/>
          <a:ln/>
        </p:spPr>
        <p:txBody>
          <a:bodyPr wrap="square" lIns="0" tIns="0" rIns="0" bIns="0" rtlCol="0" anchor="t"/>
          <a:lstStyle/>
          <a:p>
            <a:pPr indent="0" marL="0">
              <a:buNone/>
            </a:pPr>
            <a:r>
              <a:rPr lang="en-US" sz="1350" b="1" dirty="0">
                <a:solidFill>
                  <a:srgbClr val="F6AE2D"/>
                </a:solidFill>
                <a:latin typeface="Calibri" pitchFamily="34" charset="0"/>
                <a:ea typeface="Calibri" pitchFamily="34" charset="-122"/>
                <a:cs typeface="Calibri" pitchFamily="34" charset="-120"/>
              </a:rPr>
              <a:t>So the optimum is mixed</a:t>
            </a:r>
            <a:endParaRPr lang="en-US" sz="1350" dirty="0"/>
          </a:p>
        </p:txBody>
      </p:sp>
      <p:sp>
        <p:nvSpPr>
          <p:cNvPr id="13" name="Text 10"/>
          <p:cNvSpPr txBox="1"/>
          <p:nvPr/>
        </p:nvSpPr>
        <p:spPr>
          <a:xfrm>
            <a:off x="8321040" y="5422392"/>
            <a:ext cx="2999232" cy="640080"/>
          </a:xfrm>
          <a:prstGeom prst="rect">
            <a:avLst/>
          </a:prstGeom>
          <a:noFill/>
          <a:ln/>
        </p:spPr>
        <p:txBody>
          <a:bodyPr wrap="square" lIns="0" tIns="0" rIns="0" bIns="0" rtlCol="0" anchor="t"/>
          <a:lstStyle/>
          <a:p>
            <a:pPr indent="0" marL="0">
              <a:lnSpc>
                <a:spcPct val="118000"/>
              </a:lnSpc>
              <a:buNone/>
            </a:pPr>
            <a:r>
              <a:rPr lang="en-US" sz="1250" dirty="0">
                <a:solidFill>
                  <a:srgbClr val="CADCFC"/>
                </a:solidFill>
                <a:latin typeface="Calibri" pitchFamily="34" charset="0"/>
                <a:ea typeface="Calibri" pitchFamily="34" charset="-122"/>
                <a:cs typeface="Calibri" pitchFamily="34" charset="-120"/>
              </a:rPr>
              <a:t>no single precision build can express it</a:t>
            </a:r>
            <a:endParaRPr lang="en-US" sz="1250" dirty="0"/>
          </a:p>
        </p:txBody>
      </p:sp>
      <p:sp>
        <p:nvSpPr>
          <p:cNvPr id="14" name="Text 11"/>
          <p:cNvSpPr txBox="1"/>
          <p:nvPr/>
        </p:nvSpPr>
        <p:spPr>
          <a:xfrm>
            <a:off x="640080" y="6291072"/>
            <a:ext cx="10881360" cy="292608"/>
          </a:xfrm>
          <a:prstGeom prst="rect">
            <a:avLst/>
          </a:prstGeom>
          <a:noFill/>
          <a:ln/>
        </p:spPr>
        <p:txBody>
          <a:bodyPr wrap="square" lIns="0" tIns="0" rIns="0" bIns="0" rtlCol="0" anchor="t"/>
          <a:lstStyle/>
          <a:p>
            <a:pPr indent="0" marL="0">
              <a:buNone/>
            </a:pPr>
            <a:r>
              <a:rPr lang="en-US" sz="1100" i="1" dirty="0">
                <a:solidFill>
                  <a:srgbClr val="8FA2C4"/>
                </a:solidFill>
                <a:latin typeface="Calibri" pitchFamily="34" charset="0"/>
                <a:ea typeface="Calibri" pitchFamily="34" charset="-122"/>
                <a:cs typeface="Calibri" pitchFamily="34" charset="-120"/>
              </a:rPr>
              <a:t>The fully connected layer is a few thousand cycles, invisible at this scale.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t"/>
          <a:lstStyle/>
          <a:p>
            <a:pPr indent="0" marL="0">
              <a:buNone/>
            </a:pPr>
            <a:r>
              <a:rPr lang="en-US" sz="1200" b="1" spc="140" kern="0" dirty="0">
                <a:solidFill>
                  <a:srgbClr val="F6AE2D"/>
                </a:solidFill>
                <a:latin typeface="Calibri" pitchFamily="34" charset="0"/>
                <a:ea typeface="Calibri" pitchFamily="34" charset="-122"/>
                <a:cs typeface="Calibri" pitchFamily="34" charset="-120"/>
              </a:rPr>
              <a:t>THE CLOSED LOOP</a:t>
            </a:r>
            <a:endParaRPr lang="en-US" sz="1200" dirty="0"/>
          </a:p>
        </p:txBody>
      </p:sp>
      <p:sp>
        <p:nvSpPr>
          <p:cNvPr id="3" name="Text 1"/>
          <p:cNvSpPr txBox="1"/>
          <p:nvPr/>
        </p:nvSpPr>
        <p:spPr>
          <a:xfrm>
            <a:off x="640080" y="658368"/>
            <a:ext cx="10881360" cy="713232"/>
          </a:xfrm>
          <a:prstGeom prst="rect">
            <a:avLst/>
          </a:prstGeom>
          <a:noFill/>
          <a:ln/>
        </p:spPr>
        <p:txBody>
          <a:bodyPr wrap="square" lIns="0" tIns="0" rIns="0" bIns="0" rtlCol="0" anchor="t"/>
          <a:lstStyle/>
          <a:p>
            <a:pPr indent="0" marL="0">
              <a:buNone/>
            </a:pPr>
            <a:r>
              <a:rPr lang="en-US" sz="3400" b="1" dirty="0">
                <a:solidFill>
                  <a:srgbClr val="12193A"/>
                </a:solidFill>
                <a:latin typeface="Cambria" pitchFamily="34" charset="0"/>
                <a:ea typeface="Cambria" pitchFamily="34" charset="-122"/>
                <a:cs typeface="Cambria" pitchFamily="34" charset="-120"/>
              </a:rPr>
              <a:t>The kernel finds it by measuring, not by being told</a:t>
            </a:r>
            <a:endParaRPr lang="en-US" sz="3400" dirty="0"/>
          </a:p>
        </p:txBody>
      </p:sp>
      <p:pic>
        <p:nvPicPr>
          <p:cNvPr id="4" name="Image 0" descr="/Users/kushalsathyanarayan/Desktop/TRON/docs/figures/convergence.png">    </p:cNvPr>
          <p:cNvPicPr>
            <a:picLocks noChangeAspect="1"/>
          </p:cNvPicPr>
          <p:nvPr/>
        </p:nvPicPr>
        <p:blipFill>
          <a:blip r:embed="rId1"/>
          <a:stretch>
            <a:fillRect/>
          </a:stretch>
        </p:blipFill>
        <p:spPr>
          <a:xfrm>
            <a:off x="4709160" y="1554480"/>
            <a:ext cx="6812280" cy="3017520"/>
          </a:xfrm>
          <a:prstGeom prst="rect">
            <a:avLst/>
          </a:prstGeom>
        </p:spPr>
      </p:pic>
      <p:sp>
        <p:nvSpPr>
          <p:cNvPr id="5" name="Shape 2"/>
          <p:cNvSpPr/>
          <p:nvPr/>
        </p:nvSpPr>
        <p:spPr>
          <a:xfrm>
            <a:off x="640080" y="1691640"/>
            <a:ext cx="384048" cy="384048"/>
          </a:xfrm>
          <a:prstGeom prst="ellipse">
            <a:avLst/>
          </a:prstGeom>
          <a:solidFill>
            <a:srgbClr val="1E2761"/>
          </a:solidFill>
          <a:ln/>
        </p:spPr>
      </p:sp>
      <p:sp>
        <p:nvSpPr>
          <p:cNvPr id="6" name="Text 3"/>
          <p:cNvSpPr txBox="1"/>
          <p:nvPr/>
        </p:nvSpPr>
        <p:spPr>
          <a:xfrm>
            <a:off x="640080"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188720" y="1673352"/>
            <a:ext cx="3108960" cy="310896"/>
          </a:xfrm>
          <a:prstGeom prst="rect">
            <a:avLst/>
          </a:prstGeom>
          <a:noFill/>
          <a:ln/>
        </p:spPr>
        <p:txBody>
          <a:bodyPr wrap="square" lIns="0" tIns="0" rIns="0" bIns="0" rtlCol="0" anchor="t"/>
          <a:lstStyle/>
          <a:p>
            <a:pPr indent="0" marL="0">
              <a:buNone/>
            </a:pPr>
            <a:r>
              <a:rPr lang="en-US" sz="1500" b="1" dirty="0">
                <a:solidFill>
                  <a:srgbClr val="12193A"/>
                </a:solidFill>
                <a:latin typeface="Calibri" pitchFamily="34" charset="0"/>
                <a:ea typeface="Calibri" pitchFamily="34" charset="-122"/>
                <a:cs typeface="Calibri" pitchFamily="34" charset="-120"/>
              </a:rPr>
              <a:t>Calibrate</a:t>
            </a:r>
            <a:endParaRPr lang="en-US" sz="1500" dirty="0"/>
          </a:p>
        </p:txBody>
      </p:sp>
      <p:sp>
        <p:nvSpPr>
          <p:cNvPr id="8" name="Text 5"/>
          <p:cNvSpPr txBox="1"/>
          <p:nvPr/>
        </p:nvSpPr>
        <p:spPr>
          <a:xfrm>
            <a:off x="1188720" y="2002536"/>
            <a:ext cx="3291840" cy="713232"/>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T4 runs both pure precisions on its first two inferences and records what every layer costs</a:t>
            </a:r>
            <a:endParaRPr lang="en-US" sz="1250" dirty="0"/>
          </a:p>
        </p:txBody>
      </p:sp>
      <p:sp>
        <p:nvSpPr>
          <p:cNvPr id="9" name="Shape 6"/>
          <p:cNvSpPr/>
          <p:nvPr/>
        </p:nvSpPr>
        <p:spPr>
          <a:xfrm>
            <a:off x="640080" y="2734056"/>
            <a:ext cx="384048" cy="384048"/>
          </a:xfrm>
          <a:prstGeom prst="ellipse">
            <a:avLst/>
          </a:prstGeom>
          <a:solidFill>
            <a:srgbClr val="1E2761"/>
          </a:solidFill>
          <a:ln/>
        </p:spPr>
      </p:sp>
      <p:sp>
        <p:nvSpPr>
          <p:cNvPr id="10" name="Text 7"/>
          <p:cNvSpPr txBox="1"/>
          <p:nvPr/>
        </p:nvSpPr>
        <p:spPr>
          <a:xfrm>
            <a:off x="640080" y="27340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188720" y="2715768"/>
            <a:ext cx="3108960" cy="310896"/>
          </a:xfrm>
          <a:prstGeom prst="rect">
            <a:avLst/>
          </a:prstGeom>
          <a:noFill/>
          <a:ln/>
        </p:spPr>
        <p:txBody>
          <a:bodyPr wrap="square" lIns="0" tIns="0" rIns="0" bIns="0" rtlCol="0" anchor="t"/>
          <a:lstStyle/>
          <a:p>
            <a:pPr indent="0" marL="0">
              <a:buNone/>
            </a:pPr>
            <a:r>
              <a:rPr lang="en-US" sz="1500" b="1" dirty="0">
                <a:solidFill>
                  <a:srgbClr val="12193A"/>
                </a:solidFill>
                <a:latin typeface="Calibri" pitchFamily="34" charset="0"/>
                <a:ea typeface="Calibri" pitchFamily="34" charset="-122"/>
                <a:cs typeface="Calibri" pitchFamily="34" charset="-120"/>
              </a:rPr>
              <a:t>Rank</a:t>
            </a:r>
            <a:endParaRPr lang="en-US" sz="1500" dirty="0"/>
          </a:p>
        </p:txBody>
      </p:sp>
      <p:sp>
        <p:nvSpPr>
          <p:cNvPr id="12" name="Text 9"/>
          <p:cNvSpPr txBox="1"/>
          <p:nvPr/>
        </p:nvSpPr>
        <p:spPr>
          <a:xfrm>
            <a:off x="1188720" y="3044952"/>
            <a:ext cx="3291840" cy="713232"/>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T5 ranks layers by that measured delta, never by index</a:t>
            </a:r>
            <a:endParaRPr lang="en-US" sz="1250" dirty="0"/>
          </a:p>
        </p:txBody>
      </p:sp>
      <p:sp>
        <p:nvSpPr>
          <p:cNvPr id="13" name="Shape 10"/>
          <p:cNvSpPr/>
          <p:nvPr/>
        </p:nvSpPr>
        <p:spPr>
          <a:xfrm>
            <a:off x="640080" y="3776472"/>
            <a:ext cx="384048" cy="384048"/>
          </a:xfrm>
          <a:prstGeom prst="ellipse">
            <a:avLst/>
          </a:prstGeom>
          <a:solidFill>
            <a:srgbClr val="1E2761"/>
          </a:solidFill>
          <a:ln/>
        </p:spPr>
      </p:sp>
      <p:sp>
        <p:nvSpPr>
          <p:cNvPr id="14" name="Text 11"/>
          <p:cNvSpPr txBox="1"/>
          <p:nvPr/>
        </p:nvSpPr>
        <p:spPr>
          <a:xfrm>
            <a:off x="640080" y="3776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188720" y="3758184"/>
            <a:ext cx="3108960" cy="310896"/>
          </a:xfrm>
          <a:prstGeom prst="rect">
            <a:avLst/>
          </a:prstGeom>
          <a:noFill/>
          <a:ln/>
        </p:spPr>
        <p:txBody>
          <a:bodyPr wrap="square" lIns="0" tIns="0" rIns="0" bIns="0" rtlCol="0" anchor="t"/>
          <a:lstStyle/>
          <a:p>
            <a:pPr indent="0" marL="0">
              <a:buNone/>
            </a:pPr>
            <a:r>
              <a:rPr lang="en-US" sz="1500" b="1" dirty="0">
                <a:solidFill>
                  <a:srgbClr val="12193A"/>
                </a:solidFill>
                <a:latin typeface="Calibri" pitchFamily="34" charset="0"/>
                <a:ea typeface="Calibri" pitchFamily="34" charset="-122"/>
                <a:cs typeface="Calibri" pitchFamily="34" charset="-120"/>
              </a:rPr>
              <a:t>Hill climb</a:t>
            </a:r>
            <a:endParaRPr lang="en-US" sz="1500" dirty="0"/>
          </a:p>
        </p:txBody>
      </p:sp>
      <p:sp>
        <p:nvSpPr>
          <p:cNvPr id="16" name="Text 13"/>
          <p:cNvSpPr txBox="1"/>
          <p:nvPr/>
        </p:nvSpPr>
        <p:spPr>
          <a:xfrm>
            <a:off x="1188720" y="4087368"/>
            <a:ext cx="3291840" cy="713232"/>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every accepted move strictly reduces cost, so the walk cannot cycle</a:t>
            </a:r>
            <a:endParaRPr lang="en-US" sz="1250" dirty="0"/>
          </a:p>
        </p:txBody>
      </p:sp>
      <p:sp>
        <p:nvSpPr>
          <p:cNvPr id="17" name="Shape 14"/>
          <p:cNvSpPr/>
          <p:nvPr/>
        </p:nvSpPr>
        <p:spPr>
          <a:xfrm>
            <a:off x="640080" y="4892040"/>
            <a:ext cx="10881360" cy="1298448"/>
          </a:xfrm>
          <a:prstGeom prst="roundRect">
            <a:avLst>
              <a:gd name="adj" fmla="val 7042"/>
            </a:avLst>
          </a:prstGeom>
          <a:solidFill>
            <a:srgbClr val="1E2761"/>
          </a:solidFill>
          <a:ln/>
        </p:spPr>
      </p:sp>
      <p:sp>
        <p:nvSpPr>
          <p:cNvPr id="18" name="Text 15"/>
          <p:cNvSpPr txBox="1"/>
          <p:nvPr/>
        </p:nvSpPr>
        <p:spPr>
          <a:xfrm>
            <a:off x="960120" y="5120640"/>
            <a:ext cx="10241280" cy="365760"/>
          </a:xfrm>
          <a:prstGeom prst="rect">
            <a:avLst/>
          </a:prstGeom>
          <a:noFill/>
          <a:ln/>
        </p:spPr>
        <p:txBody>
          <a:bodyPr wrap="square" lIns="0" tIns="0" rIns="0" bIns="0" rtlCol="0" anchor="t"/>
          <a:lstStyle/>
          <a:p>
            <a:pPr indent="0" marL="0">
              <a:buNone/>
            </a:pPr>
            <a:r>
              <a:rPr lang="en-US" sz="1500" b="1" dirty="0">
                <a:solidFill>
                  <a:srgbClr val="F6AE2D"/>
                </a:solidFill>
                <a:latin typeface="Calibri" pitchFamily="34" charset="0"/>
                <a:ea typeface="Calibri" pitchFamily="34" charset="-122"/>
                <a:cs typeface="Calibri" pitchFamily="34" charset="-120"/>
              </a:rPr>
              <a:t>6 demotions</a:t>
            </a:r>
            <a:pPr indent="0" marL="0">
              <a:buNone/>
            </a:pPr>
            <a:r>
              <a:rPr lang="en-US" sz="1500" dirty="0">
                <a:solidFill>
                  <a:srgbClr val="CADCFC"/>
                </a:solidFill>
                <a:latin typeface="Calibri" pitchFamily="34" charset="0"/>
                <a:ea typeface="Calibri" pitchFamily="34" charset="-122"/>
                <a:cs typeface="Calibri" pitchFamily="34" charset="-120"/>
              </a:rPr>
              <a:t> from all FP32      </a:t>
            </a:r>
            <a:pPr indent="0" marL="0">
              <a:buNone/>
            </a:pPr>
            <a:r>
              <a:rPr lang="en-US" sz="1500" b="1" dirty="0">
                <a:solidFill>
                  <a:srgbClr val="F6AE2D"/>
                </a:solidFill>
                <a:latin typeface="Calibri" pitchFamily="34" charset="0"/>
                <a:ea typeface="Calibri" pitchFamily="34" charset="-122"/>
                <a:cs typeface="Calibri" pitchFamily="34" charset="-120"/>
              </a:rPr>
              <a:t>4 promotions</a:t>
            </a:r>
            <a:pPr indent="0" marL="0">
              <a:buNone/>
            </a:pPr>
            <a:r>
              <a:rPr lang="en-US" sz="1500" dirty="0">
                <a:solidFill>
                  <a:srgbClr val="CADCFC"/>
                </a:solidFill>
                <a:latin typeface="Calibri" pitchFamily="34" charset="0"/>
                <a:ea typeface="Calibri" pitchFamily="34" charset="-122"/>
                <a:cs typeface="Calibri" pitchFamily="34" charset="-120"/>
              </a:rPr>
              <a:t> restarting from all INT8      </a:t>
            </a:r>
            <a:pPr indent="0" marL="0">
              <a:buNone/>
            </a:pPr>
            <a:r>
              <a:rPr lang="en-US" sz="1500" b="1" dirty="0">
                <a:solidFill>
                  <a:srgbClr val="FFFFFF"/>
                </a:solidFill>
                <a:latin typeface="Calibri" pitchFamily="34" charset="0"/>
                <a:ea typeface="Calibri" pitchFamily="34" charset="-122"/>
                <a:cs typeface="Calibri" pitchFamily="34" charset="-120"/>
              </a:rPr>
              <a:t>same mask both times</a:t>
            </a:r>
            <a:endParaRPr lang="en-US" sz="1500" dirty="0"/>
          </a:p>
        </p:txBody>
      </p:sp>
      <p:sp>
        <p:nvSpPr>
          <p:cNvPr id="19" name="Text 16"/>
          <p:cNvSpPr txBox="1"/>
          <p:nvPr/>
        </p:nvSpPr>
        <p:spPr>
          <a:xfrm>
            <a:off x="960120" y="5559552"/>
            <a:ext cx="10241280" cy="365760"/>
          </a:xfrm>
          <a:prstGeom prst="rect">
            <a:avLst/>
          </a:prstGeom>
          <a:noFill/>
          <a:ln/>
        </p:spPr>
        <p:txBody>
          <a:bodyPr wrap="square" lIns="0" tIns="0" rIns="0" bIns="0" rtlCol="0" anchor="t"/>
          <a:lstStyle/>
          <a:p>
            <a:pPr indent="0" marL="0">
              <a:buNone/>
            </a:pPr>
            <a:r>
              <a:rPr lang="en-US" sz="1300" i="1" dirty="0">
                <a:solidFill>
                  <a:srgbClr val="CADCFC"/>
                </a:solidFill>
                <a:latin typeface="Calibri" pitchFamily="34" charset="0"/>
                <a:ea typeface="Calibri" pitchFamily="34" charset="-122"/>
                <a:cs typeface="Calibri" pitchFamily="34" charset="-120"/>
              </a:rPr>
              <a:t>Converging to the same point from both extremes makes it a property of the silicon, not of where the search began.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t"/>
          <a:lstStyle/>
          <a:p>
            <a:pPr indent="0" marL="0">
              <a:buNone/>
            </a:pPr>
            <a:r>
              <a:rPr lang="en-US" sz="1200" b="1" spc="140" kern="0" dirty="0">
                <a:solidFill>
                  <a:srgbClr val="F6AE2D"/>
                </a:solidFill>
                <a:latin typeface="Calibri" pitchFamily="34" charset="0"/>
                <a:ea typeface="Calibri" pitchFamily="34" charset="-122"/>
                <a:cs typeface="Calibri" pitchFamily="34" charset="-120"/>
              </a:rPr>
              <a:t>METHOD</a:t>
            </a:r>
            <a:endParaRPr lang="en-US" sz="1200" dirty="0"/>
          </a:p>
        </p:txBody>
      </p:sp>
      <p:sp>
        <p:nvSpPr>
          <p:cNvPr id="3" name="Text 1"/>
          <p:cNvSpPr txBox="1"/>
          <p:nvPr/>
        </p:nvSpPr>
        <p:spPr>
          <a:xfrm>
            <a:off x="640080" y="658368"/>
            <a:ext cx="10881360" cy="713232"/>
          </a:xfrm>
          <a:prstGeom prst="rect">
            <a:avLst/>
          </a:prstGeom>
          <a:noFill/>
          <a:ln/>
        </p:spPr>
        <p:txBody>
          <a:bodyPr wrap="square" lIns="0" tIns="0" rIns="0" bIns="0" rtlCol="0" anchor="t"/>
          <a:lstStyle/>
          <a:p>
            <a:pPr indent="0" marL="0">
              <a:buNone/>
            </a:pPr>
            <a:r>
              <a:rPr lang="en-US" sz="3400" b="1" dirty="0">
                <a:solidFill>
                  <a:srgbClr val="12193A"/>
                </a:solidFill>
                <a:latin typeface="Cambria" pitchFamily="34" charset="0"/>
                <a:ea typeface="Cambria" pitchFamily="34" charset="-122"/>
                <a:cs typeface="Cambria" pitchFamily="34" charset="-120"/>
              </a:rPr>
              <a:t>What the measurements refuted</a:t>
            </a:r>
            <a:endParaRPr lang="en-US" sz="3400" dirty="0"/>
          </a:p>
        </p:txBody>
      </p:sp>
      <p:sp>
        <p:nvSpPr>
          <p:cNvPr id="4" name="Shape 2"/>
          <p:cNvSpPr/>
          <p:nvPr/>
        </p:nvSpPr>
        <p:spPr>
          <a:xfrm>
            <a:off x="640080" y="1965960"/>
            <a:ext cx="2084832" cy="1965960"/>
          </a:xfrm>
          <a:prstGeom prst="roundRect">
            <a:avLst>
              <a:gd name="adj" fmla="val 4651"/>
            </a:avLst>
          </a:prstGeom>
          <a:solidFill>
            <a:srgbClr val="F4F7FC"/>
          </a:solidFill>
          <a:ln/>
        </p:spPr>
      </p:sp>
      <p:sp>
        <p:nvSpPr>
          <p:cNvPr id="5" name="Text 3"/>
          <p:cNvSpPr txBox="1"/>
          <p:nvPr/>
        </p:nvSpPr>
        <p:spPr>
          <a:xfrm>
            <a:off x="859536" y="2203704"/>
            <a:ext cx="1645920" cy="329184"/>
          </a:xfrm>
          <a:prstGeom prst="rect">
            <a:avLst/>
          </a:prstGeom>
          <a:noFill/>
          <a:ln/>
        </p:spPr>
        <p:txBody>
          <a:bodyPr wrap="square" lIns="0" tIns="0" rIns="0" bIns="0" rtlCol="0" anchor="t"/>
          <a:lstStyle/>
          <a:p>
            <a:pPr indent="0" marL="0">
              <a:buNone/>
            </a:pPr>
            <a:r>
              <a:rPr lang="en-US" sz="1400" b="1" dirty="0">
                <a:solidFill>
                  <a:srgbClr val="12193A"/>
                </a:solidFill>
                <a:latin typeface="Calibri" pitchFamily="34" charset="0"/>
                <a:ea typeface="Calibri" pitchFamily="34" charset="-122"/>
                <a:cs typeface="Calibri" pitchFamily="34" charset="-120"/>
              </a:rPr>
              <a:t>Predicted</a:t>
            </a:r>
            <a:endParaRPr lang="en-US" sz="1400" dirty="0"/>
          </a:p>
        </p:txBody>
      </p:sp>
      <p:sp>
        <p:nvSpPr>
          <p:cNvPr id="6" name="Text 4"/>
          <p:cNvSpPr txBox="1"/>
          <p:nvPr/>
        </p:nvSpPr>
        <p:spPr>
          <a:xfrm>
            <a:off x="859536" y="2624328"/>
            <a:ext cx="1645920" cy="1234440"/>
          </a:xfrm>
          <a:prstGeom prst="rect">
            <a:avLst/>
          </a:prstGeom>
          <a:noFill/>
          <a:ln/>
        </p:spPr>
        <p:txBody>
          <a:bodyPr wrap="square" lIns="0" tIns="0" rIns="0" bIns="0" rtlCol="0" anchor="t"/>
          <a:lstStyle/>
          <a:p>
            <a:pPr indent="0" marL="0">
              <a:lnSpc>
                <a:spcPct val="118000"/>
              </a:lnSpc>
              <a:buNone/>
            </a:pPr>
            <a:r>
              <a:rPr lang="en-US" sz="1150" dirty="0">
                <a:solidFill>
                  <a:srgbClr val="5A6B8C"/>
                </a:solidFill>
                <a:latin typeface="Calibri" pitchFamily="34" charset="0"/>
                <a:ea typeface="Calibri" pitchFamily="34" charset="-122"/>
                <a:cs typeface="Calibri" pitchFamily="34" charset="-120"/>
              </a:rPr>
              <a:t>INT8 is 3 to 4 times faster, from an ALU cycle count argument</a:t>
            </a:r>
            <a:endParaRPr lang="en-US" sz="1150" dirty="0"/>
          </a:p>
        </p:txBody>
      </p:sp>
      <p:sp>
        <p:nvSpPr>
          <p:cNvPr id="7" name="Shape 5"/>
          <p:cNvSpPr/>
          <p:nvPr/>
        </p:nvSpPr>
        <p:spPr>
          <a:xfrm>
            <a:off x="2734056" y="2866644"/>
            <a:ext cx="155448" cy="164592"/>
          </a:xfrm>
          <a:prstGeom prst="rightArrow">
            <a:avLst/>
          </a:prstGeom>
          <a:solidFill>
            <a:srgbClr val="8FA2C4"/>
          </a:solidFill>
          <a:ln/>
        </p:spPr>
      </p:sp>
      <p:sp>
        <p:nvSpPr>
          <p:cNvPr id="8" name="Shape 6"/>
          <p:cNvSpPr/>
          <p:nvPr/>
        </p:nvSpPr>
        <p:spPr>
          <a:xfrm>
            <a:off x="2898648" y="1965960"/>
            <a:ext cx="2084832" cy="1965960"/>
          </a:xfrm>
          <a:prstGeom prst="roundRect">
            <a:avLst>
              <a:gd name="adj" fmla="val 4651"/>
            </a:avLst>
          </a:prstGeom>
          <a:solidFill>
            <a:srgbClr val="FBE8E6"/>
          </a:solidFill>
          <a:ln/>
        </p:spPr>
      </p:sp>
      <p:sp>
        <p:nvSpPr>
          <p:cNvPr id="9" name="Text 7"/>
          <p:cNvSpPr txBox="1"/>
          <p:nvPr/>
        </p:nvSpPr>
        <p:spPr>
          <a:xfrm>
            <a:off x="3118104" y="2203704"/>
            <a:ext cx="1645920" cy="329184"/>
          </a:xfrm>
          <a:prstGeom prst="rect">
            <a:avLst/>
          </a:prstGeom>
          <a:noFill/>
          <a:ln/>
        </p:spPr>
        <p:txBody>
          <a:bodyPr wrap="square" lIns="0" tIns="0" rIns="0" bIns="0" rtlCol="0" anchor="t"/>
          <a:lstStyle/>
          <a:p>
            <a:pPr indent="0" marL="0">
              <a:buNone/>
            </a:pPr>
            <a:r>
              <a:rPr lang="en-US" sz="1400" b="1" dirty="0">
                <a:solidFill>
                  <a:srgbClr val="C0392B"/>
                </a:solidFill>
                <a:latin typeface="Calibri" pitchFamily="34" charset="0"/>
                <a:ea typeface="Calibri" pitchFamily="34" charset="-122"/>
                <a:cs typeface="Calibri" pitchFamily="34" charset="-120"/>
              </a:rPr>
              <a:t>Measured</a:t>
            </a:r>
            <a:endParaRPr lang="en-US" sz="1400" dirty="0"/>
          </a:p>
        </p:txBody>
      </p:sp>
      <p:sp>
        <p:nvSpPr>
          <p:cNvPr id="10" name="Text 8"/>
          <p:cNvSpPr txBox="1"/>
          <p:nvPr/>
        </p:nvSpPr>
        <p:spPr>
          <a:xfrm>
            <a:off x="3118104" y="2624328"/>
            <a:ext cx="1645920" cy="1234440"/>
          </a:xfrm>
          <a:prstGeom prst="rect">
            <a:avLst/>
          </a:prstGeom>
          <a:noFill/>
          <a:ln/>
        </p:spPr>
        <p:txBody>
          <a:bodyPr wrap="square" lIns="0" tIns="0" rIns="0" bIns="0" rtlCol="0" anchor="t"/>
          <a:lstStyle/>
          <a:p>
            <a:pPr indent="0" marL="0">
              <a:lnSpc>
                <a:spcPct val="118000"/>
              </a:lnSpc>
              <a:buNone/>
            </a:pPr>
            <a:r>
              <a:rPr lang="en-US" sz="1150" dirty="0">
                <a:solidFill>
                  <a:srgbClr val="8A3B32"/>
                </a:solidFill>
                <a:latin typeface="Calibri" pitchFamily="34" charset="0"/>
                <a:ea typeface="Calibri" pitchFamily="34" charset="-122"/>
                <a:cs typeface="Calibri" pitchFamily="34" charset="-120"/>
              </a:rPr>
              <a:t>28 percent SLOWER on the first hardware run</a:t>
            </a:r>
            <a:endParaRPr lang="en-US" sz="1150" dirty="0"/>
          </a:p>
        </p:txBody>
      </p:sp>
      <p:sp>
        <p:nvSpPr>
          <p:cNvPr id="11" name="Shape 9"/>
          <p:cNvSpPr/>
          <p:nvPr/>
        </p:nvSpPr>
        <p:spPr>
          <a:xfrm>
            <a:off x="4992624" y="2866644"/>
            <a:ext cx="155448" cy="164592"/>
          </a:xfrm>
          <a:prstGeom prst="rightArrow">
            <a:avLst/>
          </a:prstGeom>
          <a:solidFill>
            <a:srgbClr val="8FA2C4"/>
          </a:solidFill>
          <a:ln/>
        </p:spPr>
      </p:sp>
      <p:sp>
        <p:nvSpPr>
          <p:cNvPr id="12" name="Shape 10"/>
          <p:cNvSpPr/>
          <p:nvPr/>
        </p:nvSpPr>
        <p:spPr>
          <a:xfrm>
            <a:off x="5157216" y="1965960"/>
            <a:ext cx="2084832" cy="1965960"/>
          </a:xfrm>
          <a:prstGeom prst="roundRect">
            <a:avLst>
              <a:gd name="adj" fmla="val 4651"/>
            </a:avLst>
          </a:prstGeom>
          <a:solidFill>
            <a:srgbClr val="F4F7FC"/>
          </a:solidFill>
          <a:ln/>
        </p:spPr>
      </p:sp>
      <p:sp>
        <p:nvSpPr>
          <p:cNvPr id="13" name="Text 11"/>
          <p:cNvSpPr txBox="1"/>
          <p:nvPr/>
        </p:nvSpPr>
        <p:spPr>
          <a:xfrm>
            <a:off x="5376672" y="2203704"/>
            <a:ext cx="1645920" cy="329184"/>
          </a:xfrm>
          <a:prstGeom prst="rect">
            <a:avLst/>
          </a:prstGeom>
          <a:noFill/>
          <a:ln/>
        </p:spPr>
        <p:txBody>
          <a:bodyPr wrap="square" lIns="0" tIns="0" rIns="0" bIns="0" rtlCol="0" anchor="t"/>
          <a:lstStyle/>
          <a:p>
            <a:pPr indent="0" marL="0">
              <a:buNone/>
            </a:pPr>
            <a:r>
              <a:rPr lang="en-US" sz="1400" b="1" dirty="0">
                <a:solidFill>
                  <a:srgbClr val="12193A"/>
                </a:solidFill>
                <a:latin typeface="Calibri" pitchFamily="34" charset="0"/>
                <a:ea typeface="Calibri" pitchFamily="34" charset="-122"/>
                <a:cs typeface="Calibri" pitchFamily="34" charset="-120"/>
              </a:rPr>
              <a:t>Diagnosed</a:t>
            </a:r>
            <a:endParaRPr lang="en-US" sz="1400" dirty="0"/>
          </a:p>
        </p:txBody>
      </p:sp>
      <p:sp>
        <p:nvSpPr>
          <p:cNvPr id="14" name="Text 12"/>
          <p:cNvSpPr txBox="1"/>
          <p:nvPr/>
        </p:nvSpPr>
        <p:spPr>
          <a:xfrm>
            <a:off x="5376672" y="2624328"/>
            <a:ext cx="1645920" cy="1234440"/>
          </a:xfrm>
          <a:prstGeom prst="rect">
            <a:avLst/>
          </a:prstGeom>
          <a:noFill/>
          <a:ln/>
        </p:spPr>
        <p:txBody>
          <a:bodyPr wrap="square" lIns="0" tIns="0" rIns="0" bIns="0" rtlCol="0" anchor="t"/>
          <a:lstStyle/>
          <a:p>
            <a:pPr indent="0" marL="0">
              <a:lnSpc>
                <a:spcPct val="118000"/>
              </a:lnSpc>
              <a:buNone/>
            </a:pPr>
            <a:r>
              <a:rPr lang="en-US" sz="1150" dirty="0">
                <a:solidFill>
                  <a:srgbClr val="5A6B8C"/>
                </a:solidFill>
                <a:latin typeface="Calibri" pitchFamily="34" charset="0"/>
                <a:ea typeface="Calibri" pitchFamily="34" charset="-122"/>
                <a:cs typeface="Calibri" pitchFamily="34" charset="-120"/>
              </a:rPr>
              <a:t>scalar INT8 pays a per element offset add and a 64 bit requantisation while FP32 rides the FPU</a:t>
            </a:r>
            <a:endParaRPr lang="en-US" sz="1150" dirty="0"/>
          </a:p>
        </p:txBody>
      </p:sp>
      <p:sp>
        <p:nvSpPr>
          <p:cNvPr id="15" name="Shape 13"/>
          <p:cNvSpPr/>
          <p:nvPr/>
        </p:nvSpPr>
        <p:spPr>
          <a:xfrm>
            <a:off x="7251192" y="2866644"/>
            <a:ext cx="155448" cy="164592"/>
          </a:xfrm>
          <a:prstGeom prst="rightArrow">
            <a:avLst/>
          </a:prstGeom>
          <a:solidFill>
            <a:srgbClr val="8FA2C4"/>
          </a:solidFill>
          <a:ln/>
        </p:spPr>
      </p:sp>
      <p:sp>
        <p:nvSpPr>
          <p:cNvPr id="16" name="Shape 14"/>
          <p:cNvSpPr/>
          <p:nvPr/>
        </p:nvSpPr>
        <p:spPr>
          <a:xfrm>
            <a:off x="7415784" y="1965960"/>
            <a:ext cx="2084832" cy="1965960"/>
          </a:xfrm>
          <a:prstGeom prst="roundRect">
            <a:avLst>
              <a:gd name="adj" fmla="val 4651"/>
            </a:avLst>
          </a:prstGeom>
          <a:solidFill>
            <a:srgbClr val="F4F7FC"/>
          </a:solidFill>
          <a:ln/>
        </p:spPr>
      </p:sp>
      <p:sp>
        <p:nvSpPr>
          <p:cNvPr id="17" name="Text 15"/>
          <p:cNvSpPr txBox="1"/>
          <p:nvPr/>
        </p:nvSpPr>
        <p:spPr>
          <a:xfrm>
            <a:off x="7635240" y="2203704"/>
            <a:ext cx="1645920" cy="329184"/>
          </a:xfrm>
          <a:prstGeom prst="rect">
            <a:avLst/>
          </a:prstGeom>
          <a:noFill/>
          <a:ln/>
        </p:spPr>
        <p:txBody>
          <a:bodyPr wrap="square" lIns="0" tIns="0" rIns="0" bIns="0" rtlCol="0" anchor="t"/>
          <a:lstStyle/>
          <a:p>
            <a:pPr indent="0" marL="0">
              <a:buNone/>
            </a:pPr>
            <a:r>
              <a:rPr lang="en-US" sz="1400" b="1" dirty="0">
                <a:solidFill>
                  <a:srgbClr val="12193A"/>
                </a:solidFill>
                <a:latin typeface="Calibri" pitchFamily="34" charset="0"/>
                <a:ea typeface="Calibri" pitchFamily="34" charset="-122"/>
                <a:cs typeface="Calibri" pitchFamily="34" charset="-120"/>
              </a:rPr>
              <a:t>Rewritten</a:t>
            </a:r>
            <a:endParaRPr lang="en-US" sz="1400" dirty="0"/>
          </a:p>
        </p:txBody>
      </p:sp>
      <p:sp>
        <p:nvSpPr>
          <p:cNvPr id="18" name="Text 16"/>
          <p:cNvSpPr txBox="1"/>
          <p:nvPr/>
        </p:nvSpPr>
        <p:spPr>
          <a:xfrm>
            <a:off x="7635240" y="2624328"/>
            <a:ext cx="1645920" cy="1234440"/>
          </a:xfrm>
          <a:prstGeom prst="rect">
            <a:avLst/>
          </a:prstGeom>
          <a:noFill/>
          <a:ln/>
        </p:spPr>
        <p:txBody>
          <a:bodyPr wrap="square" lIns="0" tIns="0" rIns="0" bIns="0" rtlCol="0" anchor="t"/>
          <a:lstStyle/>
          <a:p>
            <a:pPr indent="0" marL="0">
              <a:lnSpc>
                <a:spcPct val="118000"/>
              </a:lnSpc>
              <a:buNone/>
            </a:pPr>
            <a:r>
              <a:rPr lang="en-US" sz="1150" dirty="0">
                <a:solidFill>
                  <a:srgbClr val="5A6B8C"/>
                </a:solidFill>
                <a:latin typeface="Calibri" pitchFamily="34" charset="0"/>
                <a:ea typeface="Calibri" pitchFamily="34" charset="-122"/>
                <a:cs typeface="Calibri" pitchFamily="34" charset="-120"/>
              </a:rPr>
              <a:t>folded offsets, packed SXTB16 and SMLAD, bit identical against the golden reference</a:t>
            </a:r>
            <a:endParaRPr lang="en-US" sz="1150" dirty="0"/>
          </a:p>
        </p:txBody>
      </p:sp>
      <p:sp>
        <p:nvSpPr>
          <p:cNvPr id="19" name="Shape 17"/>
          <p:cNvSpPr/>
          <p:nvPr/>
        </p:nvSpPr>
        <p:spPr>
          <a:xfrm>
            <a:off x="9509760" y="2866644"/>
            <a:ext cx="155448" cy="164592"/>
          </a:xfrm>
          <a:prstGeom prst="rightArrow">
            <a:avLst/>
          </a:prstGeom>
          <a:solidFill>
            <a:srgbClr val="8FA2C4"/>
          </a:solidFill>
          <a:ln/>
        </p:spPr>
      </p:sp>
      <p:sp>
        <p:nvSpPr>
          <p:cNvPr id="20" name="Shape 18"/>
          <p:cNvSpPr/>
          <p:nvPr/>
        </p:nvSpPr>
        <p:spPr>
          <a:xfrm>
            <a:off x="9674352" y="1965960"/>
            <a:ext cx="2084832" cy="1965960"/>
          </a:xfrm>
          <a:prstGeom prst="roundRect">
            <a:avLst>
              <a:gd name="adj" fmla="val 4651"/>
            </a:avLst>
          </a:prstGeom>
          <a:solidFill>
            <a:srgbClr val="FDF0D5"/>
          </a:solidFill>
          <a:ln/>
        </p:spPr>
      </p:sp>
      <p:sp>
        <p:nvSpPr>
          <p:cNvPr id="21" name="Text 19"/>
          <p:cNvSpPr txBox="1"/>
          <p:nvPr/>
        </p:nvSpPr>
        <p:spPr>
          <a:xfrm>
            <a:off x="9893808" y="2203704"/>
            <a:ext cx="1645920" cy="329184"/>
          </a:xfrm>
          <a:prstGeom prst="rect">
            <a:avLst/>
          </a:prstGeom>
          <a:noFill/>
          <a:ln/>
        </p:spPr>
        <p:txBody>
          <a:bodyPr wrap="square" lIns="0" tIns="0" rIns="0" bIns="0" rtlCol="0" anchor="t"/>
          <a:lstStyle/>
          <a:p>
            <a:pPr indent="0" marL="0">
              <a:buNone/>
            </a:pPr>
            <a:r>
              <a:rPr lang="en-US" sz="1400" b="1" dirty="0">
                <a:solidFill>
                  <a:srgbClr val="8A6100"/>
                </a:solidFill>
                <a:latin typeface="Calibri" pitchFamily="34" charset="0"/>
                <a:ea typeface="Calibri" pitchFamily="34" charset="-122"/>
                <a:cs typeface="Calibri" pitchFamily="34" charset="-120"/>
              </a:rPr>
              <a:t>Result</a:t>
            </a:r>
            <a:endParaRPr lang="en-US" sz="1400" dirty="0"/>
          </a:p>
        </p:txBody>
      </p:sp>
      <p:sp>
        <p:nvSpPr>
          <p:cNvPr id="22" name="Text 20"/>
          <p:cNvSpPr txBox="1"/>
          <p:nvPr/>
        </p:nvSpPr>
        <p:spPr>
          <a:xfrm>
            <a:off x="9893808" y="2624328"/>
            <a:ext cx="1645920" cy="1234440"/>
          </a:xfrm>
          <a:prstGeom prst="rect">
            <a:avLst/>
          </a:prstGeom>
          <a:noFill/>
          <a:ln/>
        </p:spPr>
        <p:txBody>
          <a:bodyPr wrap="square" lIns="0" tIns="0" rIns="0" bIns="0" rtlCol="0" anchor="t"/>
          <a:lstStyle/>
          <a:p>
            <a:pPr indent="0" marL="0">
              <a:lnSpc>
                <a:spcPct val="118000"/>
              </a:lnSpc>
              <a:buNone/>
            </a:pPr>
            <a:r>
              <a:rPr lang="en-US" sz="1150" dirty="0">
                <a:solidFill>
                  <a:srgbClr val="6B4E0A"/>
                </a:solidFill>
                <a:latin typeface="Calibri" pitchFamily="34" charset="0"/>
                <a:ea typeface="Calibri" pitchFamily="34" charset="-122"/>
                <a:cs typeface="Calibri" pitchFamily="34" charset="-120"/>
              </a:rPr>
              <a:t>1.22 times faster, and the depthwise asymmetry that makes the whole contribution visible</a:t>
            </a:r>
            <a:endParaRPr lang="en-US" sz="1150" dirty="0"/>
          </a:p>
        </p:txBody>
      </p:sp>
      <p:sp>
        <p:nvSpPr>
          <p:cNvPr id="23" name="Shape 21"/>
          <p:cNvSpPr/>
          <p:nvPr/>
        </p:nvSpPr>
        <p:spPr>
          <a:xfrm>
            <a:off x="640080" y="4434840"/>
            <a:ext cx="10881360" cy="1481328"/>
          </a:xfrm>
          <a:prstGeom prst="roundRect">
            <a:avLst>
              <a:gd name="adj" fmla="val 6173"/>
            </a:avLst>
          </a:prstGeom>
          <a:solidFill>
            <a:srgbClr val="1E2761"/>
          </a:solidFill>
          <a:ln/>
        </p:spPr>
      </p:sp>
      <p:sp>
        <p:nvSpPr>
          <p:cNvPr id="24" name="Text 22"/>
          <p:cNvSpPr txBox="1"/>
          <p:nvPr/>
        </p:nvSpPr>
        <p:spPr>
          <a:xfrm>
            <a:off x="960120" y="4718304"/>
            <a:ext cx="10241280" cy="420624"/>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refutation is what produced the real result.</a:t>
            </a:r>
            <a:endParaRPr lang="en-US" sz="2000" dirty="0"/>
          </a:p>
        </p:txBody>
      </p:sp>
      <p:sp>
        <p:nvSpPr>
          <p:cNvPr id="25" name="Text 23"/>
          <p:cNvSpPr txBox="1"/>
          <p:nvPr/>
        </p:nvSpPr>
        <p:spPr>
          <a:xfrm>
            <a:off x="960120" y="5248656"/>
            <a:ext cx="10241280" cy="45720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Also corrected: this part has no SMPS, so the power measurement point is the IDD jumper, not an SMPS as the program plan stated.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t"/>
          <a:lstStyle/>
          <a:p>
            <a:pPr indent="0" marL="0">
              <a:buNone/>
            </a:pPr>
            <a:r>
              <a:rPr lang="en-US" sz="1200" b="1" spc="140" kern="0" dirty="0">
                <a:solidFill>
                  <a:srgbClr val="F6AE2D"/>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640080" y="658368"/>
            <a:ext cx="10881360" cy="713232"/>
          </a:xfrm>
          <a:prstGeom prst="rect">
            <a:avLst/>
          </a:prstGeom>
          <a:noFill/>
          <a:ln/>
        </p:spPr>
        <p:txBody>
          <a:bodyPr wrap="square" lIns="0" tIns="0" rIns="0" bIns="0" rtlCol="0" anchor="t"/>
          <a:lstStyle/>
          <a:p>
            <a:pPr indent="0" marL="0">
              <a:buNone/>
            </a:pPr>
            <a:r>
              <a:rPr lang="en-US" sz="3400" b="1" dirty="0">
                <a:solidFill>
                  <a:srgbClr val="12193A"/>
                </a:solidFill>
                <a:latin typeface="Cambria" pitchFamily="34" charset="0"/>
                <a:ea typeface="Cambria" pitchFamily="34" charset="-122"/>
                <a:cs typeface="Cambria" pitchFamily="34" charset="-120"/>
              </a:rPr>
              <a:t>The three characteristics the contest rewards</a:t>
            </a:r>
            <a:endParaRPr lang="en-US" sz="3400" dirty="0"/>
          </a:p>
        </p:txBody>
      </p:sp>
      <p:sp>
        <p:nvSpPr>
          <p:cNvPr id="4" name="Shape 2"/>
          <p:cNvSpPr/>
          <p:nvPr/>
        </p:nvSpPr>
        <p:spPr>
          <a:xfrm>
            <a:off x="640080" y="1737360"/>
            <a:ext cx="3456432" cy="4041648"/>
          </a:xfrm>
          <a:prstGeom prst="roundRect">
            <a:avLst>
              <a:gd name="adj" fmla="val 2646"/>
            </a:avLst>
          </a:prstGeom>
          <a:solidFill>
            <a:srgbClr val="F4F7FC"/>
          </a:solidFill>
          <a:ln/>
        </p:spPr>
      </p:sp>
      <p:sp>
        <p:nvSpPr>
          <p:cNvPr id="5" name="Shape 3"/>
          <p:cNvSpPr/>
          <p:nvPr/>
        </p:nvSpPr>
        <p:spPr>
          <a:xfrm>
            <a:off x="914400" y="2048256"/>
            <a:ext cx="384048" cy="384048"/>
          </a:xfrm>
          <a:prstGeom prst="ellipse">
            <a:avLst/>
          </a:prstGeom>
          <a:solidFill>
            <a:srgbClr val="1E2761"/>
          </a:solidFill>
          <a:ln/>
        </p:spPr>
      </p:sp>
      <p:sp>
        <p:nvSpPr>
          <p:cNvPr id="6" name="Text 4"/>
          <p:cNvSpPr txBox="1"/>
          <p:nvPr/>
        </p:nvSpPr>
        <p:spPr>
          <a:xfrm>
            <a:off x="914400" y="20482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444752" y="2084832"/>
            <a:ext cx="2404872" cy="365760"/>
          </a:xfrm>
          <a:prstGeom prst="rect">
            <a:avLst/>
          </a:prstGeom>
          <a:noFill/>
          <a:ln/>
        </p:spPr>
        <p:txBody>
          <a:bodyPr wrap="square" lIns="0" tIns="0" rIns="0" bIns="0" rtlCol="0" anchor="t"/>
          <a:lstStyle/>
          <a:p>
            <a:pPr indent="0" marL="0">
              <a:buNone/>
            </a:pPr>
            <a:r>
              <a:rPr lang="en-US" sz="1900" b="1" dirty="0">
                <a:solidFill>
                  <a:srgbClr val="12193A"/>
                </a:solidFill>
                <a:latin typeface="Cambria" pitchFamily="34" charset="0"/>
                <a:ea typeface="Cambria" pitchFamily="34" charset="-122"/>
                <a:cs typeface="Cambria" pitchFamily="34" charset="-120"/>
              </a:rPr>
              <a:t>Real time</a:t>
            </a:r>
            <a:endParaRPr lang="en-US" sz="1900" dirty="0"/>
          </a:p>
        </p:txBody>
      </p:sp>
      <p:sp>
        <p:nvSpPr>
          <p:cNvPr id="8" name="Text 6"/>
          <p:cNvSpPr txBox="1"/>
          <p:nvPr/>
        </p:nvSpPr>
        <p:spPr>
          <a:xfrm>
            <a:off x="914400" y="2743200"/>
            <a:ext cx="2907792" cy="1828800"/>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The deadline is derived from the application, not tuned to the answer. Under live pipeline load the converged mask ran every traced inference at 101 ms, while static FP32 was over on all 45 of its.</a:t>
            </a:r>
            <a:endParaRPr lang="en-US" sz="1250" dirty="0"/>
          </a:p>
        </p:txBody>
      </p:sp>
      <p:sp>
        <p:nvSpPr>
          <p:cNvPr id="9" name="Text 7"/>
          <p:cNvSpPr txBox="1"/>
          <p:nvPr/>
        </p:nvSpPr>
        <p:spPr>
          <a:xfrm>
            <a:off x="914400" y="4462272"/>
            <a:ext cx="2907792" cy="603504"/>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120 ms</a:t>
            </a:r>
            <a:endParaRPr lang="en-US" sz="3000" dirty="0"/>
          </a:p>
        </p:txBody>
      </p:sp>
      <p:sp>
        <p:nvSpPr>
          <p:cNvPr id="10" name="Text 8"/>
          <p:cNvSpPr txBox="1"/>
          <p:nvPr/>
        </p:nvSpPr>
        <p:spPr>
          <a:xfrm>
            <a:off x="914400" y="5102352"/>
            <a:ext cx="2907792" cy="365760"/>
          </a:xfrm>
          <a:prstGeom prst="rect">
            <a:avLst/>
          </a:prstGeom>
          <a:noFill/>
          <a:ln/>
        </p:spPr>
        <p:txBody>
          <a:bodyPr wrap="square" lIns="0" tIns="0" rIns="0" bIns="0" rtlCol="0" anchor="t"/>
          <a:lstStyle/>
          <a:p>
            <a:pPr indent="0" marL="0">
              <a:buNone/>
            </a:pPr>
            <a:r>
              <a:rPr lang="en-US" sz="1200" dirty="0">
                <a:solidFill>
                  <a:srgbClr val="8FA2C4"/>
                </a:solidFill>
                <a:latin typeface="Calibri" pitchFamily="34" charset="0"/>
                <a:ea typeface="Calibri" pitchFamily="34" charset="-122"/>
                <a:cs typeface="Calibri" pitchFamily="34" charset="-120"/>
              </a:rPr>
              <a:t>held under live load</a:t>
            </a:r>
            <a:endParaRPr lang="en-US" sz="1200" dirty="0"/>
          </a:p>
        </p:txBody>
      </p:sp>
      <p:sp>
        <p:nvSpPr>
          <p:cNvPr id="11" name="Shape 9"/>
          <p:cNvSpPr/>
          <p:nvPr/>
        </p:nvSpPr>
        <p:spPr>
          <a:xfrm>
            <a:off x="4352544" y="1737360"/>
            <a:ext cx="3456432" cy="4041648"/>
          </a:xfrm>
          <a:prstGeom prst="roundRect">
            <a:avLst>
              <a:gd name="adj" fmla="val 2646"/>
            </a:avLst>
          </a:prstGeom>
          <a:solidFill>
            <a:srgbClr val="F4F7FC"/>
          </a:solidFill>
          <a:ln/>
        </p:spPr>
      </p:sp>
      <p:sp>
        <p:nvSpPr>
          <p:cNvPr id="12" name="Shape 10"/>
          <p:cNvSpPr/>
          <p:nvPr/>
        </p:nvSpPr>
        <p:spPr>
          <a:xfrm>
            <a:off x="4626864" y="2048256"/>
            <a:ext cx="384048" cy="384048"/>
          </a:xfrm>
          <a:prstGeom prst="ellipse">
            <a:avLst/>
          </a:prstGeom>
          <a:solidFill>
            <a:srgbClr val="1E2761"/>
          </a:solidFill>
          <a:ln/>
        </p:spPr>
      </p:sp>
      <p:sp>
        <p:nvSpPr>
          <p:cNvPr id="13" name="Text 11"/>
          <p:cNvSpPr txBox="1"/>
          <p:nvPr/>
        </p:nvSpPr>
        <p:spPr>
          <a:xfrm>
            <a:off x="4626864" y="20482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5157216" y="2084832"/>
            <a:ext cx="2404872" cy="365760"/>
          </a:xfrm>
          <a:prstGeom prst="rect">
            <a:avLst/>
          </a:prstGeom>
          <a:noFill/>
          <a:ln/>
        </p:spPr>
        <p:txBody>
          <a:bodyPr wrap="square" lIns="0" tIns="0" rIns="0" bIns="0" rtlCol="0" anchor="t"/>
          <a:lstStyle/>
          <a:p>
            <a:pPr indent="0" marL="0">
              <a:buNone/>
            </a:pPr>
            <a:r>
              <a:rPr lang="en-US" sz="1900" b="1" dirty="0">
                <a:solidFill>
                  <a:srgbClr val="12193A"/>
                </a:solidFill>
                <a:latin typeface="Cambria" pitchFamily="34" charset="0"/>
                <a:ea typeface="Cambria" pitchFamily="34" charset="-122"/>
                <a:cs typeface="Cambria" pitchFamily="34" charset="-120"/>
              </a:rPr>
              <a:t>Power</a:t>
            </a:r>
            <a:endParaRPr lang="en-US" sz="1900" dirty="0"/>
          </a:p>
        </p:txBody>
      </p:sp>
      <p:sp>
        <p:nvSpPr>
          <p:cNvPr id="15" name="Text 13"/>
          <p:cNvSpPr txBox="1"/>
          <p:nvPr/>
        </p:nvSpPr>
        <p:spPr>
          <a:xfrm>
            <a:off x="4626864" y="2743200"/>
            <a:ext cx="2907792" cy="1828800"/>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The kernel idle hook shipped empty, so the core spun at 250 MHz between blocks. It now sleeps under BASEPRI. Identical audio, identical windows.</a:t>
            </a:r>
            <a:endParaRPr lang="en-US" sz="1250" dirty="0"/>
          </a:p>
        </p:txBody>
      </p:sp>
      <p:sp>
        <p:nvSpPr>
          <p:cNvPr id="16" name="Text 14"/>
          <p:cNvSpPr txBox="1"/>
          <p:nvPr/>
        </p:nvSpPr>
        <p:spPr>
          <a:xfrm>
            <a:off x="4626864" y="4462272"/>
            <a:ext cx="2907792" cy="603504"/>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1.79×</a:t>
            </a:r>
            <a:endParaRPr lang="en-US" sz="3000" dirty="0"/>
          </a:p>
        </p:txBody>
      </p:sp>
      <p:sp>
        <p:nvSpPr>
          <p:cNvPr id="17" name="Text 15"/>
          <p:cNvSpPr txBox="1"/>
          <p:nvPr/>
        </p:nvSpPr>
        <p:spPr>
          <a:xfrm>
            <a:off x="4626864" y="5102352"/>
            <a:ext cx="2907792" cy="365760"/>
          </a:xfrm>
          <a:prstGeom prst="rect">
            <a:avLst/>
          </a:prstGeom>
          <a:noFill/>
          <a:ln/>
        </p:spPr>
        <p:txBody>
          <a:bodyPr wrap="square" lIns="0" tIns="0" rIns="0" bIns="0" rtlCol="0" anchor="t"/>
          <a:lstStyle/>
          <a:p>
            <a:pPr indent="0" marL="0">
              <a:buNone/>
            </a:pPr>
            <a:r>
              <a:rPr lang="en-US" sz="1200" dirty="0">
                <a:solidFill>
                  <a:srgbClr val="8FA2C4"/>
                </a:solidFill>
                <a:latin typeface="Calibri" pitchFamily="34" charset="0"/>
                <a:ea typeface="Calibri" pitchFamily="34" charset="-122"/>
                <a:cs typeface="Calibri" pitchFamily="34" charset="-120"/>
              </a:rPr>
              <a:t>longer asleep than FP32</a:t>
            </a:r>
            <a:endParaRPr lang="en-US" sz="1200" dirty="0"/>
          </a:p>
        </p:txBody>
      </p:sp>
      <p:sp>
        <p:nvSpPr>
          <p:cNvPr id="18" name="Shape 16"/>
          <p:cNvSpPr/>
          <p:nvPr/>
        </p:nvSpPr>
        <p:spPr>
          <a:xfrm>
            <a:off x="8065008" y="1737360"/>
            <a:ext cx="3456432" cy="4041648"/>
          </a:xfrm>
          <a:prstGeom prst="roundRect">
            <a:avLst>
              <a:gd name="adj" fmla="val 2646"/>
            </a:avLst>
          </a:prstGeom>
          <a:solidFill>
            <a:srgbClr val="F4F7FC"/>
          </a:solidFill>
          <a:ln/>
        </p:spPr>
      </p:sp>
      <p:sp>
        <p:nvSpPr>
          <p:cNvPr id="19" name="Shape 17"/>
          <p:cNvSpPr/>
          <p:nvPr/>
        </p:nvSpPr>
        <p:spPr>
          <a:xfrm>
            <a:off x="8339328" y="2048256"/>
            <a:ext cx="384048" cy="384048"/>
          </a:xfrm>
          <a:prstGeom prst="ellipse">
            <a:avLst/>
          </a:prstGeom>
          <a:solidFill>
            <a:srgbClr val="1E2761"/>
          </a:solidFill>
          <a:ln/>
        </p:spPr>
      </p:sp>
      <p:sp>
        <p:nvSpPr>
          <p:cNvPr id="20" name="Text 18"/>
          <p:cNvSpPr txBox="1"/>
          <p:nvPr/>
        </p:nvSpPr>
        <p:spPr>
          <a:xfrm>
            <a:off x="8339328" y="20482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8869680" y="2084832"/>
            <a:ext cx="2404872" cy="365760"/>
          </a:xfrm>
          <a:prstGeom prst="rect">
            <a:avLst/>
          </a:prstGeom>
          <a:noFill/>
          <a:ln/>
        </p:spPr>
        <p:txBody>
          <a:bodyPr wrap="square" lIns="0" tIns="0" rIns="0" bIns="0" rtlCol="0" anchor="t"/>
          <a:lstStyle/>
          <a:p>
            <a:pPr indent="0" marL="0">
              <a:buNone/>
            </a:pPr>
            <a:r>
              <a:rPr lang="en-US" sz="1900" b="1" dirty="0">
                <a:solidFill>
                  <a:srgbClr val="12193A"/>
                </a:solidFill>
                <a:latin typeface="Cambria" pitchFamily="34" charset="0"/>
                <a:ea typeface="Cambria" pitchFamily="34" charset="-122"/>
                <a:cs typeface="Cambria" pitchFamily="34" charset="-120"/>
              </a:rPr>
              <a:t>Footprint</a:t>
            </a:r>
            <a:endParaRPr lang="en-US" sz="1900" dirty="0"/>
          </a:p>
        </p:txBody>
      </p:sp>
      <p:sp>
        <p:nvSpPr>
          <p:cNvPr id="22" name="Text 20"/>
          <p:cNvSpPr txBox="1"/>
          <p:nvPr/>
        </p:nvSpPr>
        <p:spPr>
          <a:xfrm>
            <a:off x="8339328" y="2743200"/>
            <a:ext cx="2907792" cy="1828800"/>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Layer weights are streamed through tk_get_mpl so only the working layer occupies SRAM, with peak pool use measured rather than asserted.</a:t>
            </a:r>
            <a:endParaRPr lang="en-US" sz="1250" dirty="0"/>
          </a:p>
        </p:txBody>
      </p:sp>
      <p:sp>
        <p:nvSpPr>
          <p:cNvPr id="23" name="Text 21"/>
          <p:cNvSpPr txBox="1"/>
          <p:nvPr/>
        </p:nvSpPr>
        <p:spPr>
          <a:xfrm>
            <a:off x="8339328" y="4462272"/>
            <a:ext cx="2907792" cy="603504"/>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117 KB</a:t>
            </a:r>
            <a:endParaRPr lang="en-US" sz="3000" dirty="0"/>
          </a:p>
        </p:txBody>
      </p:sp>
      <p:sp>
        <p:nvSpPr>
          <p:cNvPr id="24" name="Text 22"/>
          <p:cNvSpPr txBox="1"/>
          <p:nvPr/>
        </p:nvSpPr>
        <p:spPr>
          <a:xfrm>
            <a:off x="8339328" y="5102352"/>
            <a:ext cx="2907792" cy="365760"/>
          </a:xfrm>
          <a:prstGeom prst="rect">
            <a:avLst/>
          </a:prstGeom>
          <a:noFill/>
          <a:ln/>
        </p:spPr>
        <p:txBody>
          <a:bodyPr wrap="square" lIns="0" tIns="0" rIns="0" bIns="0" rtlCol="0" anchor="t"/>
          <a:lstStyle/>
          <a:p>
            <a:pPr indent="0" marL="0">
              <a:buNone/>
            </a:pPr>
            <a:r>
              <a:rPr lang="en-US" sz="1200" dirty="0">
                <a:solidFill>
                  <a:srgbClr val="8FA2C4"/>
                </a:solidFill>
                <a:latin typeface="Calibri" pitchFamily="34" charset="0"/>
                <a:ea typeface="Calibri" pitchFamily="34" charset="-122"/>
                <a:cs typeface="Calibri" pitchFamily="34" charset="-120"/>
              </a:rPr>
              <a:t>of 272 KB SRAM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t"/>
          <a:lstStyle/>
          <a:p>
            <a:pPr indent="0" marL="0">
              <a:buNone/>
            </a:pPr>
            <a:r>
              <a:rPr lang="en-US" sz="1200" b="1" spc="140" kern="0" dirty="0">
                <a:solidFill>
                  <a:srgbClr val="F6AE2D"/>
                </a:solidFill>
                <a:latin typeface="Calibri" pitchFamily="34" charset="0"/>
                <a:ea typeface="Calibri" pitchFamily="34" charset="-122"/>
                <a:cs typeface="Calibri" pitchFamily="34" charset="-120"/>
              </a:rPr>
              <a:t>CORRECTNESS</a:t>
            </a:r>
            <a:endParaRPr lang="en-US" sz="1200" dirty="0"/>
          </a:p>
        </p:txBody>
      </p:sp>
      <p:sp>
        <p:nvSpPr>
          <p:cNvPr id="3" name="Text 1"/>
          <p:cNvSpPr txBox="1"/>
          <p:nvPr/>
        </p:nvSpPr>
        <p:spPr>
          <a:xfrm>
            <a:off x="640080" y="658368"/>
            <a:ext cx="10881360" cy="713232"/>
          </a:xfrm>
          <a:prstGeom prst="rect">
            <a:avLst/>
          </a:prstGeom>
          <a:noFill/>
          <a:ln/>
        </p:spPr>
        <p:txBody>
          <a:bodyPr wrap="square" lIns="0" tIns="0" rIns="0" bIns="0" rtlCol="0" anchor="t"/>
          <a:lstStyle/>
          <a:p>
            <a:pPr indent="0" marL="0">
              <a:buNone/>
            </a:pPr>
            <a:r>
              <a:rPr lang="en-US" sz="3400" b="1" dirty="0">
                <a:solidFill>
                  <a:srgbClr val="12193A"/>
                </a:solidFill>
                <a:latin typeface="Cambria" pitchFamily="34" charset="0"/>
                <a:ea typeface="Cambria" pitchFamily="34" charset="-122"/>
                <a:cs typeface="Cambria" pitchFamily="34" charset="-120"/>
              </a:rPr>
              <a:t>The device is never the first implementation</a:t>
            </a:r>
            <a:endParaRPr lang="en-US" sz="3400" dirty="0"/>
          </a:p>
        </p:txBody>
      </p:sp>
      <p:sp>
        <p:nvSpPr>
          <p:cNvPr id="4" name="Text 2"/>
          <p:cNvSpPr txBox="1"/>
          <p:nvPr/>
        </p:nvSpPr>
        <p:spPr>
          <a:xfrm>
            <a:off x="640080" y="1627632"/>
            <a:ext cx="10881360" cy="731520"/>
          </a:xfrm>
          <a:prstGeom prst="rect">
            <a:avLst/>
          </a:prstGeom>
          <a:noFill/>
          <a:ln/>
        </p:spPr>
        <p:txBody>
          <a:bodyPr wrap="square" lIns="0" tIns="0" rIns="0" bIns="0" rtlCol="0" anchor="t"/>
          <a:lstStyle/>
          <a:p>
            <a:pPr indent="0" marL="0">
              <a:lnSpc>
                <a:spcPct val="118000"/>
              </a:lnSpc>
              <a:buNone/>
            </a:pPr>
            <a:r>
              <a:rPr lang="en-US" sz="1500" dirty="0">
                <a:solidFill>
                  <a:srgbClr val="5A6B8C"/>
                </a:solidFill>
                <a:latin typeface="Calibri" pitchFamily="34" charset="0"/>
                <a:ea typeface="Calibri" pitchFamily="34" charset="-122"/>
                <a:cs typeface="Calibri" pitchFamily="34" charset="-120"/>
              </a:rPr>
              <a:t>A NumPy reference of exactly the device arithmetic is checked against the trained float model. The real device C is then compiled for the host and checked against that reference. Only then does it reach the board.</a:t>
            </a:r>
            <a:endParaRPr lang="en-US" sz="1500" dirty="0"/>
          </a:p>
        </p:txBody>
      </p:sp>
      <p:sp>
        <p:nvSpPr>
          <p:cNvPr id="5" name="Shape 3"/>
          <p:cNvSpPr/>
          <p:nvPr/>
        </p:nvSpPr>
        <p:spPr>
          <a:xfrm>
            <a:off x="640080" y="2606040"/>
            <a:ext cx="2500884" cy="1280160"/>
          </a:xfrm>
          <a:prstGeom prst="roundRect">
            <a:avLst>
              <a:gd name="adj" fmla="val 7143"/>
            </a:avLst>
          </a:prstGeom>
          <a:solidFill>
            <a:srgbClr val="F4F7FC"/>
          </a:solidFill>
          <a:ln/>
        </p:spPr>
      </p:sp>
      <p:sp>
        <p:nvSpPr>
          <p:cNvPr id="6" name="Text 4"/>
          <p:cNvSpPr txBox="1"/>
          <p:nvPr/>
        </p:nvSpPr>
        <p:spPr>
          <a:xfrm>
            <a:off x="868680" y="2880360"/>
            <a:ext cx="2043684" cy="329184"/>
          </a:xfrm>
          <a:prstGeom prst="rect">
            <a:avLst/>
          </a:prstGeom>
          <a:noFill/>
          <a:ln/>
        </p:spPr>
        <p:txBody>
          <a:bodyPr wrap="square" lIns="0" tIns="0" rIns="0" bIns="0" rtlCol="0" anchor="t"/>
          <a:lstStyle/>
          <a:p>
            <a:pPr indent="0" marL="0">
              <a:buNone/>
            </a:pPr>
            <a:r>
              <a:rPr lang="en-US" sz="1400" b="1" dirty="0">
                <a:solidFill>
                  <a:srgbClr val="12193A"/>
                </a:solidFill>
                <a:latin typeface="Calibri" pitchFamily="34" charset="0"/>
                <a:ea typeface="Calibri" pitchFamily="34" charset="-122"/>
                <a:cs typeface="Calibri" pitchFamily="34" charset="-120"/>
              </a:rPr>
              <a:t>Float model</a:t>
            </a:r>
            <a:endParaRPr lang="en-US" sz="1400" dirty="0"/>
          </a:p>
        </p:txBody>
      </p:sp>
      <p:sp>
        <p:nvSpPr>
          <p:cNvPr id="7" name="Text 5"/>
          <p:cNvSpPr txBox="1"/>
          <p:nvPr/>
        </p:nvSpPr>
        <p:spPr>
          <a:xfrm>
            <a:off x="868680" y="3264408"/>
            <a:ext cx="2043684" cy="457200"/>
          </a:xfrm>
          <a:prstGeom prst="rect">
            <a:avLst/>
          </a:prstGeom>
          <a:noFill/>
          <a:ln/>
        </p:spPr>
        <p:txBody>
          <a:bodyPr wrap="square" lIns="0" tIns="0" rIns="0" bIns="0" rtlCol="0" anchor="t"/>
          <a:lstStyle/>
          <a:p>
            <a:pPr indent="0" marL="0">
              <a:lnSpc>
                <a:spcPct val="118000"/>
              </a:lnSpc>
              <a:buNone/>
            </a:pPr>
            <a:r>
              <a:rPr lang="en-US" sz="1150" dirty="0">
                <a:solidFill>
                  <a:srgbClr val="5A6B8C"/>
                </a:solidFill>
                <a:latin typeface="Calibri" pitchFamily="34" charset="0"/>
                <a:ea typeface="Calibri" pitchFamily="34" charset="-122"/>
                <a:cs typeface="Calibri" pitchFamily="34" charset="-120"/>
              </a:rPr>
              <a:t>PyTorch, 92.8 % test</a:t>
            </a:r>
            <a:endParaRPr lang="en-US" sz="1150" dirty="0"/>
          </a:p>
        </p:txBody>
      </p:sp>
      <p:sp>
        <p:nvSpPr>
          <p:cNvPr id="8" name="Shape 6"/>
          <p:cNvSpPr/>
          <p:nvPr/>
        </p:nvSpPr>
        <p:spPr>
          <a:xfrm>
            <a:off x="3177540" y="3154680"/>
            <a:ext cx="219456" cy="182880"/>
          </a:xfrm>
          <a:prstGeom prst="rightArrow">
            <a:avLst/>
          </a:prstGeom>
          <a:solidFill>
            <a:srgbClr val="8FA2C4"/>
          </a:solidFill>
          <a:ln/>
        </p:spPr>
      </p:sp>
      <p:sp>
        <p:nvSpPr>
          <p:cNvPr id="9" name="Shape 7"/>
          <p:cNvSpPr/>
          <p:nvPr/>
        </p:nvSpPr>
        <p:spPr>
          <a:xfrm>
            <a:off x="3433572" y="2606040"/>
            <a:ext cx="2500884" cy="1280160"/>
          </a:xfrm>
          <a:prstGeom prst="roundRect">
            <a:avLst>
              <a:gd name="adj" fmla="val 7143"/>
            </a:avLst>
          </a:prstGeom>
          <a:solidFill>
            <a:srgbClr val="F4F7FC"/>
          </a:solidFill>
          <a:ln/>
        </p:spPr>
      </p:sp>
      <p:sp>
        <p:nvSpPr>
          <p:cNvPr id="10" name="Text 8"/>
          <p:cNvSpPr txBox="1"/>
          <p:nvPr/>
        </p:nvSpPr>
        <p:spPr>
          <a:xfrm>
            <a:off x="3662172" y="2880360"/>
            <a:ext cx="2043684" cy="329184"/>
          </a:xfrm>
          <a:prstGeom prst="rect">
            <a:avLst/>
          </a:prstGeom>
          <a:noFill/>
          <a:ln/>
        </p:spPr>
        <p:txBody>
          <a:bodyPr wrap="square" lIns="0" tIns="0" rIns="0" bIns="0" rtlCol="0" anchor="t"/>
          <a:lstStyle/>
          <a:p>
            <a:pPr indent="0" marL="0">
              <a:buNone/>
            </a:pPr>
            <a:r>
              <a:rPr lang="en-US" sz="1400" b="1" dirty="0">
                <a:solidFill>
                  <a:srgbClr val="12193A"/>
                </a:solidFill>
                <a:latin typeface="Calibri" pitchFamily="34" charset="0"/>
                <a:ea typeface="Calibri" pitchFamily="34" charset="-122"/>
                <a:cs typeface="Calibri" pitchFamily="34" charset="-120"/>
              </a:rPr>
              <a:t>NumPy reference</a:t>
            </a:r>
            <a:endParaRPr lang="en-US" sz="1400" dirty="0"/>
          </a:p>
        </p:txBody>
      </p:sp>
      <p:sp>
        <p:nvSpPr>
          <p:cNvPr id="11" name="Text 9"/>
          <p:cNvSpPr txBox="1"/>
          <p:nvPr/>
        </p:nvSpPr>
        <p:spPr>
          <a:xfrm>
            <a:off x="3662172" y="3264408"/>
            <a:ext cx="2043684" cy="457200"/>
          </a:xfrm>
          <a:prstGeom prst="rect">
            <a:avLst/>
          </a:prstGeom>
          <a:noFill/>
          <a:ln/>
        </p:spPr>
        <p:txBody>
          <a:bodyPr wrap="square" lIns="0" tIns="0" rIns="0" bIns="0" rtlCol="0" anchor="t"/>
          <a:lstStyle/>
          <a:p>
            <a:pPr indent="0" marL="0">
              <a:lnSpc>
                <a:spcPct val="118000"/>
              </a:lnSpc>
              <a:buNone/>
            </a:pPr>
            <a:r>
              <a:rPr lang="en-US" sz="1150" dirty="0">
                <a:solidFill>
                  <a:srgbClr val="5A6B8C"/>
                </a:solidFill>
                <a:latin typeface="Calibri" pitchFamily="34" charset="0"/>
                <a:ea typeface="Calibri" pitchFamily="34" charset="-122"/>
                <a:cs typeface="Calibri" pitchFamily="34" charset="-120"/>
              </a:rPr>
              <a:t>exact device arithmetic</a:t>
            </a:r>
            <a:endParaRPr lang="en-US" sz="1150" dirty="0"/>
          </a:p>
        </p:txBody>
      </p:sp>
      <p:sp>
        <p:nvSpPr>
          <p:cNvPr id="12" name="Shape 10"/>
          <p:cNvSpPr/>
          <p:nvPr/>
        </p:nvSpPr>
        <p:spPr>
          <a:xfrm>
            <a:off x="5971032" y="3154680"/>
            <a:ext cx="219456" cy="182880"/>
          </a:xfrm>
          <a:prstGeom prst="rightArrow">
            <a:avLst/>
          </a:prstGeom>
          <a:solidFill>
            <a:srgbClr val="8FA2C4"/>
          </a:solidFill>
          <a:ln/>
        </p:spPr>
      </p:sp>
      <p:sp>
        <p:nvSpPr>
          <p:cNvPr id="13" name="Shape 11"/>
          <p:cNvSpPr/>
          <p:nvPr/>
        </p:nvSpPr>
        <p:spPr>
          <a:xfrm>
            <a:off x="6227064" y="2606040"/>
            <a:ext cx="2500884" cy="1280160"/>
          </a:xfrm>
          <a:prstGeom prst="roundRect">
            <a:avLst>
              <a:gd name="adj" fmla="val 7143"/>
            </a:avLst>
          </a:prstGeom>
          <a:solidFill>
            <a:srgbClr val="F4F7FC"/>
          </a:solidFill>
          <a:ln/>
        </p:spPr>
      </p:sp>
      <p:sp>
        <p:nvSpPr>
          <p:cNvPr id="14" name="Text 12"/>
          <p:cNvSpPr txBox="1"/>
          <p:nvPr/>
        </p:nvSpPr>
        <p:spPr>
          <a:xfrm>
            <a:off x="6455664" y="2880360"/>
            <a:ext cx="2043684" cy="329184"/>
          </a:xfrm>
          <a:prstGeom prst="rect">
            <a:avLst/>
          </a:prstGeom>
          <a:noFill/>
          <a:ln/>
        </p:spPr>
        <p:txBody>
          <a:bodyPr wrap="square" lIns="0" tIns="0" rIns="0" bIns="0" rtlCol="0" anchor="t"/>
          <a:lstStyle/>
          <a:p>
            <a:pPr indent="0" marL="0">
              <a:buNone/>
            </a:pPr>
            <a:r>
              <a:rPr lang="en-US" sz="1400" b="1" dirty="0">
                <a:solidFill>
                  <a:srgbClr val="12193A"/>
                </a:solidFill>
                <a:latin typeface="Calibri" pitchFamily="34" charset="0"/>
                <a:ea typeface="Calibri" pitchFamily="34" charset="-122"/>
                <a:cs typeface="Calibri" pitchFamily="34" charset="-120"/>
              </a:rPr>
              <a:t>Device C on host</a:t>
            </a:r>
            <a:endParaRPr lang="en-US" sz="1400" dirty="0"/>
          </a:p>
        </p:txBody>
      </p:sp>
      <p:sp>
        <p:nvSpPr>
          <p:cNvPr id="15" name="Text 13"/>
          <p:cNvSpPr txBox="1"/>
          <p:nvPr/>
        </p:nvSpPr>
        <p:spPr>
          <a:xfrm>
            <a:off x="6455664" y="3264408"/>
            <a:ext cx="2043684" cy="457200"/>
          </a:xfrm>
          <a:prstGeom prst="rect">
            <a:avLst/>
          </a:prstGeom>
          <a:noFill/>
          <a:ln/>
        </p:spPr>
        <p:txBody>
          <a:bodyPr wrap="square" lIns="0" tIns="0" rIns="0" bIns="0" rtlCol="0" anchor="t"/>
          <a:lstStyle/>
          <a:p>
            <a:pPr indent="0" marL="0">
              <a:lnSpc>
                <a:spcPct val="118000"/>
              </a:lnSpc>
              <a:buNone/>
            </a:pPr>
            <a:r>
              <a:rPr lang="en-US" sz="1150" dirty="0">
                <a:solidFill>
                  <a:srgbClr val="5A6B8C"/>
                </a:solidFill>
                <a:latin typeface="Calibri" pitchFamily="34" charset="0"/>
                <a:ea typeface="Calibri" pitchFamily="34" charset="-122"/>
                <a:cs typeface="Calibri" pitchFamily="34" charset="-120"/>
              </a:rPr>
              <a:t>the same source as the board</a:t>
            </a:r>
            <a:endParaRPr lang="en-US" sz="1150" dirty="0"/>
          </a:p>
        </p:txBody>
      </p:sp>
      <p:sp>
        <p:nvSpPr>
          <p:cNvPr id="16" name="Shape 14"/>
          <p:cNvSpPr/>
          <p:nvPr/>
        </p:nvSpPr>
        <p:spPr>
          <a:xfrm>
            <a:off x="8764524" y="3154680"/>
            <a:ext cx="219456" cy="182880"/>
          </a:xfrm>
          <a:prstGeom prst="rightArrow">
            <a:avLst/>
          </a:prstGeom>
          <a:solidFill>
            <a:srgbClr val="8FA2C4"/>
          </a:solidFill>
          <a:ln/>
        </p:spPr>
      </p:sp>
      <p:sp>
        <p:nvSpPr>
          <p:cNvPr id="17" name="Shape 15"/>
          <p:cNvSpPr/>
          <p:nvPr/>
        </p:nvSpPr>
        <p:spPr>
          <a:xfrm>
            <a:off x="9020556" y="2606040"/>
            <a:ext cx="2500884" cy="1280160"/>
          </a:xfrm>
          <a:prstGeom prst="roundRect">
            <a:avLst>
              <a:gd name="adj" fmla="val 7143"/>
            </a:avLst>
          </a:prstGeom>
          <a:solidFill>
            <a:srgbClr val="1E2761"/>
          </a:solidFill>
          <a:ln/>
        </p:spPr>
      </p:sp>
      <p:sp>
        <p:nvSpPr>
          <p:cNvPr id="18" name="Text 16"/>
          <p:cNvSpPr txBox="1"/>
          <p:nvPr/>
        </p:nvSpPr>
        <p:spPr>
          <a:xfrm>
            <a:off x="9249156" y="2880360"/>
            <a:ext cx="2043684" cy="329184"/>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Hardware</a:t>
            </a:r>
            <a:endParaRPr lang="en-US" sz="1400" dirty="0"/>
          </a:p>
        </p:txBody>
      </p:sp>
      <p:sp>
        <p:nvSpPr>
          <p:cNvPr id="19" name="Text 17"/>
          <p:cNvSpPr txBox="1"/>
          <p:nvPr/>
        </p:nvSpPr>
        <p:spPr>
          <a:xfrm>
            <a:off x="9249156" y="3264408"/>
            <a:ext cx="2043684" cy="457200"/>
          </a:xfrm>
          <a:prstGeom prst="rect">
            <a:avLst/>
          </a:prstGeom>
          <a:noFill/>
          <a:ln/>
        </p:spPr>
        <p:txBody>
          <a:bodyPr wrap="square" lIns="0" tIns="0" rIns="0" bIns="0" rtlCol="0" anchor="t"/>
          <a:lstStyle/>
          <a:p>
            <a:pPr indent="0" marL="0">
              <a:lnSpc>
                <a:spcPct val="118000"/>
              </a:lnSpc>
              <a:buNone/>
            </a:pPr>
            <a:r>
              <a:rPr lang="en-US" sz="1150" dirty="0">
                <a:solidFill>
                  <a:srgbClr val="CADCFC"/>
                </a:solidFill>
                <a:latin typeface="Calibri" pitchFamily="34" charset="0"/>
                <a:ea typeface="Calibri" pitchFamily="34" charset="-122"/>
                <a:cs typeface="Calibri" pitchFamily="34" charset="-120"/>
              </a:rPr>
              <a:t>94.0 % core accuracy</a:t>
            </a:r>
            <a:endParaRPr lang="en-US" sz="1150" dirty="0"/>
          </a:p>
        </p:txBody>
      </p:sp>
      <p:sp>
        <p:nvSpPr>
          <p:cNvPr id="20" name="Text 18"/>
          <p:cNvSpPr txBox="1"/>
          <p:nvPr/>
        </p:nvSpPr>
        <p:spPr>
          <a:xfrm>
            <a:off x="640080" y="4160520"/>
            <a:ext cx="10881360" cy="310896"/>
          </a:xfrm>
          <a:prstGeom prst="rect">
            <a:avLst/>
          </a:prstGeom>
          <a:noFill/>
          <a:ln/>
        </p:spPr>
        <p:txBody>
          <a:bodyPr wrap="square" lIns="0" tIns="0" rIns="0" bIns="0" rtlCol="0" anchor="t"/>
          <a:lstStyle/>
          <a:p>
            <a:pPr indent="0" marL="0">
              <a:buNone/>
            </a:pPr>
            <a:r>
              <a:rPr lang="en-US" sz="1300" b="1" dirty="0">
                <a:solidFill>
                  <a:srgbClr val="12193A"/>
                </a:solidFill>
                <a:latin typeface="Calibri" pitchFamily="34" charset="0"/>
                <a:ea typeface="Calibri" pitchFamily="34" charset="-122"/>
                <a:cs typeface="Calibri" pitchFamily="34" charset="-120"/>
              </a:rPr>
              <a:t>Agreement at every step, on the same inputs</a:t>
            </a:r>
            <a:endParaRPr lang="en-US" sz="1300" dirty="0"/>
          </a:p>
        </p:txBody>
      </p:sp>
      <p:sp>
        <p:nvSpPr>
          <p:cNvPr id="21" name="Shape 19"/>
          <p:cNvSpPr/>
          <p:nvPr/>
        </p:nvSpPr>
        <p:spPr>
          <a:xfrm>
            <a:off x="640080" y="4553712"/>
            <a:ext cx="3456432" cy="1051560"/>
          </a:xfrm>
          <a:prstGeom prst="roundRect">
            <a:avLst>
              <a:gd name="adj" fmla="val 8696"/>
            </a:avLst>
          </a:prstGeom>
          <a:solidFill>
            <a:srgbClr val="F4F7FC"/>
          </a:solidFill>
          <a:ln/>
        </p:spPr>
      </p:sp>
      <p:sp>
        <p:nvSpPr>
          <p:cNvPr id="22" name="Text 20"/>
          <p:cNvSpPr txBox="1"/>
          <p:nvPr/>
        </p:nvSpPr>
        <p:spPr>
          <a:xfrm>
            <a:off x="896112" y="4718304"/>
            <a:ext cx="2907792" cy="292608"/>
          </a:xfrm>
          <a:prstGeom prst="rect">
            <a:avLst/>
          </a:prstGeom>
          <a:noFill/>
          <a:ln/>
        </p:spPr>
        <p:txBody>
          <a:bodyPr wrap="square" lIns="0" tIns="0" rIns="0" bIns="0" rtlCol="0" anchor="t"/>
          <a:lstStyle/>
          <a:p>
            <a:pPr indent="0" marL="0">
              <a:buNone/>
            </a:pPr>
            <a:r>
              <a:rPr lang="en-US" sz="1250" dirty="0">
                <a:solidFill>
                  <a:srgbClr val="5A6B8C"/>
                </a:solidFill>
                <a:latin typeface="Calibri" pitchFamily="34" charset="0"/>
                <a:ea typeface="Calibri" pitchFamily="34" charset="-122"/>
                <a:cs typeface="Calibri" pitchFamily="34" charset="-120"/>
              </a:rPr>
              <a:t>transform</a:t>
            </a:r>
            <a:endParaRPr lang="en-US" sz="1250" dirty="0"/>
          </a:p>
        </p:txBody>
      </p:sp>
      <p:sp>
        <p:nvSpPr>
          <p:cNvPr id="23" name="Text 21"/>
          <p:cNvSpPr txBox="1"/>
          <p:nvPr/>
        </p:nvSpPr>
        <p:spPr>
          <a:xfrm>
            <a:off x="896112" y="5029200"/>
            <a:ext cx="2907792" cy="411480"/>
          </a:xfrm>
          <a:prstGeom prst="rect">
            <a:avLst/>
          </a:prstGeom>
          <a:noFill/>
          <a:ln/>
        </p:spPr>
        <p:txBody>
          <a:bodyPr wrap="square" lIns="0" tIns="0" rIns="0" bIns="0" rtlCol="0" anchor="t"/>
          <a:lstStyle/>
          <a:p>
            <a:pPr indent="0" marL="0">
              <a:buNone/>
            </a:pPr>
            <a:r>
              <a:rPr lang="en-US" sz="1900" b="1" dirty="0">
                <a:solidFill>
                  <a:srgbClr val="1E2761"/>
                </a:solidFill>
                <a:latin typeface="Cambria" pitchFamily="34" charset="0"/>
                <a:ea typeface="Cambria" pitchFamily="34" charset="-122"/>
                <a:cs typeface="Cambria" pitchFamily="34" charset="-120"/>
              </a:rPr>
              <a:t>1.4 × 10⁻⁵</a:t>
            </a:r>
            <a:endParaRPr lang="en-US" sz="1900" dirty="0"/>
          </a:p>
        </p:txBody>
      </p:sp>
      <p:sp>
        <p:nvSpPr>
          <p:cNvPr id="24" name="Shape 22"/>
          <p:cNvSpPr/>
          <p:nvPr/>
        </p:nvSpPr>
        <p:spPr>
          <a:xfrm>
            <a:off x="4352544" y="4553712"/>
            <a:ext cx="3456432" cy="1051560"/>
          </a:xfrm>
          <a:prstGeom prst="roundRect">
            <a:avLst>
              <a:gd name="adj" fmla="val 8696"/>
            </a:avLst>
          </a:prstGeom>
          <a:solidFill>
            <a:srgbClr val="F4F7FC"/>
          </a:solidFill>
          <a:ln/>
        </p:spPr>
      </p:sp>
      <p:sp>
        <p:nvSpPr>
          <p:cNvPr id="25" name="Text 23"/>
          <p:cNvSpPr txBox="1"/>
          <p:nvPr/>
        </p:nvSpPr>
        <p:spPr>
          <a:xfrm>
            <a:off x="4608576" y="4718304"/>
            <a:ext cx="2907792" cy="292608"/>
          </a:xfrm>
          <a:prstGeom prst="rect">
            <a:avLst/>
          </a:prstGeom>
          <a:noFill/>
          <a:ln/>
        </p:spPr>
        <p:txBody>
          <a:bodyPr wrap="square" lIns="0" tIns="0" rIns="0" bIns="0" rtlCol="0" anchor="t"/>
          <a:lstStyle/>
          <a:p>
            <a:pPr indent="0" marL="0">
              <a:buNone/>
            </a:pPr>
            <a:r>
              <a:rPr lang="en-US" sz="1250" dirty="0">
                <a:solidFill>
                  <a:srgbClr val="5A6B8C"/>
                </a:solidFill>
                <a:latin typeface="Calibri" pitchFamily="34" charset="0"/>
                <a:ea typeface="Calibri" pitchFamily="34" charset="-122"/>
                <a:cs typeface="Calibri" pitchFamily="34" charset="-120"/>
              </a:rPr>
              <a:t>MFCC frame</a:t>
            </a:r>
            <a:endParaRPr lang="en-US" sz="1250" dirty="0"/>
          </a:p>
        </p:txBody>
      </p:sp>
      <p:sp>
        <p:nvSpPr>
          <p:cNvPr id="26" name="Text 24"/>
          <p:cNvSpPr txBox="1"/>
          <p:nvPr/>
        </p:nvSpPr>
        <p:spPr>
          <a:xfrm>
            <a:off x="4608576" y="5029200"/>
            <a:ext cx="2907792" cy="411480"/>
          </a:xfrm>
          <a:prstGeom prst="rect">
            <a:avLst/>
          </a:prstGeom>
          <a:noFill/>
          <a:ln/>
        </p:spPr>
        <p:txBody>
          <a:bodyPr wrap="square" lIns="0" tIns="0" rIns="0" bIns="0" rtlCol="0" anchor="t"/>
          <a:lstStyle/>
          <a:p>
            <a:pPr indent="0" marL="0">
              <a:buNone/>
            </a:pPr>
            <a:r>
              <a:rPr lang="en-US" sz="1900" b="1" dirty="0">
                <a:solidFill>
                  <a:srgbClr val="1E2761"/>
                </a:solidFill>
                <a:latin typeface="Cambria" pitchFamily="34" charset="0"/>
                <a:ea typeface="Cambria" pitchFamily="34" charset="-122"/>
                <a:cs typeface="Cambria" pitchFamily="34" charset="-120"/>
              </a:rPr>
              <a:t>5.5 × 10⁻⁶</a:t>
            </a:r>
            <a:endParaRPr lang="en-US" sz="1900" dirty="0"/>
          </a:p>
        </p:txBody>
      </p:sp>
      <p:sp>
        <p:nvSpPr>
          <p:cNvPr id="27" name="Shape 25"/>
          <p:cNvSpPr/>
          <p:nvPr/>
        </p:nvSpPr>
        <p:spPr>
          <a:xfrm>
            <a:off x="8065008" y="4553712"/>
            <a:ext cx="3456432" cy="1051560"/>
          </a:xfrm>
          <a:prstGeom prst="roundRect">
            <a:avLst>
              <a:gd name="adj" fmla="val 8696"/>
            </a:avLst>
          </a:prstGeom>
          <a:solidFill>
            <a:srgbClr val="F4F7FC"/>
          </a:solidFill>
          <a:ln/>
        </p:spPr>
      </p:sp>
      <p:sp>
        <p:nvSpPr>
          <p:cNvPr id="28" name="Text 26"/>
          <p:cNvSpPr txBox="1"/>
          <p:nvPr/>
        </p:nvSpPr>
        <p:spPr>
          <a:xfrm>
            <a:off x="8321040" y="4718304"/>
            <a:ext cx="2907792" cy="292608"/>
          </a:xfrm>
          <a:prstGeom prst="rect">
            <a:avLst/>
          </a:prstGeom>
          <a:noFill/>
          <a:ln/>
        </p:spPr>
        <p:txBody>
          <a:bodyPr wrap="square" lIns="0" tIns="0" rIns="0" bIns="0" rtlCol="0" anchor="t"/>
          <a:lstStyle/>
          <a:p>
            <a:pPr indent="0" marL="0">
              <a:buNone/>
            </a:pPr>
            <a:r>
              <a:rPr lang="en-US" sz="1250" dirty="0">
                <a:solidFill>
                  <a:srgbClr val="5A6B8C"/>
                </a:solidFill>
                <a:latin typeface="Calibri" pitchFamily="34" charset="0"/>
                <a:ea typeface="Calibri" pitchFamily="34" charset="-122"/>
                <a:cs typeface="Calibri" pitchFamily="34" charset="-120"/>
              </a:rPr>
              <a:t>inference logits</a:t>
            </a:r>
            <a:endParaRPr lang="en-US" sz="1250" dirty="0"/>
          </a:p>
        </p:txBody>
      </p:sp>
      <p:sp>
        <p:nvSpPr>
          <p:cNvPr id="29" name="Text 27"/>
          <p:cNvSpPr txBox="1"/>
          <p:nvPr/>
        </p:nvSpPr>
        <p:spPr>
          <a:xfrm>
            <a:off x="8321040" y="5029200"/>
            <a:ext cx="2907792" cy="411480"/>
          </a:xfrm>
          <a:prstGeom prst="rect">
            <a:avLst/>
          </a:prstGeom>
          <a:noFill/>
          <a:ln/>
        </p:spPr>
        <p:txBody>
          <a:bodyPr wrap="square" lIns="0" tIns="0" rIns="0" bIns="0" rtlCol="0" anchor="t"/>
          <a:lstStyle/>
          <a:p>
            <a:pPr indent="0" marL="0">
              <a:buNone/>
            </a:pPr>
            <a:r>
              <a:rPr lang="en-US" sz="1900" b="1" dirty="0">
                <a:solidFill>
                  <a:srgbClr val="1E2761"/>
                </a:solidFill>
                <a:latin typeface="Cambria" pitchFamily="34" charset="0"/>
                <a:ea typeface="Cambria" pitchFamily="34" charset="-122"/>
                <a:cs typeface="Cambria" pitchFamily="34" charset="-120"/>
              </a:rPr>
              <a:t>5 × 10⁻⁸</a:t>
            </a:r>
            <a:endParaRPr lang="en-US" sz="1900" dirty="0"/>
          </a:p>
        </p:txBody>
      </p:sp>
      <p:sp>
        <p:nvSpPr>
          <p:cNvPr id="30" name="Text 28"/>
          <p:cNvSpPr txBox="1"/>
          <p:nvPr/>
        </p:nvSpPr>
        <p:spPr>
          <a:xfrm>
            <a:off x="640080" y="5870448"/>
            <a:ext cx="10881360" cy="365760"/>
          </a:xfrm>
          <a:prstGeom prst="rect">
            <a:avLst/>
          </a:prstGeom>
          <a:noFill/>
          <a:ln/>
        </p:spPr>
        <p:txBody>
          <a:bodyPr wrap="square" lIns="0" tIns="0" rIns="0" bIns="0" rtlCol="0" anchor="t"/>
          <a:lstStyle/>
          <a:p>
            <a:pPr indent="0" marL="0">
              <a:buNone/>
            </a:pPr>
            <a:r>
              <a:rPr lang="en-US" sz="1400" i="1" dirty="0">
                <a:solidFill>
                  <a:srgbClr val="5A6B8C"/>
                </a:solidFill>
                <a:latin typeface="Calibri" pitchFamily="34" charset="0"/>
                <a:ea typeface="Calibri" pitchFamily="34" charset="-122"/>
                <a:cs typeface="Calibri" pitchFamily="34" charset="-120"/>
              </a:rPr>
              <a:t>A disagreement on hardware is therefore a hardware question, never an open one.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t"/>
          <a:lstStyle/>
          <a:p>
            <a:pPr indent="0" marL="0">
              <a:buNone/>
            </a:pPr>
            <a:r>
              <a:rPr lang="en-US" sz="1200" b="1" spc="140" kern="0" dirty="0">
                <a:solidFill>
                  <a:srgbClr val="F6AE2D"/>
                </a:solidFill>
                <a:latin typeface="Calibri" pitchFamily="34" charset="0"/>
                <a:ea typeface="Calibri" pitchFamily="34" charset="-122"/>
                <a:cs typeface="Calibri" pitchFamily="34" charset="-120"/>
              </a:rPr>
              <a:t>LIMITS</a:t>
            </a:r>
            <a:endParaRPr lang="en-US" sz="1200" dirty="0"/>
          </a:p>
        </p:txBody>
      </p:sp>
      <p:sp>
        <p:nvSpPr>
          <p:cNvPr id="3" name="Text 1"/>
          <p:cNvSpPr txBox="1"/>
          <p:nvPr/>
        </p:nvSpPr>
        <p:spPr>
          <a:xfrm>
            <a:off x="640080" y="658368"/>
            <a:ext cx="10881360" cy="713232"/>
          </a:xfrm>
          <a:prstGeom prst="rect">
            <a:avLst/>
          </a:prstGeom>
          <a:noFill/>
          <a:ln/>
        </p:spPr>
        <p:txBody>
          <a:bodyPr wrap="square" lIns="0" tIns="0" rIns="0" bIns="0" rtlCol="0" anchor="t"/>
          <a:lstStyle/>
          <a:p>
            <a:pPr indent="0" marL="0">
              <a:buNone/>
            </a:pPr>
            <a:r>
              <a:rPr lang="en-US" sz="3400" b="1" dirty="0">
                <a:solidFill>
                  <a:srgbClr val="12193A"/>
                </a:solidFill>
                <a:latin typeface="Cambria" pitchFamily="34" charset="0"/>
                <a:ea typeface="Cambria" pitchFamily="34" charset="-122"/>
                <a:cs typeface="Cambria" pitchFamily="34" charset="-120"/>
              </a:rPr>
              <a:t>What is not claimed</a:t>
            </a:r>
            <a:endParaRPr lang="en-US" sz="3400" dirty="0"/>
          </a:p>
        </p:txBody>
      </p:sp>
      <p:sp>
        <p:nvSpPr>
          <p:cNvPr id="4" name="Text 2"/>
          <p:cNvSpPr txBox="1"/>
          <p:nvPr/>
        </p:nvSpPr>
        <p:spPr>
          <a:xfrm>
            <a:off x="640080" y="1627632"/>
            <a:ext cx="10881360" cy="365760"/>
          </a:xfrm>
          <a:prstGeom prst="rect">
            <a:avLst/>
          </a:prstGeom>
          <a:noFill/>
          <a:ln/>
        </p:spPr>
        <p:txBody>
          <a:bodyPr wrap="square" lIns="0" tIns="0" rIns="0" bIns="0" rtlCol="0" anchor="t"/>
          <a:lstStyle/>
          <a:p>
            <a:pPr indent="0" marL="0">
              <a:buNone/>
            </a:pPr>
            <a:r>
              <a:rPr lang="en-US" sz="1500" dirty="0">
                <a:solidFill>
                  <a:srgbClr val="5A6B8C"/>
                </a:solidFill>
                <a:latin typeface="Calibri" pitchFamily="34" charset="0"/>
                <a:ea typeface="Calibri" pitchFamily="34" charset="-122"/>
                <a:cs typeface="Calibri" pitchFamily="34" charset="-120"/>
              </a:rPr>
              <a:t>Stating the limits precisely is part of the result.</a:t>
            </a:r>
            <a:endParaRPr lang="en-US" sz="1500" dirty="0"/>
          </a:p>
        </p:txBody>
      </p:sp>
      <p:sp>
        <p:nvSpPr>
          <p:cNvPr id="5" name="Shape 3"/>
          <p:cNvSpPr/>
          <p:nvPr/>
        </p:nvSpPr>
        <p:spPr>
          <a:xfrm>
            <a:off x="640080" y="2194560"/>
            <a:ext cx="3456432" cy="3474720"/>
          </a:xfrm>
          <a:prstGeom prst="roundRect">
            <a:avLst>
              <a:gd name="adj" fmla="val 2646"/>
            </a:avLst>
          </a:prstGeom>
          <a:solidFill>
            <a:srgbClr val="F4F7FC"/>
          </a:solidFill>
          <a:ln/>
        </p:spPr>
      </p:sp>
      <p:sp>
        <p:nvSpPr>
          <p:cNvPr id="6" name="Text 4"/>
          <p:cNvSpPr txBox="1"/>
          <p:nvPr/>
        </p:nvSpPr>
        <p:spPr>
          <a:xfrm>
            <a:off x="914400" y="2487168"/>
            <a:ext cx="2907792" cy="685800"/>
          </a:xfrm>
          <a:prstGeom prst="rect">
            <a:avLst/>
          </a:prstGeom>
          <a:noFill/>
          <a:ln/>
        </p:spPr>
        <p:txBody>
          <a:bodyPr wrap="square" lIns="0" tIns="0" rIns="0" bIns="0" rtlCol="0" anchor="t"/>
          <a:lstStyle/>
          <a:p>
            <a:pPr indent="0" marL="0">
              <a:buNone/>
            </a:pPr>
            <a:r>
              <a:rPr lang="en-US" sz="1700" b="1" dirty="0">
                <a:solidFill>
                  <a:srgbClr val="12193A"/>
                </a:solidFill>
                <a:latin typeface="Cambria" pitchFamily="34" charset="0"/>
                <a:ea typeface="Cambria" pitchFamily="34" charset="-122"/>
                <a:cs typeface="Cambria" pitchFamily="34" charset="-120"/>
              </a:rPr>
              <a:t>Two different accuracies</a:t>
            </a:r>
            <a:endParaRPr lang="en-US" sz="1700" dirty="0"/>
          </a:p>
        </p:txBody>
      </p:sp>
      <p:sp>
        <p:nvSpPr>
          <p:cNvPr id="7" name="Text 5"/>
          <p:cNvSpPr txBox="1"/>
          <p:nvPr/>
        </p:nvSpPr>
        <p:spPr>
          <a:xfrm>
            <a:off x="914400" y="3273552"/>
            <a:ext cx="2907792" cy="1417320"/>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94.0 percent is core accuracy, scored on pre computed feature grids. End to end accuracy through capture, gate and features is 47 to 57 percent, and at this sample size the three configurations are not statistically separable.</a:t>
            </a:r>
            <a:endParaRPr lang="en-US" sz="1250" dirty="0"/>
          </a:p>
        </p:txBody>
      </p:sp>
      <p:sp>
        <p:nvSpPr>
          <p:cNvPr id="8" name="Text 6"/>
          <p:cNvSpPr txBox="1"/>
          <p:nvPr/>
        </p:nvSpPr>
        <p:spPr>
          <a:xfrm>
            <a:off x="914400" y="4800600"/>
            <a:ext cx="2907792" cy="274320"/>
          </a:xfrm>
          <a:prstGeom prst="rect">
            <a:avLst/>
          </a:prstGeom>
          <a:noFill/>
          <a:ln/>
        </p:spPr>
        <p:txBody>
          <a:bodyPr wrap="square" lIns="0" tIns="0" rIns="0" bIns="0" rtlCol="0" anchor="t"/>
          <a:lstStyle/>
          <a:p>
            <a:pPr indent="0" marL="0">
              <a:buNone/>
            </a:pPr>
            <a:r>
              <a:rPr lang="en-US" sz="1000" b="1" spc="100" kern="0" dirty="0">
                <a:solidFill>
                  <a:srgbClr val="8FA2C4"/>
                </a:solidFill>
                <a:latin typeface="Calibri" pitchFamily="34" charset="0"/>
                <a:ea typeface="Calibri" pitchFamily="34" charset="-122"/>
                <a:cs typeface="Calibri" pitchFamily="34" charset="-120"/>
              </a:rPr>
              <a:t>WHAT WOULD CLOSE IT</a:t>
            </a:r>
            <a:endParaRPr lang="en-US" sz="1000" dirty="0"/>
          </a:p>
        </p:txBody>
      </p:sp>
      <p:sp>
        <p:nvSpPr>
          <p:cNvPr id="9" name="Text 7"/>
          <p:cNvSpPr txBox="1"/>
          <p:nvPr/>
        </p:nvSpPr>
        <p:spPr>
          <a:xfrm>
            <a:off x="914400" y="5084064"/>
            <a:ext cx="2907792" cy="502920"/>
          </a:xfrm>
          <a:prstGeom prst="rect">
            <a:avLst/>
          </a:prstGeom>
          <a:noFill/>
          <a:ln/>
        </p:spPr>
        <p:txBody>
          <a:bodyPr wrap="square" lIns="0" tIns="0" rIns="0" bIns="0" rtlCol="0" anchor="t"/>
          <a:lstStyle/>
          <a:p>
            <a:pPr indent="0" marL="0">
              <a:lnSpc>
                <a:spcPct val="118000"/>
              </a:lnSpc>
              <a:buNone/>
            </a:pPr>
            <a:r>
              <a:rPr lang="en-US" sz="1250" dirty="0">
                <a:solidFill>
                  <a:srgbClr val="1E2761"/>
                </a:solidFill>
                <a:latin typeface="Calibri" pitchFamily="34" charset="0"/>
                <a:ea typeface="Calibri" pitchFamily="34" charset="-122"/>
                <a:cs typeface="Calibri" pitchFamily="34" charset="-120"/>
              </a:rPr>
              <a:t>a wider replay corpus and a longer live phase</a:t>
            </a:r>
            <a:endParaRPr lang="en-US" sz="1250" dirty="0"/>
          </a:p>
        </p:txBody>
      </p:sp>
      <p:sp>
        <p:nvSpPr>
          <p:cNvPr id="10" name="Shape 8"/>
          <p:cNvSpPr/>
          <p:nvPr/>
        </p:nvSpPr>
        <p:spPr>
          <a:xfrm>
            <a:off x="4352544" y="2194560"/>
            <a:ext cx="3456432" cy="3474720"/>
          </a:xfrm>
          <a:prstGeom prst="roundRect">
            <a:avLst>
              <a:gd name="adj" fmla="val 2646"/>
            </a:avLst>
          </a:prstGeom>
          <a:solidFill>
            <a:srgbClr val="F4F7FC"/>
          </a:solidFill>
          <a:ln/>
        </p:spPr>
      </p:sp>
      <p:sp>
        <p:nvSpPr>
          <p:cNvPr id="11" name="Text 9"/>
          <p:cNvSpPr txBox="1"/>
          <p:nvPr/>
        </p:nvSpPr>
        <p:spPr>
          <a:xfrm>
            <a:off x="4626864" y="2487168"/>
            <a:ext cx="2907792" cy="685800"/>
          </a:xfrm>
          <a:prstGeom prst="rect">
            <a:avLst/>
          </a:prstGeom>
          <a:noFill/>
          <a:ln/>
        </p:spPr>
        <p:txBody>
          <a:bodyPr wrap="square" lIns="0" tIns="0" rIns="0" bIns="0" rtlCol="0" anchor="t"/>
          <a:lstStyle/>
          <a:p>
            <a:pPr indent="0" marL="0">
              <a:buNone/>
            </a:pPr>
            <a:r>
              <a:rPr lang="en-US" sz="1700" b="1" dirty="0">
                <a:solidFill>
                  <a:srgbClr val="12193A"/>
                </a:solidFill>
                <a:latin typeface="Cambria" pitchFamily="34" charset="0"/>
                <a:ea typeface="Cambria" pitchFamily="34" charset="-122"/>
                <a:cs typeface="Cambria" pitchFamily="34" charset="-120"/>
              </a:rPr>
              <a:t>Power is a ratio</a:t>
            </a:r>
            <a:endParaRPr lang="en-US" sz="1700" dirty="0"/>
          </a:p>
        </p:txBody>
      </p:sp>
      <p:sp>
        <p:nvSpPr>
          <p:cNvPr id="12" name="Text 10"/>
          <p:cNvSpPr txBox="1"/>
          <p:nvPr/>
        </p:nvSpPr>
        <p:spPr>
          <a:xfrm>
            <a:off x="4626864" y="3273552"/>
            <a:ext cx="2907792" cy="1417320"/>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Idle residency, not a wattage. No ammeter was used. The firmware side is ready and the absolute current at the IDD jumper is still to be measured.</a:t>
            </a:r>
            <a:endParaRPr lang="en-US" sz="1250" dirty="0"/>
          </a:p>
        </p:txBody>
      </p:sp>
      <p:sp>
        <p:nvSpPr>
          <p:cNvPr id="13" name="Text 11"/>
          <p:cNvSpPr txBox="1"/>
          <p:nvPr/>
        </p:nvSpPr>
        <p:spPr>
          <a:xfrm>
            <a:off x="4626864" y="4800600"/>
            <a:ext cx="2907792" cy="274320"/>
          </a:xfrm>
          <a:prstGeom prst="rect">
            <a:avLst/>
          </a:prstGeom>
          <a:noFill/>
          <a:ln/>
        </p:spPr>
        <p:txBody>
          <a:bodyPr wrap="square" lIns="0" tIns="0" rIns="0" bIns="0" rtlCol="0" anchor="t"/>
          <a:lstStyle/>
          <a:p>
            <a:pPr indent="0" marL="0">
              <a:buNone/>
            </a:pPr>
            <a:r>
              <a:rPr lang="en-US" sz="1000" b="1" spc="100" kern="0" dirty="0">
                <a:solidFill>
                  <a:srgbClr val="8FA2C4"/>
                </a:solidFill>
                <a:latin typeface="Calibri" pitchFamily="34" charset="0"/>
                <a:ea typeface="Calibri" pitchFamily="34" charset="-122"/>
                <a:cs typeface="Calibri" pitchFamily="34" charset="-120"/>
              </a:rPr>
              <a:t>WHAT WOULD CLOSE IT</a:t>
            </a:r>
            <a:endParaRPr lang="en-US" sz="1000" dirty="0"/>
          </a:p>
        </p:txBody>
      </p:sp>
      <p:sp>
        <p:nvSpPr>
          <p:cNvPr id="14" name="Text 12"/>
          <p:cNvSpPr txBox="1"/>
          <p:nvPr/>
        </p:nvSpPr>
        <p:spPr>
          <a:xfrm>
            <a:off x="4626864" y="5084064"/>
            <a:ext cx="2907792" cy="502920"/>
          </a:xfrm>
          <a:prstGeom prst="rect">
            <a:avLst/>
          </a:prstGeom>
          <a:noFill/>
          <a:ln/>
        </p:spPr>
        <p:txBody>
          <a:bodyPr wrap="square" lIns="0" tIns="0" rIns="0" bIns="0" rtlCol="0" anchor="t"/>
          <a:lstStyle/>
          <a:p>
            <a:pPr indent="0" marL="0">
              <a:lnSpc>
                <a:spcPct val="118000"/>
              </a:lnSpc>
              <a:buNone/>
            </a:pPr>
            <a:r>
              <a:rPr lang="en-US" sz="1250" dirty="0">
                <a:solidFill>
                  <a:srgbClr val="1E2761"/>
                </a:solidFill>
                <a:latin typeface="Calibri" pitchFamily="34" charset="0"/>
                <a:ea typeface="Calibri" pitchFamily="34" charset="-122"/>
                <a:cs typeface="Calibri" pitchFamily="34" charset="-120"/>
              </a:rPr>
              <a:t>a DC ammeter in series at the IDD jumper</a:t>
            </a:r>
            <a:endParaRPr lang="en-US" sz="1250" dirty="0"/>
          </a:p>
        </p:txBody>
      </p:sp>
      <p:sp>
        <p:nvSpPr>
          <p:cNvPr id="15" name="Shape 13"/>
          <p:cNvSpPr/>
          <p:nvPr/>
        </p:nvSpPr>
        <p:spPr>
          <a:xfrm>
            <a:off x="8065008" y="2194560"/>
            <a:ext cx="3456432" cy="3474720"/>
          </a:xfrm>
          <a:prstGeom prst="roundRect">
            <a:avLst>
              <a:gd name="adj" fmla="val 2646"/>
            </a:avLst>
          </a:prstGeom>
          <a:solidFill>
            <a:srgbClr val="F4F7FC"/>
          </a:solidFill>
          <a:ln/>
        </p:spPr>
      </p:sp>
      <p:sp>
        <p:nvSpPr>
          <p:cNvPr id="16" name="Text 14"/>
          <p:cNvSpPr txBox="1"/>
          <p:nvPr/>
        </p:nvSpPr>
        <p:spPr>
          <a:xfrm>
            <a:off x="8339328" y="2487168"/>
            <a:ext cx="2907792" cy="685800"/>
          </a:xfrm>
          <a:prstGeom prst="rect">
            <a:avLst/>
          </a:prstGeom>
          <a:noFill/>
          <a:ln/>
        </p:spPr>
        <p:txBody>
          <a:bodyPr wrap="square" lIns="0" tIns="0" rIns="0" bIns="0" rtlCol="0" anchor="t"/>
          <a:lstStyle/>
          <a:p>
            <a:pPr indent="0" marL="0">
              <a:buNone/>
            </a:pPr>
            <a:r>
              <a:rPr lang="en-US" sz="1700" b="1" dirty="0">
                <a:solidFill>
                  <a:srgbClr val="12193A"/>
                </a:solidFill>
                <a:latin typeface="Cambria" pitchFamily="34" charset="0"/>
                <a:ea typeface="Cambria" pitchFamily="34" charset="-122"/>
                <a:cs typeface="Cambria" pitchFamily="34" charset="-120"/>
              </a:rPr>
              <a:t>TrustZone is cut</a:t>
            </a:r>
            <a:endParaRPr lang="en-US" sz="1700" dirty="0"/>
          </a:p>
        </p:txBody>
      </p:sp>
      <p:sp>
        <p:nvSpPr>
          <p:cNvPr id="17" name="Text 15"/>
          <p:cNvSpPr txBox="1"/>
          <p:nvPr/>
        </p:nvSpPr>
        <p:spPr>
          <a:xfrm>
            <a:off x="8339328" y="3273552"/>
            <a:ext cx="2907792" cy="1417320"/>
          </a:xfrm>
          <a:prstGeom prst="rect">
            <a:avLst/>
          </a:prstGeom>
          <a:noFill/>
          <a:ln/>
        </p:spPr>
        <p:txBody>
          <a:bodyPr wrap="square" lIns="0" tIns="0" rIns="0" bIns="0" rtlCol="0" anchor="t"/>
          <a:lstStyle/>
          <a:p>
            <a:pPr indent="0" marL="0">
              <a:lnSpc>
                <a:spcPct val="118000"/>
              </a:lnSpc>
              <a:buNone/>
            </a:pPr>
            <a:r>
              <a:rPr lang="en-US" sz="1250" dirty="0">
                <a:solidFill>
                  <a:srgbClr val="5A6B8C"/>
                </a:solidFill>
                <a:latin typeface="Calibri" pitchFamily="34" charset="0"/>
                <a:ea typeface="Calibri" pitchFamily="34" charset="-122"/>
                <a:cs typeface="Calibri" pitchFamily="34" charset="-120"/>
              </a:rPr>
              <a:t>The program plan promised secure world weight isolation in section 6.6. It was cut as separable from the co-optimisation thesis, and the descope is documented rather than glossed over.</a:t>
            </a:r>
            <a:endParaRPr lang="en-US" sz="1250" dirty="0"/>
          </a:p>
        </p:txBody>
      </p:sp>
      <p:sp>
        <p:nvSpPr>
          <p:cNvPr id="18" name="Text 16"/>
          <p:cNvSpPr txBox="1"/>
          <p:nvPr/>
        </p:nvSpPr>
        <p:spPr>
          <a:xfrm>
            <a:off x="8339328" y="4800600"/>
            <a:ext cx="2907792" cy="274320"/>
          </a:xfrm>
          <a:prstGeom prst="rect">
            <a:avLst/>
          </a:prstGeom>
          <a:noFill/>
          <a:ln/>
        </p:spPr>
        <p:txBody>
          <a:bodyPr wrap="square" lIns="0" tIns="0" rIns="0" bIns="0" rtlCol="0" anchor="t"/>
          <a:lstStyle/>
          <a:p>
            <a:pPr indent="0" marL="0">
              <a:buNone/>
            </a:pPr>
            <a:r>
              <a:rPr lang="en-US" sz="1000" b="1" spc="100" kern="0" dirty="0">
                <a:solidFill>
                  <a:srgbClr val="8FA2C4"/>
                </a:solidFill>
                <a:latin typeface="Calibri" pitchFamily="34" charset="0"/>
                <a:ea typeface="Calibri" pitchFamily="34" charset="-122"/>
                <a:cs typeface="Calibri" pitchFamily="34" charset="-120"/>
              </a:rPr>
              <a:t>WHAT WOULD CLOSE IT</a:t>
            </a:r>
            <a:endParaRPr lang="en-US" sz="1000" dirty="0"/>
          </a:p>
        </p:txBody>
      </p:sp>
      <p:sp>
        <p:nvSpPr>
          <p:cNvPr id="19" name="Text 17"/>
          <p:cNvSpPr txBox="1"/>
          <p:nvPr/>
        </p:nvSpPr>
        <p:spPr>
          <a:xfrm>
            <a:off x="8339328" y="5084064"/>
            <a:ext cx="2907792" cy="502920"/>
          </a:xfrm>
          <a:prstGeom prst="rect">
            <a:avLst/>
          </a:prstGeom>
          <a:noFill/>
          <a:ln/>
        </p:spPr>
        <p:txBody>
          <a:bodyPr wrap="square" lIns="0" tIns="0" rIns="0" bIns="0" rtlCol="0" anchor="t"/>
          <a:lstStyle/>
          <a:p>
            <a:pPr indent="0" marL="0">
              <a:lnSpc>
                <a:spcPct val="118000"/>
              </a:lnSpc>
              <a:buNone/>
            </a:pPr>
            <a:r>
              <a:rPr lang="en-US" sz="1250" dirty="0">
                <a:solidFill>
                  <a:srgbClr val="1E2761"/>
                </a:solidFill>
                <a:latin typeface="Calibri" pitchFamily="34" charset="0"/>
                <a:ea typeface="Calibri" pitchFamily="34" charset="-122"/>
                <a:cs typeface="Calibri" pitchFamily="34" charset="-120"/>
              </a:rPr>
              <a:t>a secure world partition behind an NSC veneer</a:t>
            </a:r>
            <a:endParaRPr lang="en-US" sz="1250" dirty="0"/>
          </a:p>
        </p:txBody>
      </p:sp>
      <p:sp>
        <p:nvSpPr>
          <p:cNvPr id="20" name="Text 18"/>
          <p:cNvSpPr txBox="1"/>
          <p:nvPr/>
        </p:nvSpPr>
        <p:spPr>
          <a:xfrm>
            <a:off x="640080" y="5943600"/>
            <a:ext cx="10881360" cy="365760"/>
          </a:xfrm>
          <a:prstGeom prst="rect">
            <a:avLst/>
          </a:prstGeom>
          <a:noFill/>
          <a:ln/>
        </p:spPr>
        <p:txBody>
          <a:bodyPr wrap="square" lIns="0" tIns="0" rIns="0" bIns="0" rtlCol="0" anchor="t"/>
          <a:lstStyle/>
          <a:p>
            <a:pPr indent="0" marL="0">
              <a:buNone/>
            </a:pPr>
            <a:r>
              <a:rPr lang="en-US" sz="1300" i="1" dirty="0">
                <a:solidFill>
                  <a:srgbClr val="8FA2C4"/>
                </a:solidFill>
                <a:latin typeface="Calibri" pitchFamily="34" charset="0"/>
                <a:ea typeface="Calibri" pitchFamily="34" charset="-122"/>
                <a:cs typeface="Calibri" pitchFamily="34" charset="-120"/>
              </a:rPr>
              <a:t>Every figure in this deck traces back to a timestamped run under experiments/ with its raw device capture alongside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3840480"/>
            <a:ext cx="4206240" cy="4206240"/>
          </a:xfrm>
          <a:prstGeom prst="ellipse">
            <a:avLst/>
          </a:prstGeom>
          <a:solidFill>
            <a:srgbClr val="27306E"/>
          </a:solidFill>
          <a:ln/>
        </p:spPr>
      </p:sp>
      <p:sp>
        <p:nvSpPr>
          <p:cNvPr id="3" name="Shape 1"/>
          <p:cNvSpPr/>
          <p:nvPr/>
        </p:nvSpPr>
        <p:spPr>
          <a:xfrm>
            <a:off x="9966960" y="-1097280"/>
            <a:ext cx="4023360" cy="4023360"/>
          </a:xfrm>
          <a:prstGeom prst="ellipse">
            <a:avLst/>
          </a:prstGeom>
          <a:solidFill>
            <a:srgbClr val="27306E"/>
          </a:solidFill>
          <a:ln/>
        </p:spPr>
      </p:sp>
      <p:sp>
        <p:nvSpPr>
          <p:cNvPr id="4" name="Text 2"/>
          <p:cNvSpPr txBox="1"/>
          <p:nvPr/>
        </p:nvSpPr>
        <p:spPr>
          <a:xfrm>
            <a:off x="640080" y="1325880"/>
            <a:ext cx="877824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 template, not a one off</a:t>
            </a:r>
            <a:endParaRPr lang="en-US" sz="4000" dirty="0"/>
          </a:p>
        </p:txBody>
      </p:sp>
      <p:sp>
        <p:nvSpPr>
          <p:cNvPr id="5" name="Text 3"/>
          <p:cNvSpPr txBox="1"/>
          <p:nvPr/>
        </p:nvSpPr>
        <p:spPr>
          <a:xfrm>
            <a:off x="640080" y="2286000"/>
            <a:ext cx="7680960" cy="1371600"/>
          </a:xfrm>
          <a:prstGeom prst="rect">
            <a:avLst/>
          </a:prstGeom>
          <a:noFill/>
          <a:ln/>
        </p:spPr>
        <p:txBody>
          <a:bodyPr wrap="square" lIns="0" tIns="0" rIns="0" bIns="0" rtlCol="0" anchor="t"/>
          <a:lstStyle/>
          <a:p>
            <a:pPr indent="0" marL="0">
              <a:lnSpc>
                <a:spcPct val="125000"/>
              </a:lnSpc>
              <a:buNone/>
            </a:pPr>
            <a:r>
              <a:rPr lang="en-US" sz="1600" dirty="0">
                <a:solidFill>
                  <a:srgbClr val="CADCFC"/>
                </a:solidFill>
                <a:latin typeface="Calibri" pitchFamily="34" charset="0"/>
                <a:ea typeface="Calibri" pitchFamily="34" charset="-122"/>
                <a:cs typeface="Calibri" pitchFamily="34" charset="-120"/>
              </a:rPr>
              <a:t>The signal source is one interface with two implementations, and the pipeline above it does not know where samples come from. The task graph and the adaptation primitives carry over to any sensor domain: vibration, audio, temperature, biosignals.</a:t>
            </a:r>
            <a:endParaRPr lang="en-US" sz="1600" dirty="0"/>
          </a:p>
        </p:txBody>
      </p:sp>
      <p:sp>
        <p:nvSpPr>
          <p:cNvPr id="6" name="Text 4"/>
          <p:cNvSpPr txBox="1"/>
          <p:nvPr/>
        </p:nvSpPr>
        <p:spPr>
          <a:xfrm>
            <a:off x="640080" y="3977640"/>
            <a:ext cx="2560320" cy="566928"/>
          </a:xfrm>
          <a:prstGeom prst="rect">
            <a:avLst/>
          </a:prstGeom>
          <a:noFill/>
          <a:ln/>
        </p:spPr>
        <p:txBody>
          <a:bodyPr wrap="square" lIns="0" tIns="0" rIns="0" bIns="0" rtlCol="0" anchor="t"/>
          <a:lstStyle/>
          <a:p>
            <a:pPr indent="0" marL="0">
              <a:buNone/>
            </a:pPr>
            <a:r>
              <a:rPr lang="en-US" sz="3200" b="1" dirty="0">
                <a:solidFill>
                  <a:srgbClr val="F6AE2D"/>
                </a:solidFill>
                <a:latin typeface="Cambria" pitchFamily="34" charset="0"/>
                <a:ea typeface="Cambria" pitchFamily="34" charset="-122"/>
                <a:cs typeface="Cambria" pitchFamily="34" charset="-120"/>
              </a:rPr>
              <a:t>98.2 ms</a:t>
            </a:r>
            <a:endParaRPr lang="en-US" sz="3200" dirty="0"/>
          </a:p>
        </p:txBody>
      </p:sp>
      <p:sp>
        <p:nvSpPr>
          <p:cNvPr id="7" name="Text 5"/>
          <p:cNvSpPr txBox="1"/>
          <p:nvPr/>
        </p:nvSpPr>
        <p:spPr>
          <a:xfrm>
            <a:off x="640080" y="4572000"/>
            <a:ext cx="2560320" cy="32004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adaptive latency</a:t>
            </a:r>
            <a:endParaRPr lang="en-US" sz="1300" dirty="0"/>
          </a:p>
        </p:txBody>
      </p:sp>
      <p:sp>
        <p:nvSpPr>
          <p:cNvPr id="8" name="Text 6"/>
          <p:cNvSpPr txBox="1"/>
          <p:nvPr/>
        </p:nvSpPr>
        <p:spPr>
          <a:xfrm>
            <a:off x="3383280" y="3977640"/>
            <a:ext cx="2560320" cy="566928"/>
          </a:xfrm>
          <a:prstGeom prst="rect">
            <a:avLst/>
          </a:prstGeom>
          <a:noFill/>
          <a:ln/>
        </p:spPr>
        <p:txBody>
          <a:bodyPr wrap="square" lIns="0" tIns="0" rIns="0" bIns="0" rtlCol="0" anchor="t"/>
          <a:lstStyle/>
          <a:p>
            <a:pPr indent="0" marL="0">
              <a:buNone/>
            </a:pPr>
            <a:r>
              <a:rPr lang="en-US" sz="3200" b="1" dirty="0">
                <a:solidFill>
                  <a:srgbClr val="F6AE2D"/>
                </a:solidFill>
                <a:latin typeface="Cambria" pitchFamily="34" charset="0"/>
                <a:ea typeface="Cambria" pitchFamily="34" charset="-122"/>
                <a:cs typeface="Cambria" pitchFamily="34" charset="-120"/>
              </a:rPr>
              <a:t>1.79×</a:t>
            </a:r>
            <a:endParaRPr lang="en-US" sz="3200" dirty="0"/>
          </a:p>
        </p:txBody>
      </p:sp>
      <p:sp>
        <p:nvSpPr>
          <p:cNvPr id="9" name="Text 7"/>
          <p:cNvSpPr txBox="1"/>
          <p:nvPr/>
        </p:nvSpPr>
        <p:spPr>
          <a:xfrm>
            <a:off x="3383280" y="4572000"/>
            <a:ext cx="2560320" cy="32004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longer asleep</a:t>
            </a:r>
            <a:endParaRPr lang="en-US" sz="1300" dirty="0"/>
          </a:p>
        </p:txBody>
      </p:sp>
      <p:sp>
        <p:nvSpPr>
          <p:cNvPr id="10" name="Text 8"/>
          <p:cNvSpPr txBox="1"/>
          <p:nvPr/>
        </p:nvSpPr>
        <p:spPr>
          <a:xfrm>
            <a:off x="6126480" y="3977640"/>
            <a:ext cx="2560320" cy="566928"/>
          </a:xfrm>
          <a:prstGeom prst="rect">
            <a:avLst/>
          </a:prstGeom>
          <a:noFill/>
          <a:ln/>
        </p:spPr>
        <p:txBody>
          <a:bodyPr wrap="square" lIns="0" tIns="0" rIns="0" bIns="0" rtlCol="0" anchor="t"/>
          <a:lstStyle/>
          <a:p>
            <a:pPr indent="0" marL="0">
              <a:buNone/>
            </a:pPr>
            <a:r>
              <a:rPr lang="en-US" sz="3200" b="1" dirty="0">
                <a:solidFill>
                  <a:srgbClr val="F6AE2D"/>
                </a:solidFill>
                <a:latin typeface="Cambria" pitchFamily="34" charset="0"/>
                <a:ea typeface="Cambria" pitchFamily="34" charset="-122"/>
                <a:cs typeface="Cambria" pitchFamily="34" charset="-120"/>
              </a:rPr>
              <a:t>0</a:t>
            </a:r>
            <a:endParaRPr lang="en-US" sz="3200" dirty="0"/>
          </a:p>
        </p:txBody>
      </p:sp>
      <p:sp>
        <p:nvSpPr>
          <p:cNvPr id="11" name="Text 9"/>
          <p:cNvSpPr txBox="1"/>
          <p:nvPr/>
        </p:nvSpPr>
        <p:spPr>
          <a:xfrm>
            <a:off x="6126480" y="4572000"/>
            <a:ext cx="2560320" cy="32004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dropped blocks</a:t>
            </a:r>
            <a:endParaRPr lang="en-US" sz="1300" dirty="0"/>
          </a:p>
        </p:txBody>
      </p:sp>
      <p:sp>
        <p:nvSpPr>
          <p:cNvPr id="12" name="Text 10"/>
          <p:cNvSpPr txBox="1"/>
          <p:nvPr/>
        </p:nvSpPr>
        <p:spPr>
          <a:xfrm>
            <a:off x="640080" y="5440680"/>
            <a:ext cx="108813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github.com/kushal-script/utkernel-rtos-adaptive-kws</a:t>
            </a:r>
            <a:endParaRPr lang="en-US" sz="1600" dirty="0"/>
          </a:p>
        </p:txBody>
      </p:sp>
      <p:sp>
        <p:nvSpPr>
          <p:cNvPr id="13" name="Text 11"/>
          <p:cNvSpPr txBox="1"/>
          <p:nvPr/>
        </p:nvSpPr>
        <p:spPr>
          <a:xfrm>
            <a:off x="640080" y="5870448"/>
            <a:ext cx="10881360" cy="365760"/>
          </a:xfrm>
          <a:prstGeom prst="rect">
            <a:avLst/>
          </a:prstGeom>
          <a:noFill/>
          <a:ln/>
        </p:spPr>
        <p:txBody>
          <a:bodyPr wrap="square" lIns="0" tIns="0" rIns="0" bIns="0" rtlCol="0" anchor="t"/>
          <a:lstStyle/>
          <a:p>
            <a:pPr indent="0" marL="0">
              <a:buNone/>
            </a:pPr>
            <a:r>
              <a:rPr lang="en-US" sz="1250" dirty="0">
                <a:solidFill>
                  <a:srgbClr val="8FA2C4"/>
                </a:solidFill>
                <a:latin typeface="Calibri" pitchFamily="34" charset="0"/>
                <a:ea typeface="Calibri" pitchFamily="34" charset="-122"/>
                <a:cs typeface="Calibri" pitchFamily="34" charset="-120"/>
              </a:rPr>
              <a:t>MIT licensed   ·   builds and reproduces every number from the board alone, no external hardware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RTOS-Coupled Adaptive Edge AI</dc:title>
  <dc:subject>PptxGenJS Presentation</dc:subject>
  <dc:creator>Kushal Sathyanarayan</dc:creator>
  <cp:lastModifiedBy>Kushal Sathyanarayan</cp:lastModifiedBy>
  <cp:revision>1</cp:revision>
  <dcterms:created xsi:type="dcterms:W3CDTF">2026-09-06T11:13:10Z</dcterms:created>
  <dcterms:modified xsi:type="dcterms:W3CDTF">2026-09-06T11:13:10Z</dcterms:modified>
</cp:coreProperties>
</file>