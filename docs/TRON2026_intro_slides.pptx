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Adaptive keyword spotting where the RTOS is an active co-optimiser rather than a scheduler. Every number in this deck is measured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this is not FP32 versus INT8. The best configuration is neither.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arrow in the pipeline is a native uT-Kernel primitive. The RTOS is load bearing, not incidental.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Adaptive is not a compromise between the two static builds, it beats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asymmetry is the whole reason a mixed operating point exists. It was measured, not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 independence is the strongest form this claim can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judge who finds an error themselves reads it as a mistake. One you hand them reads it as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is backed by a measurement, and the power one is a ratio rather than a wattage.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board brought up cleanly: the maths was settled before any flash.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Intellectual honesty scores better than an overreaching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group is a line of prior work this project builds on or departs from. What is new here is where the loop sits: inside the RTOS on the microcontroller, per layer, driven by cycles measured on the silicon.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strongest form of the reuse claim: not that the code is tidy, but that the result was tested for what it depends on. Removing the DSP extension was expected to destroy the inversion and did not, which is how we learned it is structural to depthwise convolution rather than a gap in the kernel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7306E"/>
          </a:solidFill>
          <a:ln/>
        </p:spPr>
      </p:sp>
      <p:sp>
        <p:nvSpPr>
          <p:cNvPr id="3" name="Shape 1"/>
          <p:cNvSpPr/>
          <p:nvPr/>
        </p:nvSpPr>
        <p:spPr>
          <a:xfrm>
            <a:off x="10607040" y="4206240"/>
            <a:ext cx="3108960" cy="3108960"/>
          </a:xfrm>
          <a:prstGeom prst="ellipse">
            <a:avLst/>
          </a:prstGeom>
          <a:solidFill>
            <a:srgbClr val="27306E"/>
          </a:solidFill>
          <a:ln/>
        </p:spPr>
      </p:sp>
      <p:sp>
        <p:nvSpPr>
          <p:cNvPr id="4" name="Text 2"/>
          <p:cNvSpPr txBox="1"/>
          <p:nvPr/>
        </p:nvSpPr>
        <p:spPr>
          <a:xfrm>
            <a:off x="640080" y="1143000"/>
            <a:ext cx="8595360" cy="292608"/>
          </a:xfrm>
          <a:prstGeom prst="rect">
            <a:avLst/>
          </a:prstGeom>
          <a:noFill/>
          <a:ln/>
        </p:spPr>
        <p:txBody>
          <a:bodyPr wrap="square" lIns="0" tIns="0" rIns="0" bIns="0" rtlCol="0" anchor="t"/>
          <a:lstStyle/>
          <a:p>
            <a:pPr indent="0" marL="0">
              <a:buNone/>
            </a:pPr>
            <a:r>
              <a:rPr lang="en-US" sz="1300" b="1" spc="120" kern="0" dirty="0">
                <a:solidFill>
                  <a:srgbClr val="F6AE2D"/>
                </a:solidFill>
                <a:latin typeface="Calibri" pitchFamily="34" charset="0"/>
                <a:ea typeface="Calibri" pitchFamily="34" charset="-122"/>
                <a:cs typeface="Calibri" pitchFamily="34" charset="-120"/>
              </a:rPr>
              <a:t>TRON Programming Contest 2026   ·   RTOS Application, Students</a:t>
            </a:r>
            <a:endParaRPr lang="en-US" sz="1300" dirty="0"/>
          </a:p>
        </p:txBody>
      </p:sp>
      <p:sp>
        <p:nvSpPr>
          <p:cNvPr id="5" name="Text 3"/>
          <p:cNvSpPr txBox="1"/>
          <p:nvPr/>
        </p:nvSpPr>
        <p:spPr>
          <a:xfrm>
            <a:off x="640080" y="1691640"/>
            <a:ext cx="8778240" cy="1920240"/>
          </a:xfrm>
          <a:prstGeom prst="rect">
            <a:avLst/>
          </a:prstGeom>
          <a:noFill/>
          <a:ln/>
        </p:spPr>
        <p:txBody>
          <a:bodyPr wrap="square" lIns="0" tIns="0" rIns="0" bIns="0" rtlCol="0" anchor="t"/>
          <a:lstStyle/>
          <a:p>
            <a:pPr indent="0" marL="0">
              <a:lnSpc>
                <a:spcPct val="95000"/>
              </a:lnSpc>
              <a:buNone/>
            </a:pPr>
            <a:r>
              <a:rPr lang="en-US" sz="4600" b="1" dirty="0">
                <a:solidFill>
                  <a:srgbClr val="FFFFFF"/>
                </a:solidFill>
                <a:latin typeface="Cambria" pitchFamily="34" charset="0"/>
                <a:ea typeface="Cambria" pitchFamily="34" charset="-122"/>
                <a:cs typeface="Cambria" pitchFamily="34" charset="-120"/>
              </a:rPr>
              <a:t>µT-Kernel RTOS-Coupled</a:t>
            </a:r>
            <a:endParaRPr lang="en-US" sz="4600" dirty="0"/>
          </a:p>
          <a:p>
            <a:pPr indent="0" marL="0">
              <a:lnSpc>
                <a:spcPct val="95000"/>
              </a:lnSpc>
              <a:buNone/>
            </a:pPr>
            <a:r>
              <a:rPr lang="en-US" sz="4600" b="1" dirty="0">
                <a:solidFill>
                  <a:srgbClr val="FFFFFF"/>
                </a:solidFill>
                <a:latin typeface="Cambria" pitchFamily="34" charset="0"/>
                <a:ea typeface="Cambria" pitchFamily="34" charset="-122"/>
                <a:cs typeface="Cambria" pitchFamily="34" charset="-120"/>
              </a:rPr>
              <a:t>Adaptive Edge AI</a:t>
            </a:r>
            <a:endParaRPr lang="en-US" sz="4600" dirty="0"/>
          </a:p>
        </p:txBody>
      </p:sp>
      <p:sp>
        <p:nvSpPr>
          <p:cNvPr id="6" name="Text 4"/>
          <p:cNvSpPr txBox="1"/>
          <p:nvPr/>
        </p:nvSpPr>
        <p:spPr>
          <a:xfrm>
            <a:off x="640080" y="3794760"/>
            <a:ext cx="8595360" cy="457200"/>
          </a:xfrm>
          <a:prstGeom prst="rect">
            <a:avLst/>
          </a:prstGeom>
          <a:noFill/>
          <a:ln/>
        </p:spPr>
        <p:txBody>
          <a:bodyPr wrap="square" lIns="0" tIns="0" rIns="0" bIns="0" rtlCol="0" anchor="t"/>
          <a:lstStyle/>
          <a:p>
            <a:pPr indent="0" marL="0">
              <a:buNone/>
            </a:pPr>
            <a:r>
              <a:rPr lang="en-US" sz="1700" dirty="0">
                <a:solidFill>
                  <a:srgbClr val="CADCFC"/>
                </a:solidFill>
                <a:latin typeface="Calibri" pitchFamily="34" charset="0"/>
                <a:ea typeface="Calibri" pitchFamily="34" charset="-122"/>
                <a:cs typeface="Calibri" pitchFamily="34" charset="-120"/>
              </a:rPr>
              <a:t>The kernel measures its own silicon and reshapes inference to fit a deadline</a:t>
            </a:r>
            <a:endParaRPr lang="en-US" sz="1700" dirty="0"/>
          </a:p>
        </p:txBody>
      </p:sp>
      <p:sp>
        <p:nvSpPr>
          <p:cNvPr id="7" name="Text 5"/>
          <p:cNvSpPr txBox="1"/>
          <p:nvPr/>
        </p:nvSpPr>
        <p:spPr>
          <a:xfrm>
            <a:off x="64008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86.1 ms</a:t>
            </a:r>
            <a:endParaRPr lang="en-US" sz="2600" dirty="0"/>
          </a:p>
        </p:txBody>
      </p:sp>
      <p:sp>
        <p:nvSpPr>
          <p:cNvPr id="8" name="Text 6"/>
          <p:cNvSpPr txBox="1"/>
          <p:nvPr/>
        </p:nvSpPr>
        <p:spPr>
          <a:xfrm>
            <a:off x="64008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adaptive latency</a:t>
            </a:r>
            <a:endParaRPr lang="en-US" sz="1250" dirty="0"/>
          </a:p>
        </p:txBody>
      </p:sp>
      <p:sp>
        <p:nvSpPr>
          <p:cNvPr id="9" name="Text 7"/>
          <p:cNvSpPr txBox="1"/>
          <p:nvPr/>
        </p:nvSpPr>
        <p:spPr>
          <a:xfrm>
            <a:off x="347472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94.0 %</a:t>
            </a:r>
            <a:endParaRPr lang="en-US" sz="2600" dirty="0"/>
          </a:p>
        </p:txBody>
      </p:sp>
      <p:sp>
        <p:nvSpPr>
          <p:cNvPr id="10" name="Text 8"/>
          <p:cNvSpPr txBox="1"/>
          <p:nvPr/>
        </p:nvSpPr>
        <p:spPr>
          <a:xfrm>
            <a:off x="347472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core accuracy</a:t>
            </a:r>
            <a:endParaRPr lang="en-US" sz="1250" dirty="0"/>
          </a:p>
        </p:txBody>
      </p:sp>
      <p:sp>
        <p:nvSpPr>
          <p:cNvPr id="11" name="Text 9"/>
          <p:cNvSpPr txBox="1"/>
          <p:nvPr/>
        </p:nvSpPr>
        <p:spPr>
          <a:xfrm>
            <a:off x="630936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120 ms</a:t>
            </a:r>
            <a:endParaRPr lang="en-US" sz="2600" dirty="0"/>
          </a:p>
        </p:txBody>
      </p:sp>
      <p:sp>
        <p:nvSpPr>
          <p:cNvPr id="12" name="Text 10"/>
          <p:cNvSpPr txBox="1"/>
          <p:nvPr/>
        </p:nvSpPr>
        <p:spPr>
          <a:xfrm>
            <a:off x="630936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deadline held</a:t>
            </a:r>
            <a:endParaRPr lang="en-US" sz="1250" dirty="0"/>
          </a:p>
        </p:txBody>
      </p:sp>
      <p:sp>
        <p:nvSpPr>
          <p:cNvPr id="13" name="Text 11"/>
          <p:cNvSpPr txBox="1"/>
          <p:nvPr/>
        </p:nvSpPr>
        <p:spPr>
          <a:xfrm>
            <a:off x="640080" y="6035040"/>
            <a:ext cx="10058400" cy="32004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NUCLEO-H533RE</a:t>
            </a:r>
            <a:pPr indent="0" marL="0">
              <a:buNone/>
            </a:pPr>
            <a:r>
              <a:rPr lang="en-US" sz="1350" dirty="0">
                <a:solidFill>
                  <a:srgbClr val="8FA2C4"/>
                </a:solidFill>
                <a:latin typeface="Calibri" pitchFamily="34" charset="0"/>
                <a:ea typeface="Calibri" pitchFamily="34" charset="-122"/>
                <a:cs typeface="Calibri" pitchFamily="34" charset="-120"/>
              </a:rPr>
              <a:t>   Cortex-M33 at 250 MHz   ·   µT-Kernel 3.0   ·   keyword spotting   ·   project code MIT, kernel under T-License</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Every optimisation decision is frozen at compile time</a:t>
            </a:r>
            <a:endParaRPr lang="en-US" sz="3400" dirty="0"/>
          </a:p>
        </p:txBody>
      </p:sp>
      <p:sp>
        <p:nvSpPr>
          <p:cNvPr id="4" name="Text 2"/>
          <p:cNvSpPr txBox="1"/>
          <p:nvPr/>
        </p:nvSpPr>
        <p:spPr>
          <a:xfrm>
            <a:off x="640080" y="1691640"/>
            <a:ext cx="5486400" cy="128016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Deploying a model on a microcontroller means fixing every execution choice before the board has seen a single sample. The RTOS runs the model but does not shape it.</a:t>
            </a:r>
            <a:endParaRPr lang="en-US" sz="1500" dirty="0"/>
          </a:p>
        </p:txBody>
      </p:sp>
      <p:sp>
        <p:nvSpPr>
          <p:cNvPr id="5" name="Text 3"/>
          <p:cNvSpPr txBox="1"/>
          <p:nvPr/>
        </p:nvSpPr>
        <p:spPr>
          <a:xfrm>
            <a:off x="640080" y="3063240"/>
            <a:ext cx="5486400" cy="320040"/>
          </a:xfrm>
          <a:prstGeom prst="rect">
            <a:avLst/>
          </a:prstGeom>
          <a:noFill/>
          <a:ln/>
        </p:spPr>
        <p:txBody>
          <a:bodyPr wrap="square" lIns="0" tIns="0" rIns="0" bIns="0" rtlCol="0" anchor="t"/>
          <a:lstStyle/>
          <a:p>
            <a:pPr indent="0" marL="0">
              <a:buNone/>
            </a:pPr>
            <a:r>
              <a:rPr lang="en-US" sz="1300" b="1" dirty="0">
                <a:solidFill>
                  <a:srgbClr val="12193A"/>
                </a:solidFill>
                <a:latin typeface="Calibri" pitchFamily="34" charset="0"/>
                <a:ea typeface="Calibri" pitchFamily="34" charset="-122"/>
                <a:cs typeface="Calibri" pitchFamily="34" charset="-120"/>
              </a:rPr>
              <a:t>Fixed at build time, and never revisited</a:t>
            </a:r>
            <a:endParaRPr lang="en-US" sz="1300" dirty="0"/>
          </a:p>
        </p:txBody>
      </p:sp>
      <p:sp>
        <p:nvSpPr>
          <p:cNvPr id="6" name="Shape 4"/>
          <p:cNvSpPr/>
          <p:nvPr/>
        </p:nvSpPr>
        <p:spPr>
          <a:xfrm>
            <a:off x="676656" y="3575304"/>
            <a:ext cx="146304" cy="146304"/>
          </a:xfrm>
          <a:prstGeom prst="ellipse">
            <a:avLst/>
          </a:prstGeom>
          <a:solidFill>
            <a:srgbClr val="F6AE2D"/>
          </a:solidFill>
          <a:ln/>
        </p:spPr>
      </p:sp>
      <p:sp>
        <p:nvSpPr>
          <p:cNvPr id="7" name="Text 5"/>
          <p:cNvSpPr txBox="1"/>
          <p:nvPr/>
        </p:nvSpPr>
        <p:spPr>
          <a:xfrm>
            <a:off x="1024128" y="3493008"/>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capture window length</a:t>
            </a:r>
            <a:endParaRPr lang="en-US" sz="1400" dirty="0"/>
          </a:p>
        </p:txBody>
      </p:sp>
      <p:sp>
        <p:nvSpPr>
          <p:cNvPr id="8" name="Shape 6"/>
          <p:cNvSpPr/>
          <p:nvPr/>
        </p:nvSpPr>
        <p:spPr>
          <a:xfrm>
            <a:off x="676656" y="4142232"/>
            <a:ext cx="146304" cy="146304"/>
          </a:xfrm>
          <a:prstGeom prst="ellipse">
            <a:avLst/>
          </a:prstGeom>
          <a:solidFill>
            <a:srgbClr val="F6AE2D"/>
          </a:solidFill>
          <a:ln/>
        </p:spPr>
      </p:sp>
      <p:sp>
        <p:nvSpPr>
          <p:cNvPr id="9" name="Text 7"/>
          <p:cNvSpPr txBox="1"/>
          <p:nvPr/>
        </p:nvSpPr>
        <p:spPr>
          <a:xfrm>
            <a:off x="1024128" y="4059936"/>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whether features are extracted at all</a:t>
            </a:r>
            <a:endParaRPr lang="en-US" sz="1400" dirty="0"/>
          </a:p>
        </p:txBody>
      </p:sp>
      <p:sp>
        <p:nvSpPr>
          <p:cNvPr id="10" name="Shape 8"/>
          <p:cNvSpPr/>
          <p:nvPr/>
        </p:nvSpPr>
        <p:spPr>
          <a:xfrm>
            <a:off x="676656" y="4709160"/>
            <a:ext cx="146304" cy="146304"/>
          </a:xfrm>
          <a:prstGeom prst="ellipse">
            <a:avLst/>
          </a:prstGeom>
          <a:solidFill>
            <a:srgbClr val="F6AE2D"/>
          </a:solidFill>
          <a:ln/>
        </p:spPr>
      </p:sp>
      <p:sp>
        <p:nvSpPr>
          <p:cNvPr id="11" name="Text 9"/>
          <p:cNvSpPr txBox="1"/>
          <p:nvPr/>
        </p:nvSpPr>
        <p:spPr>
          <a:xfrm>
            <a:off x="1024128" y="4626864"/>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task priority ordering</a:t>
            </a:r>
            <a:endParaRPr lang="en-US" sz="1400" dirty="0"/>
          </a:p>
        </p:txBody>
      </p:sp>
      <p:sp>
        <p:nvSpPr>
          <p:cNvPr id="12" name="Shape 10"/>
          <p:cNvSpPr/>
          <p:nvPr/>
        </p:nvSpPr>
        <p:spPr>
          <a:xfrm>
            <a:off x="676656" y="5276088"/>
            <a:ext cx="146304" cy="146304"/>
          </a:xfrm>
          <a:prstGeom prst="ellipse">
            <a:avLst/>
          </a:prstGeom>
          <a:solidFill>
            <a:srgbClr val="F6AE2D"/>
          </a:solidFill>
          <a:ln/>
        </p:spPr>
      </p:sp>
      <p:sp>
        <p:nvSpPr>
          <p:cNvPr id="13" name="Text 11"/>
          <p:cNvSpPr txBox="1"/>
          <p:nvPr/>
        </p:nvSpPr>
        <p:spPr>
          <a:xfrm>
            <a:off x="1024128" y="5193792"/>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numeric precision, every layer</a:t>
            </a:r>
            <a:endParaRPr lang="en-US" sz="1400" dirty="0"/>
          </a:p>
        </p:txBody>
      </p:sp>
      <p:sp>
        <p:nvSpPr>
          <p:cNvPr id="14" name="Shape 12"/>
          <p:cNvSpPr/>
          <p:nvPr/>
        </p:nvSpPr>
        <p:spPr>
          <a:xfrm>
            <a:off x="6720840" y="1691640"/>
            <a:ext cx="4800600" cy="1371600"/>
          </a:xfrm>
          <a:prstGeom prst="roundRect">
            <a:avLst>
              <a:gd name="adj" fmla="val 6667"/>
            </a:avLst>
          </a:prstGeom>
          <a:solidFill>
            <a:srgbClr val="F4F7FC"/>
          </a:solidFill>
          <a:ln/>
        </p:spPr>
      </p:sp>
      <p:sp>
        <p:nvSpPr>
          <p:cNvPr id="15" name="Text 13"/>
          <p:cNvSpPr txBox="1"/>
          <p:nvPr/>
        </p:nvSpPr>
        <p:spPr>
          <a:xfrm>
            <a:off x="7040880" y="2002536"/>
            <a:ext cx="2651760" cy="320040"/>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Static FP32</a:t>
            </a:r>
            <a:endParaRPr lang="en-US" sz="1500" dirty="0"/>
          </a:p>
        </p:txBody>
      </p:sp>
      <p:sp>
        <p:nvSpPr>
          <p:cNvPr id="16" name="Text 14"/>
          <p:cNvSpPr txBox="1"/>
          <p:nvPr/>
        </p:nvSpPr>
        <p:spPr>
          <a:xfrm>
            <a:off x="7040880" y="2350008"/>
            <a:ext cx="2743200" cy="320040"/>
          </a:xfrm>
          <a:prstGeom prst="rect">
            <a:avLst/>
          </a:prstGeom>
          <a:noFill/>
          <a:ln/>
        </p:spPr>
        <p:txBody>
          <a:bodyPr wrap="square" lIns="0" tIns="0" rIns="0" bIns="0" rtlCol="0" anchor="t"/>
          <a:lstStyle/>
          <a:p>
            <a:pPr indent="0" marL="0">
              <a:buNone/>
            </a:pPr>
            <a:r>
              <a:rPr lang="en-US" sz="1300" dirty="0">
                <a:solidFill>
                  <a:srgbClr val="5A6B8C"/>
                </a:solidFill>
                <a:latin typeface="Calibri" pitchFamily="34" charset="0"/>
                <a:ea typeface="Calibri" pitchFamily="34" charset="-122"/>
                <a:cs typeface="Calibri" pitchFamily="34" charset="-120"/>
              </a:rPr>
              <a:t>misses the deadline</a:t>
            </a:r>
            <a:endParaRPr lang="en-US" sz="1300" dirty="0"/>
          </a:p>
        </p:txBody>
      </p:sp>
      <p:sp>
        <p:nvSpPr>
          <p:cNvPr id="17" name="Text 15"/>
          <p:cNvSpPr txBox="1"/>
          <p:nvPr/>
        </p:nvSpPr>
        <p:spPr>
          <a:xfrm>
            <a:off x="9372600" y="2148840"/>
            <a:ext cx="1828800" cy="566928"/>
          </a:xfrm>
          <a:prstGeom prst="rect">
            <a:avLst/>
          </a:prstGeom>
          <a:noFill/>
          <a:ln/>
        </p:spPr>
        <p:txBody>
          <a:bodyPr wrap="square" lIns="0" tIns="0" rIns="0" bIns="0" rtlCol="0" anchor="t"/>
          <a:lstStyle/>
          <a:p>
            <a:pPr algn="r" indent="0" marL="0">
              <a:buNone/>
            </a:pPr>
            <a:r>
              <a:rPr lang="en-US" sz="3000" b="1" dirty="0">
                <a:solidFill>
                  <a:srgbClr val="C0392B"/>
                </a:solidFill>
                <a:latin typeface="Cambria" pitchFamily="34" charset="0"/>
                <a:ea typeface="Cambria" pitchFamily="34" charset="-122"/>
                <a:cs typeface="Cambria" pitchFamily="34" charset="-120"/>
              </a:rPr>
              <a:t>126.7</a:t>
            </a:r>
            <a:pPr algn="r" indent="0" marL="0">
              <a:buNone/>
            </a:pPr>
            <a:r>
              <a:rPr lang="en-US" sz="1700" b="1" dirty="0">
                <a:solidFill>
                  <a:srgbClr val="C0392B"/>
                </a:solidFill>
                <a:latin typeface="Cambria" pitchFamily="34" charset="0"/>
                <a:ea typeface="Cambria" pitchFamily="34" charset="-122"/>
                <a:cs typeface="Cambria" pitchFamily="34" charset="-120"/>
              </a:rPr>
              <a:t> ms</a:t>
            </a:r>
            <a:endParaRPr lang="en-US" sz="3000" dirty="0"/>
          </a:p>
        </p:txBody>
      </p:sp>
      <p:sp>
        <p:nvSpPr>
          <p:cNvPr id="18" name="Shape 16"/>
          <p:cNvSpPr/>
          <p:nvPr/>
        </p:nvSpPr>
        <p:spPr>
          <a:xfrm>
            <a:off x="6720840" y="3264408"/>
            <a:ext cx="4800600" cy="1371600"/>
          </a:xfrm>
          <a:prstGeom prst="roundRect">
            <a:avLst>
              <a:gd name="adj" fmla="val 6667"/>
            </a:avLst>
          </a:prstGeom>
          <a:solidFill>
            <a:srgbClr val="F4F7FC"/>
          </a:solidFill>
          <a:ln/>
        </p:spPr>
      </p:sp>
      <p:sp>
        <p:nvSpPr>
          <p:cNvPr id="19" name="Text 17"/>
          <p:cNvSpPr txBox="1"/>
          <p:nvPr/>
        </p:nvSpPr>
        <p:spPr>
          <a:xfrm>
            <a:off x="7040880" y="3575304"/>
            <a:ext cx="2651760" cy="320040"/>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Static INT8</a:t>
            </a:r>
            <a:endParaRPr lang="en-US" sz="1500" dirty="0"/>
          </a:p>
        </p:txBody>
      </p:sp>
      <p:sp>
        <p:nvSpPr>
          <p:cNvPr id="20" name="Text 18"/>
          <p:cNvSpPr txBox="1"/>
          <p:nvPr/>
        </p:nvSpPr>
        <p:spPr>
          <a:xfrm>
            <a:off x="7040880" y="3922776"/>
            <a:ext cx="2743200" cy="320040"/>
          </a:xfrm>
          <a:prstGeom prst="rect">
            <a:avLst/>
          </a:prstGeom>
          <a:noFill/>
          <a:ln/>
        </p:spPr>
        <p:txBody>
          <a:bodyPr wrap="square" lIns="0" tIns="0" rIns="0" bIns="0" rtlCol="0" anchor="t"/>
          <a:lstStyle/>
          <a:p>
            <a:pPr indent="0" marL="0">
              <a:buNone/>
            </a:pPr>
            <a:r>
              <a:rPr lang="en-US" sz="1300" dirty="0">
                <a:solidFill>
                  <a:srgbClr val="5A6B8C"/>
                </a:solidFill>
                <a:latin typeface="Calibri" pitchFamily="34" charset="0"/>
                <a:ea typeface="Calibri" pitchFamily="34" charset="-122"/>
                <a:cs typeface="Calibri" pitchFamily="34" charset="-120"/>
              </a:rPr>
              <a:t>leaves performance unused</a:t>
            </a:r>
            <a:endParaRPr lang="en-US" sz="1300" dirty="0"/>
          </a:p>
        </p:txBody>
      </p:sp>
      <p:sp>
        <p:nvSpPr>
          <p:cNvPr id="21" name="Text 19"/>
          <p:cNvSpPr txBox="1"/>
          <p:nvPr/>
        </p:nvSpPr>
        <p:spPr>
          <a:xfrm>
            <a:off x="9372600" y="3721608"/>
            <a:ext cx="1828800" cy="566928"/>
          </a:xfrm>
          <a:prstGeom prst="rect">
            <a:avLst/>
          </a:prstGeom>
          <a:noFill/>
          <a:ln/>
        </p:spPr>
        <p:txBody>
          <a:bodyPr wrap="square" lIns="0" tIns="0" rIns="0" bIns="0" rtlCol="0" anchor="t"/>
          <a:lstStyle/>
          <a:p>
            <a:pPr algn="r" indent="0" marL="0">
              <a:buNone/>
            </a:pPr>
            <a:r>
              <a:rPr lang="en-US" sz="3000" b="1" dirty="0">
                <a:solidFill>
                  <a:srgbClr val="1E2761"/>
                </a:solidFill>
                <a:latin typeface="Cambria" pitchFamily="34" charset="0"/>
                <a:ea typeface="Cambria" pitchFamily="34" charset="-122"/>
                <a:cs typeface="Cambria" pitchFamily="34" charset="-120"/>
              </a:rPr>
              <a:t>93.4</a:t>
            </a:r>
            <a:pPr algn="r" indent="0" marL="0">
              <a:buNone/>
            </a:pPr>
            <a:r>
              <a:rPr lang="en-US" sz="1700" b="1" dirty="0">
                <a:solidFill>
                  <a:srgbClr val="1E2761"/>
                </a:solidFill>
                <a:latin typeface="Cambria" pitchFamily="34" charset="0"/>
                <a:ea typeface="Cambria" pitchFamily="34" charset="-122"/>
                <a:cs typeface="Cambria" pitchFamily="34" charset="-120"/>
              </a:rPr>
              <a:t> ms</a:t>
            </a:r>
            <a:endParaRPr lang="en-US" sz="3000" dirty="0"/>
          </a:p>
        </p:txBody>
      </p:sp>
      <p:sp>
        <p:nvSpPr>
          <p:cNvPr id="22" name="Shape 20"/>
          <p:cNvSpPr/>
          <p:nvPr/>
        </p:nvSpPr>
        <p:spPr>
          <a:xfrm>
            <a:off x="6720840" y="4837176"/>
            <a:ext cx="4800600" cy="1207008"/>
          </a:xfrm>
          <a:prstGeom prst="roundRect">
            <a:avLst>
              <a:gd name="adj" fmla="val 7576"/>
            </a:avLst>
          </a:prstGeom>
          <a:solidFill>
            <a:srgbClr val="1E2761"/>
          </a:solidFill>
          <a:ln/>
        </p:spPr>
      </p:sp>
      <p:sp>
        <p:nvSpPr>
          <p:cNvPr id="23" name="Text 21"/>
          <p:cNvSpPr txBox="1"/>
          <p:nvPr/>
        </p:nvSpPr>
        <p:spPr>
          <a:xfrm>
            <a:off x="7040880" y="5138928"/>
            <a:ext cx="4160520"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Neither can express the configuration that is actually best.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IDEA</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Five tasks, and every link is a kernel primitive</a:t>
            </a:r>
            <a:endParaRPr lang="en-US" sz="3400" dirty="0"/>
          </a:p>
        </p:txBody>
      </p:sp>
      <p:sp>
        <p:nvSpPr>
          <p:cNvPr id="4" name="Text 2"/>
          <p:cNvSpPr txBox="1"/>
          <p:nvPr/>
        </p:nvSpPr>
        <p:spPr>
          <a:xfrm>
            <a:off x="640080" y="1627632"/>
            <a:ext cx="10881360" cy="64008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µT-Kernel reads the DWT cycle counter and the signal statistics, then writes back into how the model executes. Each of the four levers is a native kernel call, not a library shim.</a:t>
            </a:r>
            <a:endParaRPr lang="en-US" sz="1500" dirty="0"/>
          </a:p>
        </p:txBody>
      </p:sp>
      <p:sp>
        <p:nvSpPr>
          <p:cNvPr id="5" name="Shape 3"/>
          <p:cNvSpPr/>
          <p:nvPr/>
        </p:nvSpPr>
        <p:spPr>
          <a:xfrm>
            <a:off x="502920" y="2450592"/>
            <a:ext cx="1965960" cy="1234440"/>
          </a:xfrm>
          <a:prstGeom prst="roundRect">
            <a:avLst>
              <a:gd name="adj" fmla="val 7407"/>
            </a:avLst>
          </a:prstGeom>
          <a:solidFill>
            <a:srgbClr val="1E2761"/>
          </a:solidFill>
          <a:ln/>
        </p:spPr>
      </p:sp>
      <p:sp>
        <p:nvSpPr>
          <p:cNvPr id="6" name="Text 4"/>
          <p:cNvSpPr txBox="1"/>
          <p:nvPr/>
        </p:nvSpPr>
        <p:spPr>
          <a:xfrm>
            <a:off x="502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T1</a:t>
            </a:r>
            <a:endParaRPr lang="en-US" sz="2200" dirty="0"/>
          </a:p>
        </p:txBody>
      </p:sp>
      <p:sp>
        <p:nvSpPr>
          <p:cNvPr id="7" name="Text 5"/>
          <p:cNvSpPr txBox="1"/>
          <p:nvPr/>
        </p:nvSpPr>
        <p:spPr>
          <a:xfrm>
            <a:off x="594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DMA ingest</a:t>
            </a:r>
            <a:endParaRPr lang="en-US" sz="1200" dirty="0"/>
          </a:p>
        </p:txBody>
      </p:sp>
      <p:sp>
        <p:nvSpPr>
          <p:cNvPr id="8" name="Shape 6"/>
          <p:cNvSpPr/>
          <p:nvPr/>
        </p:nvSpPr>
        <p:spPr>
          <a:xfrm>
            <a:off x="2514600" y="2967228"/>
            <a:ext cx="228600" cy="201168"/>
          </a:xfrm>
          <a:prstGeom prst="rightArrow">
            <a:avLst/>
          </a:prstGeom>
          <a:solidFill>
            <a:srgbClr val="8FA2C4"/>
          </a:solidFill>
          <a:ln/>
        </p:spPr>
      </p:sp>
      <p:sp>
        <p:nvSpPr>
          <p:cNvPr id="9" name="Shape 7"/>
          <p:cNvSpPr/>
          <p:nvPr/>
        </p:nvSpPr>
        <p:spPr>
          <a:xfrm>
            <a:off x="2788920" y="2450592"/>
            <a:ext cx="1965960" cy="1234440"/>
          </a:xfrm>
          <a:prstGeom prst="roundRect">
            <a:avLst>
              <a:gd name="adj" fmla="val 7407"/>
            </a:avLst>
          </a:prstGeom>
          <a:solidFill>
            <a:srgbClr val="1E2761"/>
          </a:solidFill>
          <a:ln/>
        </p:spPr>
      </p:sp>
      <p:sp>
        <p:nvSpPr>
          <p:cNvPr id="10" name="Text 8"/>
          <p:cNvSpPr txBox="1"/>
          <p:nvPr/>
        </p:nvSpPr>
        <p:spPr>
          <a:xfrm>
            <a:off x="2788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T2</a:t>
            </a:r>
            <a:endParaRPr lang="en-US" sz="2200" dirty="0"/>
          </a:p>
        </p:txBody>
      </p:sp>
      <p:sp>
        <p:nvSpPr>
          <p:cNvPr id="11" name="Text 9"/>
          <p:cNvSpPr txBox="1"/>
          <p:nvPr/>
        </p:nvSpPr>
        <p:spPr>
          <a:xfrm>
            <a:off x="2880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variance + gate</a:t>
            </a:r>
            <a:endParaRPr lang="en-US" sz="1200" dirty="0"/>
          </a:p>
        </p:txBody>
      </p:sp>
      <p:sp>
        <p:nvSpPr>
          <p:cNvPr id="12" name="Shape 10"/>
          <p:cNvSpPr/>
          <p:nvPr/>
        </p:nvSpPr>
        <p:spPr>
          <a:xfrm>
            <a:off x="4800600" y="2967228"/>
            <a:ext cx="228600" cy="201168"/>
          </a:xfrm>
          <a:prstGeom prst="rightArrow">
            <a:avLst/>
          </a:prstGeom>
          <a:solidFill>
            <a:srgbClr val="8FA2C4"/>
          </a:solidFill>
          <a:ln/>
        </p:spPr>
      </p:sp>
      <p:sp>
        <p:nvSpPr>
          <p:cNvPr id="13" name="Shape 11"/>
          <p:cNvSpPr/>
          <p:nvPr/>
        </p:nvSpPr>
        <p:spPr>
          <a:xfrm>
            <a:off x="5074920" y="2450592"/>
            <a:ext cx="1965960" cy="1234440"/>
          </a:xfrm>
          <a:prstGeom prst="roundRect">
            <a:avLst>
              <a:gd name="adj" fmla="val 7407"/>
            </a:avLst>
          </a:prstGeom>
          <a:solidFill>
            <a:srgbClr val="1E2761"/>
          </a:solidFill>
          <a:ln/>
        </p:spPr>
      </p:sp>
      <p:sp>
        <p:nvSpPr>
          <p:cNvPr id="14" name="Text 12"/>
          <p:cNvSpPr txBox="1"/>
          <p:nvPr/>
        </p:nvSpPr>
        <p:spPr>
          <a:xfrm>
            <a:off x="5074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T3</a:t>
            </a:r>
            <a:endParaRPr lang="en-US" sz="2200" dirty="0"/>
          </a:p>
        </p:txBody>
      </p:sp>
      <p:sp>
        <p:nvSpPr>
          <p:cNvPr id="15" name="Text 13"/>
          <p:cNvSpPr txBox="1"/>
          <p:nvPr/>
        </p:nvSpPr>
        <p:spPr>
          <a:xfrm>
            <a:off x="5166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MFCC features</a:t>
            </a:r>
            <a:endParaRPr lang="en-US" sz="1200" dirty="0"/>
          </a:p>
        </p:txBody>
      </p:sp>
      <p:sp>
        <p:nvSpPr>
          <p:cNvPr id="16" name="Shape 14"/>
          <p:cNvSpPr/>
          <p:nvPr/>
        </p:nvSpPr>
        <p:spPr>
          <a:xfrm>
            <a:off x="7086600" y="2967228"/>
            <a:ext cx="228600" cy="201168"/>
          </a:xfrm>
          <a:prstGeom prst="rightArrow">
            <a:avLst/>
          </a:prstGeom>
          <a:solidFill>
            <a:srgbClr val="8FA2C4"/>
          </a:solidFill>
          <a:ln/>
        </p:spPr>
      </p:sp>
      <p:sp>
        <p:nvSpPr>
          <p:cNvPr id="17" name="Shape 15"/>
          <p:cNvSpPr/>
          <p:nvPr/>
        </p:nvSpPr>
        <p:spPr>
          <a:xfrm>
            <a:off x="7360920" y="2450592"/>
            <a:ext cx="1965960" cy="1234440"/>
          </a:xfrm>
          <a:prstGeom prst="roundRect">
            <a:avLst>
              <a:gd name="adj" fmla="val 7407"/>
            </a:avLst>
          </a:prstGeom>
          <a:solidFill>
            <a:srgbClr val="1E2761"/>
          </a:solidFill>
          <a:ln/>
        </p:spPr>
      </p:sp>
      <p:sp>
        <p:nvSpPr>
          <p:cNvPr id="18" name="Text 16"/>
          <p:cNvSpPr txBox="1"/>
          <p:nvPr/>
        </p:nvSpPr>
        <p:spPr>
          <a:xfrm>
            <a:off x="7360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T4</a:t>
            </a:r>
            <a:endParaRPr lang="en-US" sz="2200" dirty="0"/>
          </a:p>
        </p:txBody>
      </p:sp>
      <p:sp>
        <p:nvSpPr>
          <p:cNvPr id="19" name="Text 17"/>
          <p:cNvSpPr txBox="1"/>
          <p:nvPr/>
        </p:nvSpPr>
        <p:spPr>
          <a:xfrm>
            <a:off x="7452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inference</a:t>
            </a:r>
            <a:endParaRPr lang="en-US" sz="1200" dirty="0"/>
          </a:p>
        </p:txBody>
      </p:sp>
      <p:sp>
        <p:nvSpPr>
          <p:cNvPr id="20" name="Shape 18"/>
          <p:cNvSpPr/>
          <p:nvPr/>
        </p:nvSpPr>
        <p:spPr>
          <a:xfrm>
            <a:off x="9372600" y="2967228"/>
            <a:ext cx="228600" cy="201168"/>
          </a:xfrm>
          <a:prstGeom prst="rightArrow">
            <a:avLst/>
          </a:prstGeom>
          <a:solidFill>
            <a:srgbClr val="8FA2C4"/>
          </a:solidFill>
          <a:ln/>
        </p:spPr>
      </p:sp>
      <p:sp>
        <p:nvSpPr>
          <p:cNvPr id="21" name="Shape 19"/>
          <p:cNvSpPr/>
          <p:nvPr/>
        </p:nvSpPr>
        <p:spPr>
          <a:xfrm>
            <a:off x="9646920" y="2450592"/>
            <a:ext cx="1965960" cy="1234440"/>
          </a:xfrm>
          <a:prstGeom prst="roundRect">
            <a:avLst>
              <a:gd name="adj" fmla="val 7407"/>
            </a:avLst>
          </a:prstGeom>
          <a:solidFill>
            <a:srgbClr val="F6AE2D"/>
          </a:solidFill>
          <a:ln/>
        </p:spPr>
      </p:sp>
      <p:sp>
        <p:nvSpPr>
          <p:cNvPr id="22" name="Text 20"/>
          <p:cNvSpPr txBox="1"/>
          <p:nvPr/>
        </p:nvSpPr>
        <p:spPr>
          <a:xfrm>
            <a:off x="9646920" y="2633472"/>
            <a:ext cx="1965960" cy="384048"/>
          </a:xfrm>
          <a:prstGeom prst="rect">
            <a:avLst/>
          </a:prstGeom>
          <a:noFill/>
          <a:ln/>
        </p:spPr>
        <p:txBody>
          <a:bodyPr wrap="square" lIns="0" tIns="0" rIns="0" bIns="0" rtlCol="0" anchor="t"/>
          <a:lstStyle/>
          <a:p>
            <a:pPr algn="ctr" indent="0" marL="0">
              <a:buNone/>
            </a:pPr>
            <a:r>
              <a:rPr lang="en-US" sz="2200" b="1" dirty="0">
                <a:solidFill>
                  <a:srgbClr val="12193A"/>
                </a:solidFill>
                <a:latin typeface="Cambria" pitchFamily="34" charset="0"/>
                <a:ea typeface="Cambria" pitchFamily="34" charset="-122"/>
                <a:cs typeface="Cambria" pitchFamily="34" charset="-120"/>
              </a:rPr>
              <a:t>T5</a:t>
            </a:r>
            <a:endParaRPr lang="en-US" sz="2200" dirty="0"/>
          </a:p>
        </p:txBody>
      </p:sp>
      <p:sp>
        <p:nvSpPr>
          <p:cNvPr id="23" name="Text 21"/>
          <p:cNvSpPr txBox="1"/>
          <p:nvPr/>
        </p:nvSpPr>
        <p:spPr>
          <a:xfrm>
            <a:off x="9738360" y="3090672"/>
            <a:ext cx="1783080" cy="411480"/>
          </a:xfrm>
          <a:prstGeom prst="rect">
            <a:avLst/>
          </a:prstGeom>
          <a:noFill/>
          <a:ln/>
        </p:spPr>
        <p:txBody>
          <a:bodyPr wrap="square" lIns="0" tIns="0" rIns="0" bIns="0" rtlCol="0" anchor="t"/>
          <a:lstStyle/>
          <a:p>
            <a:pPr algn="ctr" indent="0" marL="0">
              <a:buNone/>
            </a:pPr>
            <a:r>
              <a:rPr lang="en-US" sz="1200" dirty="0">
                <a:solidFill>
                  <a:srgbClr val="12193A"/>
                </a:solidFill>
                <a:latin typeface="Calibri" pitchFamily="34" charset="0"/>
                <a:ea typeface="Calibri" pitchFamily="34" charset="-122"/>
                <a:cs typeface="Calibri" pitchFamily="34" charset="-120"/>
              </a:rPr>
              <a:t>controller</a:t>
            </a:r>
            <a:endParaRPr lang="en-US" sz="1200" dirty="0"/>
          </a:p>
        </p:txBody>
      </p:sp>
      <p:sp>
        <p:nvSpPr>
          <p:cNvPr id="24" name="Shape 22"/>
          <p:cNvSpPr/>
          <p:nvPr/>
        </p:nvSpPr>
        <p:spPr>
          <a:xfrm>
            <a:off x="502920" y="3913632"/>
            <a:ext cx="11109960" cy="457200"/>
          </a:xfrm>
          <a:prstGeom prst="leftArrow">
            <a:avLst/>
          </a:prstGeom>
          <a:solidFill>
            <a:srgbClr val="F6AE2D"/>
          </a:solidFill>
          <a:ln/>
        </p:spPr>
      </p:sp>
      <p:sp>
        <p:nvSpPr>
          <p:cNvPr id="25" name="Text 23"/>
          <p:cNvSpPr txBox="1"/>
          <p:nvPr/>
        </p:nvSpPr>
        <p:spPr>
          <a:xfrm>
            <a:off x="502920" y="3913632"/>
            <a:ext cx="11109960" cy="457200"/>
          </a:xfrm>
          <a:prstGeom prst="rect">
            <a:avLst/>
          </a:prstGeom>
          <a:noFill/>
          <a:ln/>
        </p:spPr>
        <p:txBody>
          <a:bodyPr wrap="square" lIns="0" tIns="0" rIns="0" bIns="0" rtlCol="0" anchor="ctr"/>
          <a:lstStyle/>
          <a:p>
            <a:pPr algn="ctr" indent="0" marL="0">
              <a:buNone/>
            </a:pPr>
            <a:r>
              <a:rPr lang="en-US" sz="1350" b="1" dirty="0">
                <a:solidFill>
                  <a:srgbClr val="12193A"/>
                </a:solidFill>
                <a:latin typeface="Calibri" pitchFamily="34" charset="0"/>
                <a:ea typeface="Calibri" pitchFamily="34" charset="-122"/>
                <a:cs typeface="Calibri" pitchFamily="34" charset="-120"/>
              </a:rPr>
              <a:t>T5 measures, then writes back into all four levers</a:t>
            </a:r>
            <a:endParaRPr lang="en-US" sz="1350" dirty="0"/>
          </a:p>
        </p:txBody>
      </p:sp>
      <p:sp>
        <p:nvSpPr>
          <p:cNvPr id="26" name="Shape 24"/>
          <p:cNvSpPr/>
          <p:nvPr/>
        </p:nvSpPr>
        <p:spPr>
          <a:xfrm>
            <a:off x="502920" y="4617720"/>
            <a:ext cx="2571750" cy="1051560"/>
          </a:xfrm>
          <a:prstGeom prst="roundRect">
            <a:avLst>
              <a:gd name="adj" fmla="val 8696"/>
            </a:avLst>
          </a:prstGeom>
          <a:solidFill>
            <a:srgbClr val="F4F7FC"/>
          </a:solidFill>
          <a:ln/>
        </p:spPr>
      </p:sp>
      <p:sp>
        <p:nvSpPr>
          <p:cNvPr id="27" name="Text 25"/>
          <p:cNvSpPr txBox="1"/>
          <p:nvPr/>
        </p:nvSpPr>
        <p:spPr>
          <a:xfrm>
            <a:off x="75895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tk_snd_mbx</a:t>
            </a:r>
            <a:endParaRPr lang="en-US" sz="1500" dirty="0"/>
          </a:p>
        </p:txBody>
      </p:sp>
      <p:sp>
        <p:nvSpPr>
          <p:cNvPr id="28" name="Text 26"/>
          <p:cNvSpPr txBox="1"/>
          <p:nvPr/>
        </p:nvSpPr>
        <p:spPr>
          <a:xfrm>
            <a:off x="75895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capture window resize</a:t>
            </a:r>
            <a:endParaRPr lang="en-US" sz="1250" dirty="0"/>
          </a:p>
        </p:txBody>
      </p:sp>
      <p:sp>
        <p:nvSpPr>
          <p:cNvPr id="29" name="Shape 27"/>
          <p:cNvSpPr/>
          <p:nvPr/>
        </p:nvSpPr>
        <p:spPr>
          <a:xfrm>
            <a:off x="3348990" y="4617720"/>
            <a:ext cx="2571750" cy="1051560"/>
          </a:xfrm>
          <a:prstGeom prst="roundRect">
            <a:avLst>
              <a:gd name="adj" fmla="val 8696"/>
            </a:avLst>
          </a:prstGeom>
          <a:solidFill>
            <a:srgbClr val="F4F7FC"/>
          </a:solidFill>
          <a:ln/>
        </p:spPr>
      </p:sp>
      <p:sp>
        <p:nvSpPr>
          <p:cNvPr id="30" name="Text 28"/>
          <p:cNvSpPr txBox="1"/>
          <p:nvPr/>
        </p:nvSpPr>
        <p:spPr>
          <a:xfrm>
            <a:off x="360502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tk_ref_flg</a:t>
            </a:r>
            <a:endParaRPr lang="en-US" sz="1500" dirty="0"/>
          </a:p>
        </p:txBody>
      </p:sp>
      <p:sp>
        <p:nvSpPr>
          <p:cNvPr id="31" name="Text 29"/>
          <p:cNvSpPr txBox="1"/>
          <p:nvPr/>
        </p:nvSpPr>
        <p:spPr>
          <a:xfrm>
            <a:off x="360502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feature gate</a:t>
            </a:r>
            <a:endParaRPr lang="en-US" sz="1250" dirty="0"/>
          </a:p>
        </p:txBody>
      </p:sp>
      <p:sp>
        <p:nvSpPr>
          <p:cNvPr id="32" name="Shape 30"/>
          <p:cNvSpPr/>
          <p:nvPr/>
        </p:nvSpPr>
        <p:spPr>
          <a:xfrm>
            <a:off x="6195060" y="4617720"/>
            <a:ext cx="2571750" cy="1051560"/>
          </a:xfrm>
          <a:prstGeom prst="roundRect">
            <a:avLst>
              <a:gd name="adj" fmla="val 8696"/>
            </a:avLst>
          </a:prstGeom>
          <a:solidFill>
            <a:srgbClr val="F4F7FC"/>
          </a:solidFill>
          <a:ln/>
        </p:spPr>
      </p:sp>
      <p:sp>
        <p:nvSpPr>
          <p:cNvPr id="33" name="Text 31"/>
          <p:cNvSpPr txBox="1"/>
          <p:nvPr/>
        </p:nvSpPr>
        <p:spPr>
          <a:xfrm>
            <a:off x="645109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tk_chg_pri</a:t>
            </a:r>
            <a:endParaRPr lang="en-US" sz="1500" dirty="0"/>
          </a:p>
        </p:txBody>
      </p:sp>
      <p:sp>
        <p:nvSpPr>
          <p:cNvPr id="34" name="Text 32"/>
          <p:cNvSpPr txBox="1"/>
          <p:nvPr/>
        </p:nvSpPr>
        <p:spPr>
          <a:xfrm>
            <a:off x="645109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task urgency</a:t>
            </a:r>
            <a:endParaRPr lang="en-US" sz="1250" dirty="0"/>
          </a:p>
        </p:txBody>
      </p:sp>
      <p:sp>
        <p:nvSpPr>
          <p:cNvPr id="35" name="Shape 33"/>
          <p:cNvSpPr/>
          <p:nvPr/>
        </p:nvSpPr>
        <p:spPr>
          <a:xfrm>
            <a:off x="9041130" y="4617720"/>
            <a:ext cx="2571750" cy="1051560"/>
          </a:xfrm>
          <a:prstGeom prst="roundRect">
            <a:avLst>
              <a:gd name="adj" fmla="val 8696"/>
            </a:avLst>
          </a:prstGeom>
          <a:solidFill>
            <a:srgbClr val="F4F7FC"/>
          </a:solidFill>
          <a:ln/>
        </p:spPr>
      </p:sp>
      <p:sp>
        <p:nvSpPr>
          <p:cNvPr id="36" name="Text 34"/>
          <p:cNvSpPr txBox="1"/>
          <p:nvPr/>
        </p:nvSpPr>
        <p:spPr>
          <a:xfrm>
            <a:off x="929716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tk_get_mpl</a:t>
            </a:r>
            <a:endParaRPr lang="en-US" sz="1500" dirty="0"/>
          </a:p>
        </p:txBody>
      </p:sp>
      <p:sp>
        <p:nvSpPr>
          <p:cNvPr id="37" name="Text 35"/>
          <p:cNvSpPr txBox="1"/>
          <p:nvPr/>
        </p:nvSpPr>
        <p:spPr>
          <a:xfrm>
            <a:off x="929716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layer weight streaming</a:t>
            </a:r>
            <a:endParaRPr lang="en-US" sz="1250" dirty="0"/>
          </a:p>
        </p:txBody>
      </p:sp>
      <p:sp>
        <p:nvSpPr>
          <p:cNvPr id="38" name="Text 36"/>
          <p:cNvSpPr txBox="1"/>
          <p:nvPr/>
        </p:nvSpPr>
        <p:spPr>
          <a:xfrm>
            <a:off x="640080" y="5943600"/>
            <a:ext cx="10881360" cy="365760"/>
          </a:xfrm>
          <a:prstGeom prst="rect">
            <a:avLst/>
          </a:prstGeom>
          <a:noFill/>
          <a:ln/>
        </p:spPr>
        <p:txBody>
          <a:bodyPr wrap="square" lIns="0" tIns="0" rIns="0" bIns="0" rtlCol="0" anchor="t"/>
          <a:lstStyle/>
          <a:p>
            <a:pPr indent="0" marL="0">
              <a:buNone/>
            </a:pPr>
            <a:r>
              <a:rPr lang="en-US" sz="1400" i="1" dirty="0">
                <a:solidFill>
                  <a:srgbClr val="5A6B8C"/>
                </a:solidFill>
                <a:latin typeface="Calibri" pitchFamily="34" charset="0"/>
                <a:ea typeface="Calibri" pitchFamily="34" charset="-122"/>
                <a:cs typeface="Calibri" pitchFamily="34" charset="-120"/>
              </a:rPr>
              <a:t>Every stage handoff is tk_set_flg and tk_wai_flg. Remove the kernel and the adaptive loop does not degrade, it stops.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MEASURED ON HARDWARE</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adaptive point is faster than either static build</a:t>
            </a:r>
            <a:endParaRPr lang="en-US" sz="3400" dirty="0"/>
          </a:p>
        </p:txBody>
      </p:sp>
      <p:sp>
        <p:nvSpPr>
          <p:cNvPr id="4" name="Text 2"/>
          <p:cNvSpPr txBox="1"/>
          <p:nvPr/>
        </p:nvSpPr>
        <p:spPr>
          <a:xfrm>
            <a:off x="960120" y="1783080"/>
            <a:ext cx="23774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CONFIGURATION</a:t>
            </a:r>
            <a:endParaRPr lang="en-US" sz="1100" dirty="0"/>
          </a:p>
        </p:txBody>
      </p:sp>
      <p:sp>
        <p:nvSpPr>
          <p:cNvPr id="5" name="Text 3"/>
          <p:cNvSpPr txBox="1"/>
          <p:nvPr/>
        </p:nvSpPr>
        <p:spPr>
          <a:xfrm>
            <a:off x="3429000" y="1783080"/>
            <a:ext cx="14630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LATENCY</a:t>
            </a:r>
            <a:endParaRPr lang="en-US" sz="1100" dirty="0"/>
          </a:p>
        </p:txBody>
      </p:sp>
      <p:sp>
        <p:nvSpPr>
          <p:cNvPr id="6" name="Text 4"/>
          <p:cNvSpPr txBox="1"/>
          <p:nvPr/>
        </p:nvSpPr>
        <p:spPr>
          <a:xfrm>
            <a:off x="4983480" y="1783080"/>
            <a:ext cx="14630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DEADLINE</a:t>
            </a:r>
            <a:endParaRPr lang="en-US" sz="1100" dirty="0"/>
          </a:p>
        </p:txBody>
      </p:sp>
      <p:sp>
        <p:nvSpPr>
          <p:cNvPr id="7" name="Text 5"/>
          <p:cNvSpPr txBox="1"/>
          <p:nvPr/>
        </p:nvSpPr>
        <p:spPr>
          <a:xfrm>
            <a:off x="6446520" y="1783080"/>
            <a:ext cx="118872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CORE IDLE</a:t>
            </a:r>
            <a:endParaRPr lang="en-US" sz="1100" dirty="0"/>
          </a:p>
        </p:txBody>
      </p:sp>
      <p:sp>
        <p:nvSpPr>
          <p:cNvPr id="8" name="Shape 6"/>
          <p:cNvSpPr/>
          <p:nvPr/>
        </p:nvSpPr>
        <p:spPr>
          <a:xfrm>
            <a:off x="640080" y="2185416"/>
            <a:ext cx="6949440" cy="768096"/>
          </a:xfrm>
          <a:prstGeom prst="roundRect">
            <a:avLst>
              <a:gd name="adj" fmla="val 11905"/>
            </a:avLst>
          </a:prstGeom>
          <a:solidFill>
            <a:srgbClr val="F4F7FC"/>
          </a:solidFill>
          <a:ln/>
        </p:spPr>
      </p:sp>
      <p:sp>
        <p:nvSpPr>
          <p:cNvPr id="9" name="Text 7"/>
          <p:cNvSpPr txBox="1"/>
          <p:nvPr/>
        </p:nvSpPr>
        <p:spPr>
          <a:xfrm>
            <a:off x="960120" y="2423160"/>
            <a:ext cx="2377440" cy="365760"/>
          </a:xfrm>
          <a:prstGeom prst="rect">
            <a:avLst/>
          </a:prstGeom>
          <a:noFill/>
          <a:ln/>
        </p:spPr>
        <p:txBody>
          <a:bodyPr wrap="square" lIns="0" tIns="0" rIns="0" bIns="0" rtlCol="0" anchor="t"/>
          <a:lstStyle/>
          <a:p>
            <a:pPr indent="0" marL="0">
              <a:buNone/>
            </a:pPr>
            <a:r>
              <a:rPr lang="en-US" sz="1500" dirty="0">
                <a:solidFill>
                  <a:srgbClr val="12193A"/>
                </a:solidFill>
                <a:latin typeface="Calibri" pitchFamily="34" charset="0"/>
                <a:ea typeface="Calibri" pitchFamily="34" charset="-122"/>
                <a:cs typeface="Calibri" pitchFamily="34" charset="-120"/>
              </a:rPr>
              <a:t>Static FP32</a:t>
            </a:r>
            <a:endParaRPr lang="en-US" sz="1500" dirty="0"/>
          </a:p>
        </p:txBody>
      </p:sp>
      <p:sp>
        <p:nvSpPr>
          <p:cNvPr id="10" name="Text 8"/>
          <p:cNvSpPr txBox="1"/>
          <p:nvPr/>
        </p:nvSpPr>
        <p:spPr>
          <a:xfrm>
            <a:off x="3429000" y="2368296"/>
            <a:ext cx="1554480" cy="420624"/>
          </a:xfrm>
          <a:prstGeom prst="rect">
            <a:avLst/>
          </a:prstGeom>
          <a:noFill/>
          <a:ln/>
        </p:spPr>
        <p:txBody>
          <a:bodyPr wrap="square" lIns="0" tIns="0" rIns="0" bIns="0" rtlCol="0" anchor="t"/>
          <a:lstStyle/>
          <a:p>
            <a:pPr indent="0" marL="0">
              <a:buNone/>
            </a:pPr>
            <a:r>
              <a:rPr lang="en-US" sz="2000" b="1" dirty="0">
                <a:solidFill>
                  <a:srgbClr val="12193A"/>
                </a:solidFill>
                <a:latin typeface="Cambria" pitchFamily="34" charset="0"/>
                <a:ea typeface="Cambria" pitchFamily="34" charset="-122"/>
                <a:cs typeface="Cambria" pitchFamily="34" charset="-120"/>
              </a:rPr>
              <a:t>126.7 ms</a:t>
            </a:r>
            <a:endParaRPr lang="en-US" sz="2000" dirty="0"/>
          </a:p>
        </p:txBody>
      </p:sp>
      <p:sp>
        <p:nvSpPr>
          <p:cNvPr id="11" name="Text 9"/>
          <p:cNvSpPr txBox="1"/>
          <p:nvPr/>
        </p:nvSpPr>
        <p:spPr>
          <a:xfrm>
            <a:off x="4983480" y="2423160"/>
            <a:ext cx="1554480" cy="365760"/>
          </a:xfrm>
          <a:prstGeom prst="rect">
            <a:avLst/>
          </a:prstGeom>
          <a:noFill/>
          <a:ln/>
        </p:spPr>
        <p:txBody>
          <a:bodyPr wrap="square" lIns="0" tIns="0" rIns="0" bIns="0" rtlCol="0" anchor="t"/>
          <a:lstStyle/>
          <a:p>
            <a:pPr indent="0" marL="0">
              <a:buNone/>
            </a:pPr>
            <a:r>
              <a:rPr lang="en-US" sz="1400" b="1" dirty="0">
                <a:solidFill>
                  <a:srgbClr val="C0392B"/>
                </a:solidFill>
                <a:latin typeface="Calibri" pitchFamily="34" charset="0"/>
                <a:ea typeface="Calibri" pitchFamily="34" charset="-122"/>
                <a:cs typeface="Calibri" pitchFamily="34" charset="-120"/>
              </a:rPr>
              <a:t>missed</a:t>
            </a:r>
            <a:endParaRPr lang="en-US" sz="1400" dirty="0"/>
          </a:p>
        </p:txBody>
      </p:sp>
      <p:sp>
        <p:nvSpPr>
          <p:cNvPr id="12" name="Text 10"/>
          <p:cNvSpPr txBox="1"/>
          <p:nvPr/>
        </p:nvSpPr>
        <p:spPr>
          <a:xfrm>
            <a:off x="6446520" y="2423160"/>
            <a:ext cx="118872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23.6 %</a:t>
            </a:r>
            <a:endParaRPr lang="en-US" sz="1400" dirty="0"/>
          </a:p>
        </p:txBody>
      </p:sp>
      <p:sp>
        <p:nvSpPr>
          <p:cNvPr id="13" name="Shape 11"/>
          <p:cNvSpPr/>
          <p:nvPr/>
        </p:nvSpPr>
        <p:spPr>
          <a:xfrm>
            <a:off x="640080" y="3081528"/>
            <a:ext cx="6949440" cy="768096"/>
          </a:xfrm>
          <a:prstGeom prst="roundRect">
            <a:avLst>
              <a:gd name="adj" fmla="val 11905"/>
            </a:avLst>
          </a:prstGeom>
          <a:solidFill>
            <a:srgbClr val="F4F7FC"/>
          </a:solidFill>
          <a:ln/>
        </p:spPr>
      </p:sp>
      <p:sp>
        <p:nvSpPr>
          <p:cNvPr id="14" name="Text 12"/>
          <p:cNvSpPr txBox="1"/>
          <p:nvPr/>
        </p:nvSpPr>
        <p:spPr>
          <a:xfrm>
            <a:off x="960120" y="3319272"/>
            <a:ext cx="2377440" cy="365760"/>
          </a:xfrm>
          <a:prstGeom prst="rect">
            <a:avLst/>
          </a:prstGeom>
          <a:noFill/>
          <a:ln/>
        </p:spPr>
        <p:txBody>
          <a:bodyPr wrap="square" lIns="0" tIns="0" rIns="0" bIns="0" rtlCol="0" anchor="t"/>
          <a:lstStyle/>
          <a:p>
            <a:pPr indent="0" marL="0">
              <a:buNone/>
            </a:pPr>
            <a:r>
              <a:rPr lang="en-US" sz="1500" dirty="0">
                <a:solidFill>
                  <a:srgbClr val="12193A"/>
                </a:solidFill>
                <a:latin typeface="Calibri" pitchFamily="34" charset="0"/>
                <a:ea typeface="Calibri" pitchFamily="34" charset="-122"/>
                <a:cs typeface="Calibri" pitchFamily="34" charset="-120"/>
              </a:rPr>
              <a:t>Static INT8</a:t>
            </a:r>
            <a:endParaRPr lang="en-US" sz="1500" dirty="0"/>
          </a:p>
        </p:txBody>
      </p:sp>
      <p:sp>
        <p:nvSpPr>
          <p:cNvPr id="15" name="Text 13"/>
          <p:cNvSpPr txBox="1"/>
          <p:nvPr/>
        </p:nvSpPr>
        <p:spPr>
          <a:xfrm>
            <a:off x="3429000" y="3264408"/>
            <a:ext cx="1554480" cy="420624"/>
          </a:xfrm>
          <a:prstGeom prst="rect">
            <a:avLst/>
          </a:prstGeom>
          <a:noFill/>
          <a:ln/>
        </p:spPr>
        <p:txBody>
          <a:bodyPr wrap="square" lIns="0" tIns="0" rIns="0" bIns="0" rtlCol="0" anchor="t"/>
          <a:lstStyle/>
          <a:p>
            <a:pPr indent="0" marL="0">
              <a:buNone/>
            </a:pPr>
            <a:r>
              <a:rPr lang="en-US" sz="2000" b="1" dirty="0">
                <a:solidFill>
                  <a:srgbClr val="12193A"/>
                </a:solidFill>
                <a:latin typeface="Cambria" pitchFamily="34" charset="0"/>
                <a:ea typeface="Cambria" pitchFamily="34" charset="-122"/>
                <a:cs typeface="Cambria" pitchFamily="34" charset="-120"/>
              </a:rPr>
              <a:t>93.4 ms</a:t>
            </a:r>
            <a:endParaRPr lang="en-US" sz="2000" dirty="0"/>
          </a:p>
        </p:txBody>
      </p:sp>
      <p:sp>
        <p:nvSpPr>
          <p:cNvPr id="16" name="Text 14"/>
          <p:cNvSpPr txBox="1"/>
          <p:nvPr/>
        </p:nvSpPr>
        <p:spPr>
          <a:xfrm>
            <a:off x="4983480" y="3319272"/>
            <a:ext cx="1554480" cy="365760"/>
          </a:xfrm>
          <a:prstGeom prst="rect">
            <a:avLst/>
          </a:prstGeom>
          <a:noFill/>
          <a:ln/>
        </p:spPr>
        <p:txBody>
          <a:bodyPr wrap="square" lIns="0" tIns="0" rIns="0" bIns="0" rtlCol="0" anchor="t"/>
          <a:lstStyle/>
          <a:p>
            <a:pPr indent="0" marL="0">
              <a:buNone/>
            </a:pPr>
            <a:r>
              <a:rPr lang="en-US" sz="1400" b="1" dirty="0">
                <a:solidFill>
                  <a:srgbClr val="2C7A4B"/>
                </a:solidFill>
                <a:latin typeface="Calibri" pitchFamily="34" charset="0"/>
                <a:ea typeface="Calibri" pitchFamily="34" charset="-122"/>
                <a:cs typeface="Calibri" pitchFamily="34" charset="-120"/>
              </a:rPr>
              <a:t>met</a:t>
            </a:r>
            <a:endParaRPr lang="en-US" sz="1400" dirty="0"/>
          </a:p>
        </p:txBody>
      </p:sp>
      <p:sp>
        <p:nvSpPr>
          <p:cNvPr id="17" name="Text 15"/>
          <p:cNvSpPr txBox="1"/>
          <p:nvPr/>
        </p:nvSpPr>
        <p:spPr>
          <a:xfrm>
            <a:off x="6446520" y="3319272"/>
            <a:ext cx="118872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42.5 %</a:t>
            </a:r>
            <a:endParaRPr lang="en-US" sz="1400" dirty="0"/>
          </a:p>
        </p:txBody>
      </p:sp>
      <p:sp>
        <p:nvSpPr>
          <p:cNvPr id="18" name="Shape 16"/>
          <p:cNvSpPr/>
          <p:nvPr/>
        </p:nvSpPr>
        <p:spPr>
          <a:xfrm>
            <a:off x="640080" y="3977640"/>
            <a:ext cx="6949440" cy="768096"/>
          </a:xfrm>
          <a:prstGeom prst="roundRect">
            <a:avLst>
              <a:gd name="adj" fmla="val 11905"/>
            </a:avLst>
          </a:prstGeom>
          <a:solidFill>
            <a:srgbClr val="1E2761"/>
          </a:solidFill>
          <a:ln/>
        </p:spPr>
      </p:sp>
      <p:sp>
        <p:nvSpPr>
          <p:cNvPr id="19" name="Text 17"/>
          <p:cNvSpPr txBox="1"/>
          <p:nvPr/>
        </p:nvSpPr>
        <p:spPr>
          <a:xfrm>
            <a:off x="960120" y="4215384"/>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Adaptive</a:t>
            </a:r>
            <a:endParaRPr lang="en-US" sz="1500" dirty="0"/>
          </a:p>
        </p:txBody>
      </p:sp>
      <p:sp>
        <p:nvSpPr>
          <p:cNvPr id="20" name="Text 18"/>
          <p:cNvSpPr txBox="1"/>
          <p:nvPr/>
        </p:nvSpPr>
        <p:spPr>
          <a:xfrm>
            <a:off x="3429000" y="4160520"/>
            <a:ext cx="1554480" cy="420624"/>
          </a:xfrm>
          <a:prstGeom prst="rect">
            <a:avLst/>
          </a:prstGeom>
          <a:noFill/>
          <a:ln/>
        </p:spPr>
        <p:txBody>
          <a:bodyPr wrap="square" lIns="0" tIns="0" rIns="0" bIns="0" rtlCol="0" anchor="t"/>
          <a:lstStyle/>
          <a:p>
            <a:pPr indent="0" marL="0">
              <a:buNone/>
            </a:pPr>
            <a:r>
              <a:rPr lang="en-US" sz="2000" b="1" dirty="0">
                <a:solidFill>
                  <a:srgbClr val="F6AE2D"/>
                </a:solidFill>
                <a:latin typeface="Cambria" pitchFamily="34" charset="0"/>
                <a:ea typeface="Cambria" pitchFamily="34" charset="-122"/>
                <a:cs typeface="Cambria" pitchFamily="34" charset="-120"/>
              </a:rPr>
              <a:t>86.1 ms</a:t>
            </a:r>
            <a:endParaRPr lang="en-US" sz="2000" dirty="0"/>
          </a:p>
        </p:txBody>
      </p:sp>
      <p:sp>
        <p:nvSpPr>
          <p:cNvPr id="21" name="Text 19"/>
          <p:cNvSpPr txBox="1"/>
          <p:nvPr/>
        </p:nvSpPr>
        <p:spPr>
          <a:xfrm>
            <a:off x="4983480" y="4215384"/>
            <a:ext cx="1554480" cy="36576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met</a:t>
            </a:r>
            <a:endParaRPr lang="en-US" sz="1400" dirty="0"/>
          </a:p>
        </p:txBody>
      </p:sp>
      <p:sp>
        <p:nvSpPr>
          <p:cNvPr id="22" name="Text 20"/>
          <p:cNvSpPr txBox="1"/>
          <p:nvPr/>
        </p:nvSpPr>
        <p:spPr>
          <a:xfrm>
            <a:off x="6446520" y="4215384"/>
            <a:ext cx="1188720" cy="36576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49.8 %</a:t>
            </a:r>
            <a:endParaRPr lang="en-US" sz="1400" dirty="0"/>
          </a:p>
        </p:txBody>
      </p:sp>
      <p:sp>
        <p:nvSpPr>
          <p:cNvPr id="23" name="Shape 21"/>
          <p:cNvSpPr/>
          <p:nvPr/>
        </p:nvSpPr>
        <p:spPr>
          <a:xfrm>
            <a:off x="8001000" y="2185416"/>
            <a:ext cx="3520440" cy="2560320"/>
          </a:xfrm>
          <a:prstGeom prst="roundRect">
            <a:avLst>
              <a:gd name="adj" fmla="val 3571"/>
            </a:avLst>
          </a:prstGeom>
          <a:solidFill>
            <a:srgbClr val="F6AE2D"/>
          </a:solidFill>
          <a:ln/>
        </p:spPr>
      </p:sp>
      <p:sp>
        <p:nvSpPr>
          <p:cNvPr id="24" name="Text 22"/>
          <p:cNvSpPr txBox="1"/>
          <p:nvPr/>
        </p:nvSpPr>
        <p:spPr>
          <a:xfrm>
            <a:off x="8293608" y="2688336"/>
            <a:ext cx="2935224" cy="822960"/>
          </a:xfrm>
          <a:prstGeom prst="rect">
            <a:avLst/>
          </a:prstGeom>
          <a:noFill/>
          <a:ln/>
        </p:spPr>
        <p:txBody>
          <a:bodyPr wrap="square" lIns="0" tIns="0" rIns="0" bIns="0" rtlCol="0" anchor="t"/>
          <a:lstStyle/>
          <a:p>
            <a:pPr indent="0" marL="0">
              <a:buNone/>
            </a:pPr>
            <a:r>
              <a:rPr lang="en-US" sz="4400" b="1" dirty="0">
                <a:solidFill>
                  <a:srgbClr val="12193A"/>
                </a:solidFill>
                <a:latin typeface="Cambria" pitchFamily="34" charset="0"/>
                <a:ea typeface="Cambria" pitchFamily="34" charset="-122"/>
                <a:cs typeface="Cambria" pitchFamily="34" charset="-120"/>
              </a:rPr>
              <a:t>86.1 ms</a:t>
            </a:r>
            <a:endParaRPr lang="en-US" sz="4400" dirty="0"/>
          </a:p>
        </p:txBody>
      </p:sp>
      <p:sp>
        <p:nvSpPr>
          <p:cNvPr id="25" name="Text 23"/>
          <p:cNvSpPr txBox="1"/>
          <p:nvPr/>
        </p:nvSpPr>
        <p:spPr>
          <a:xfrm>
            <a:off x="8293608" y="3602736"/>
            <a:ext cx="2935224" cy="868680"/>
          </a:xfrm>
          <a:prstGeom prst="rect">
            <a:avLst/>
          </a:prstGeom>
          <a:noFill/>
          <a:ln/>
        </p:spPr>
        <p:txBody>
          <a:bodyPr wrap="square" lIns="0" tIns="0" rIns="0" bIns="0" rtlCol="0" anchor="t"/>
          <a:lstStyle/>
          <a:p>
            <a:pPr indent="0" marL="0">
              <a:lnSpc>
                <a:spcPct val="118000"/>
              </a:lnSpc>
              <a:buNone/>
            </a:pPr>
            <a:r>
              <a:rPr lang="en-US" sz="1400" dirty="0">
                <a:solidFill>
                  <a:srgbClr val="6B4E0A"/>
                </a:solidFill>
                <a:latin typeface="Calibri" pitchFamily="34" charset="0"/>
                <a:ea typeface="Calibri" pitchFamily="34" charset="-122"/>
                <a:cs typeface="Calibri" pitchFamily="34" charset="-120"/>
              </a:rPr>
              <a:t>faster than the best static compile, at identical accuracy</a:t>
            </a:r>
            <a:endParaRPr lang="en-US" sz="1400" dirty="0"/>
          </a:p>
        </p:txBody>
      </p:sp>
      <p:sp>
        <p:nvSpPr>
          <p:cNvPr id="26" name="Text 24"/>
          <p:cNvSpPr txBox="1"/>
          <p:nvPr/>
        </p:nvSpPr>
        <p:spPr>
          <a:xfrm>
            <a:off x="640080" y="5212080"/>
            <a:ext cx="1088136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The deadline is the classification period itself, derived from the inference stride, not chosen after seeing the costs.</a:t>
            </a:r>
            <a:endParaRPr lang="en-US" sz="1400" dirty="0"/>
          </a:p>
        </p:txBody>
      </p:sp>
      <p:sp>
        <p:nvSpPr>
          <p:cNvPr id="27" name="Text 25"/>
          <p:cNvSpPr txBox="1"/>
          <p:nvPr/>
        </p:nvSpPr>
        <p:spPr>
          <a:xfrm>
            <a:off x="640080" y="5650992"/>
            <a:ext cx="10881360" cy="36576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Core accuracy is 94.0 percent in all three configurations, so the speedup costs nothing.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MECHANISM</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Why a mixed configuration wins</a:t>
            </a:r>
            <a:endParaRPr lang="en-US" sz="3400" dirty="0"/>
          </a:p>
        </p:txBody>
      </p:sp>
      <p:pic>
        <p:nvPicPr>
          <p:cNvPr id="4" name="Image 0" descr="Measured cycles per layer, INT8 against FP32, with the four depthwise layers highlighted">    </p:cNvPr>
          <p:cNvPicPr>
            <a:picLocks noChangeAspect="1"/>
          </p:cNvPicPr>
          <p:nvPr/>
        </p:nvPicPr>
        <p:blipFill>
          <a:blip r:embed="rId1"/>
          <a:stretch>
            <a:fillRect/>
          </a:stretch>
        </p:blipFill>
        <p:spPr>
          <a:xfrm>
            <a:off x="640080" y="1554480"/>
            <a:ext cx="10881360" cy="3154680"/>
          </a:xfrm>
          <a:prstGeom prst="rect">
            <a:avLst/>
          </a:prstGeom>
        </p:spPr>
      </p:pic>
      <p:sp>
        <p:nvSpPr>
          <p:cNvPr id="5" name="Shape 2"/>
          <p:cNvSpPr/>
          <p:nvPr/>
        </p:nvSpPr>
        <p:spPr>
          <a:xfrm>
            <a:off x="640080" y="4892040"/>
            <a:ext cx="3456432" cy="1280160"/>
          </a:xfrm>
          <a:prstGeom prst="roundRect">
            <a:avLst>
              <a:gd name="adj" fmla="val 7143"/>
            </a:avLst>
          </a:prstGeom>
          <a:solidFill>
            <a:srgbClr val="F4F7FC"/>
          </a:solidFill>
          <a:ln/>
        </p:spPr>
      </p:sp>
      <p:sp>
        <p:nvSpPr>
          <p:cNvPr id="6" name="Text 3"/>
          <p:cNvSpPr txBox="1"/>
          <p:nvPr/>
        </p:nvSpPr>
        <p:spPr>
          <a:xfrm>
            <a:off x="896112" y="5074920"/>
            <a:ext cx="2999232" cy="310896"/>
          </a:xfrm>
          <a:prstGeom prst="rect">
            <a:avLst/>
          </a:prstGeom>
          <a:noFill/>
          <a:ln/>
        </p:spPr>
        <p:txBody>
          <a:bodyPr wrap="square" lIns="0" tIns="0" rIns="0" bIns="0" rtlCol="0" anchor="t"/>
          <a:lstStyle/>
          <a:p>
            <a:pPr indent="0" marL="0">
              <a:buNone/>
            </a:pPr>
            <a:r>
              <a:rPr lang="en-US" sz="1350" b="1" dirty="0">
                <a:solidFill>
                  <a:srgbClr val="12193A"/>
                </a:solidFill>
                <a:latin typeface="Calibri" pitchFamily="34" charset="0"/>
                <a:ea typeface="Calibri" pitchFamily="34" charset="-122"/>
                <a:cs typeface="Calibri" pitchFamily="34" charset="-120"/>
              </a:rPr>
              <a:t>Four depthwise layers</a:t>
            </a:r>
            <a:endParaRPr lang="en-US" sz="1350" dirty="0"/>
          </a:p>
        </p:txBody>
      </p:sp>
      <p:sp>
        <p:nvSpPr>
          <p:cNvPr id="7" name="Text 4"/>
          <p:cNvSpPr txBox="1"/>
          <p:nvPr/>
        </p:nvSpPr>
        <p:spPr>
          <a:xfrm>
            <a:off x="896112"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40 percent slower in INT8, their kernels cannot pack</a:t>
            </a:r>
            <a:endParaRPr lang="en-US" sz="1250" dirty="0"/>
          </a:p>
        </p:txBody>
      </p:sp>
      <p:sp>
        <p:nvSpPr>
          <p:cNvPr id="8" name="Shape 5"/>
          <p:cNvSpPr/>
          <p:nvPr/>
        </p:nvSpPr>
        <p:spPr>
          <a:xfrm>
            <a:off x="4352544" y="4892040"/>
            <a:ext cx="3456432" cy="1280160"/>
          </a:xfrm>
          <a:prstGeom prst="roundRect">
            <a:avLst>
              <a:gd name="adj" fmla="val 7143"/>
            </a:avLst>
          </a:prstGeom>
          <a:solidFill>
            <a:srgbClr val="F4F7FC"/>
          </a:solidFill>
          <a:ln/>
        </p:spPr>
      </p:sp>
      <p:sp>
        <p:nvSpPr>
          <p:cNvPr id="9" name="Text 6"/>
          <p:cNvSpPr txBox="1"/>
          <p:nvPr/>
        </p:nvSpPr>
        <p:spPr>
          <a:xfrm>
            <a:off x="4608576" y="5074920"/>
            <a:ext cx="2999232" cy="310896"/>
          </a:xfrm>
          <a:prstGeom prst="rect">
            <a:avLst/>
          </a:prstGeom>
          <a:noFill/>
          <a:ln/>
        </p:spPr>
        <p:txBody>
          <a:bodyPr wrap="square" lIns="0" tIns="0" rIns="0" bIns="0" rtlCol="0" anchor="t"/>
          <a:lstStyle/>
          <a:p>
            <a:pPr indent="0" marL="0">
              <a:buNone/>
            </a:pPr>
            <a:r>
              <a:rPr lang="en-US" sz="1350" b="1" dirty="0">
                <a:solidFill>
                  <a:srgbClr val="12193A"/>
                </a:solidFill>
                <a:latin typeface="Calibri" pitchFamily="34" charset="0"/>
                <a:ea typeface="Calibri" pitchFamily="34" charset="-122"/>
                <a:cs typeface="Calibri" pitchFamily="34" charset="-120"/>
              </a:rPr>
              <a:t>Every other layer</a:t>
            </a:r>
            <a:endParaRPr lang="en-US" sz="1350" dirty="0"/>
          </a:p>
        </p:txBody>
      </p:sp>
      <p:sp>
        <p:nvSpPr>
          <p:cNvPr id="10" name="Text 7"/>
          <p:cNvSpPr txBox="1"/>
          <p:nvPr/>
        </p:nvSpPr>
        <p:spPr>
          <a:xfrm>
            <a:off x="4608576"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44 percent faster in INT8, packed SXTB16 and SMLAD</a:t>
            </a:r>
            <a:endParaRPr lang="en-US" sz="1250" dirty="0"/>
          </a:p>
        </p:txBody>
      </p:sp>
      <p:sp>
        <p:nvSpPr>
          <p:cNvPr id="11" name="Shape 8"/>
          <p:cNvSpPr/>
          <p:nvPr/>
        </p:nvSpPr>
        <p:spPr>
          <a:xfrm>
            <a:off x="8065008" y="4892040"/>
            <a:ext cx="3456432" cy="1280160"/>
          </a:xfrm>
          <a:prstGeom prst="roundRect">
            <a:avLst>
              <a:gd name="adj" fmla="val 7143"/>
            </a:avLst>
          </a:prstGeom>
          <a:solidFill>
            <a:srgbClr val="1E2761"/>
          </a:solidFill>
          <a:ln/>
        </p:spPr>
      </p:sp>
      <p:sp>
        <p:nvSpPr>
          <p:cNvPr id="12" name="Text 9"/>
          <p:cNvSpPr txBox="1"/>
          <p:nvPr/>
        </p:nvSpPr>
        <p:spPr>
          <a:xfrm>
            <a:off x="8321040" y="5074920"/>
            <a:ext cx="2999232" cy="310896"/>
          </a:xfrm>
          <a:prstGeom prst="rect">
            <a:avLst/>
          </a:prstGeom>
          <a:noFill/>
          <a:ln/>
        </p:spPr>
        <p:txBody>
          <a:bodyPr wrap="square" lIns="0" tIns="0" rIns="0" bIns="0" rtlCol="0" anchor="t"/>
          <a:lstStyle/>
          <a:p>
            <a:pPr indent="0" marL="0">
              <a:buNone/>
            </a:pPr>
            <a:r>
              <a:rPr lang="en-US" sz="1350" b="1" dirty="0">
                <a:solidFill>
                  <a:srgbClr val="F6AE2D"/>
                </a:solidFill>
                <a:latin typeface="Calibri" pitchFamily="34" charset="0"/>
                <a:ea typeface="Calibri" pitchFamily="34" charset="-122"/>
                <a:cs typeface="Calibri" pitchFamily="34" charset="-120"/>
              </a:rPr>
              <a:t>So the optimum is mixed</a:t>
            </a:r>
            <a:endParaRPr lang="en-US" sz="1350" dirty="0"/>
          </a:p>
        </p:txBody>
      </p:sp>
      <p:sp>
        <p:nvSpPr>
          <p:cNvPr id="13" name="Text 10"/>
          <p:cNvSpPr txBox="1"/>
          <p:nvPr/>
        </p:nvSpPr>
        <p:spPr>
          <a:xfrm>
            <a:off x="8321040"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CADCFC"/>
                </a:solidFill>
                <a:latin typeface="Calibri" pitchFamily="34" charset="0"/>
                <a:ea typeface="Calibri" pitchFamily="34" charset="-122"/>
                <a:cs typeface="Calibri" pitchFamily="34" charset="-120"/>
              </a:rPr>
              <a:t>no single precision build can express it</a:t>
            </a:r>
            <a:endParaRPr lang="en-US" sz="1250" dirty="0"/>
          </a:p>
        </p:txBody>
      </p:sp>
      <p:sp>
        <p:nvSpPr>
          <p:cNvPr id="14" name="Text 11"/>
          <p:cNvSpPr txBox="1"/>
          <p:nvPr/>
        </p:nvSpPr>
        <p:spPr>
          <a:xfrm>
            <a:off x="640080" y="6291072"/>
            <a:ext cx="10881360" cy="292608"/>
          </a:xfrm>
          <a:prstGeom prst="rect">
            <a:avLst/>
          </a:prstGeom>
          <a:noFill/>
          <a:ln/>
        </p:spPr>
        <p:txBody>
          <a:bodyPr wrap="square" lIns="0" tIns="0" rIns="0" bIns="0" rtlCol="0" anchor="t"/>
          <a:lstStyle/>
          <a:p>
            <a:pPr indent="0" marL="0">
              <a:buNone/>
            </a:pPr>
            <a:r>
              <a:rPr lang="en-US" sz="1100" i="1" dirty="0">
                <a:solidFill>
                  <a:srgbClr val="8FA2C4"/>
                </a:solidFill>
                <a:latin typeface="Calibri" pitchFamily="34" charset="0"/>
                <a:ea typeface="Calibri" pitchFamily="34" charset="-122"/>
                <a:cs typeface="Calibri" pitchFamily="34" charset="-120"/>
              </a:rPr>
              <a:t>The fully connected layer is a few thousand cycles, invisible at this scale.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CLOSED LOOP</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kernel finds it by measuring, not by being told</a:t>
            </a:r>
            <a:endParaRPr lang="en-US" sz="3400" dirty="0"/>
          </a:p>
        </p:txBody>
      </p:sp>
      <p:pic>
        <p:nvPicPr>
          <p:cNvPr id="4" name="Image 0" descr="Controller latency per decision, demotions from full FP32 then promotions from all INT8 to the same mask">    </p:cNvPr>
          <p:cNvPicPr>
            <a:picLocks noChangeAspect="1"/>
          </p:cNvPicPr>
          <p:nvPr/>
        </p:nvPicPr>
        <p:blipFill>
          <a:blip r:embed="rId1"/>
          <a:stretch>
            <a:fillRect/>
          </a:stretch>
        </p:blipFill>
        <p:spPr>
          <a:xfrm>
            <a:off x="4709160" y="1554480"/>
            <a:ext cx="6812280" cy="3017520"/>
          </a:xfrm>
          <a:prstGeom prst="rect">
            <a:avLst/>
          </a:prstGeom>
        </p:spPr>
      </p:pic>
      <p:sp>
        <p:nvSpPr>
          <p:cNvPr id="5" name="Shape 2"/>
          <p:cNvSpPr/>
          <p:nvPr/>
        </p:nvSpPr>
        <p:spPr>
          <a:xfrm>
            <a:off x="640080" y="1691640"/>
            <a:ext cx="384048" cy="384048"/>
          </a:xfrm>
          <a:prstGeom prst="ellipse">
            <a:avLst/>
          </a:prstGeom>
          <a:solidFill>
            <a:srgbClr val="1E2761"/>
          </a:solidFill>
          <a:ln/>
        </p:spPr>
      </p:sp>
      <p:sp>
        <p:nvSpPr>
          <p:cNvPr id="6" name="Text 3"/>
          <p:cNvSpPr txBox="1"/>
          <p:nvPr/>
        </p:nvSpPr>
        <p:spPr>
          <a:xfrm>
            <a:off x="64008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4"/>
          <p:cNvSpPr txBox="1"/>
          <p:nvPr/>
        </p:nvSpPr>
        <p:spPr>
          <a:xfrm>
            <a:off x="1188720" y="1673352"/>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Calibrate</a:t>
            </a:r>
            <a:endParaRPr lang="en-US" sz="1500" dirty="0"/>
          </a:p>
        </p:txBody>
      </p:sp>
      <p:sp>
        <p:nvSpPr>
          <p:cNvPr id="8" name="Text 5"/>
          <p:cNvSpPr txBox="1"/>
          <p:nvPr/>
        </p:nvSpPr>
        <p:spPr>
          <a:xfrm>
            <a:off x="1188720" y="2002536"/>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T4 runs both pure precisions on its first two inferences and records what every layer costs</a:t>
            </a:r>
            <a:endParaRPr lang="en-US" sz="1250" dirty="0"/>
          </a:p>
        </p:txBody>
      </p:sp>
      <p:sp>
        <p:nvSpPr>
          <p:cNvPr id="9" name="Shape 6"/>
          <p:cNvSpPr/>
          <p:nvPr/>
        </p:nvSpPr>
        <p:spPr>
          <a:xfrm>
            <a:off x="640080" y="2734056"/>
            <a:ext cx="384048" cy="384048"/>
          </a:xfrm>
          <a:prstGeom prst="ellipse">
            <a:avLst/>
          </a:prstGeom>
          <a:solidFill>
            <a:srgbClr val="1E2761"/>
          </a:solidFill>
          <a:ln/>
        </p:spPr>
      </p:sp>
      <p:sp>
        <p:nvSpPr>
          <p:cNvPr id="10" name="Text 7"/>
          <p:cNvSpPr txBox="1"/>
          <p:nvPr/>
        </p:nvSpPr>
        <p:spPr>
          <a:xfrm>
            <a:off x="640080" y="2734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1188720" y="2715768"/>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Rank</a:t>
            </a:r>
            <a:endParaRPr lang="en-US" sz="1500" dirty="0"/>
          </a:p>
        </p:txBody>
      </p:sp>
      <p:sp>
        <p:nvSpPr>
          <p:cNvPr id="12" name="Text 9"/>
          <p:cNvSpPr txBox="1"/>
          <p:nvPr/>
        </p:nvSpPr>
        <p:spPr>
          <a:xfrm>
            <a:off x="1188720" y="3044952"/>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T5 ranks layers by that measured delta, never by index</a:t>
            </a:r>
            <a:endParaRPr lang="en-US" sz="1250" dirty="0"/>
          </a:p>
        </p:txBody>
      </p:sp>
      <p:sp>
        <p:nvSpPr>
          <p:cNvPr id="13" name="Shape 10"/>
          <p:cNvSpPr/>
          <p:nvPr/>
        </p:nvSpPr>
        <p:spPr>
          <a:xfrm>
            <a:off x="640080" y="3776472"/>
            <a:ext cx="384048" cy="384048"/>
          </a:xfrm>
          <a:prstGeom prst="ellipse">
            <a:avLst/>
          </a:prstGeom>
          <a:solidFill>
            <a:srgbClr val="1E2761"/>
          </a:solidFill>
          <a:ln/>
        </p:spPr>
      </p:sp>
      <p:sp>
        <p:nvSpPr>
          <p:cNvPr id="14" name="Text 11"/>
          <p:cNvSpPr txBox="1"/>
          <p:nvPr/>
        </p:nvSpPr>
        <p:spPr>
          <a:xfrm>
            <a:off x="640080" y="37764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2"/>
          <p:cNvSpPr txBox="1"/>
          <p:nvPr/>
        </p:nvSpPr>
        <p:spPr>
          <a:xfrm>
            <a:off x="1188720" y="3758184"/>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Hill climb</a:t>
            </a:r>
            <a:endParaRPr lang="en-US" sz="1500" dirty="0"/>
          </a:p>
        </p:txBody>
      </p:sp>
      <p:sp>
        <p:nvSpPr>
          <p:cNvPr id="16" name="Text 13"/>
          <p:cNvSpPr txBox="1"/>
          <p:nvPr/>
        </p:nvSpPr>
        <p:spPr>
          <a:xfrm>
            <a:off x="1188720" y="4087368"/>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every accepted move strictly reduces cost, so the walk cannot cycle</a:t>
            </a:r>
            <a:endParaRPr lang="en-US" sz="1250" dirty="0"/>
          </a:p>
        </p:txBody>
      </p:sp>
      <p:sp>
        <p:nvSpPr>
          <p:cNvPr id="17" name="Shape 14"/>
          <p:cNvSpPr/>
          <p:nvPr/>
        </p:nvSpPr>
        <p:spPr>
          <a:xfrm>
            <a:off x="640080" y="4892040"/>
            <a:ext cx="10881360" cy="1298448"/>
          </a:xfrm>
          <a:prstGeom prst="roundRect">
            <a:avLst>
              <a:gd name="adj" fmla="val 7042"/>
            </a:avLst>
          </a:prstGeom>
          <a:solidFill>
            <a:srgbClr val="1E2761"/>
          </a:solidFill>
          <a:ln/>
        </p:spPr>
      </p:sp>
      <p:sp>
        <p:nvSpPr>
          <p:cNvPr id="18" name="Text 15"/>
          <p:cNvSpPr txBox="1"/>
          <p:nvPr/>
        </p:nvSpPr>
        <p:spPr>
          <a:xfrm>
            <a:off x="960120" y="5120640"/>
            <a:ext cx="10241280" cy="365760"/>
          </a:xfrm>
          <a:prstGeom prst="rect">
            <a:avLst/>
          </a:prstGeom>
          <a:noFill/>
          <a:ln/>
        </p:spPr>
        <p:txBody>
          <a:bodyPr wrap="square" lIns="0" tIns="0" rIns="0" bIns="0" rtlCol="0" anchor="t"/>
          <a:lstStyle/>
          <a:p>
            <a:pPr indent="0" marL="0">
              <a:buNone/>
            </a:pPr>
            <a:r>
              <a:rPr lang="en-US" sz="1500" b="1" dirty="0">
                <a:solidFill>
                  <a:srgbClr val="F6AE2D"/>
                </a:solidFill>
                <a:latin typeface="Calibri" pitchFamily="34" charset="0"/>
                <a:ea typeface="Calibri" pitchFamily="34" charset="-122"/>
                <a:cs typeface="Calibri" pitchFamily="34" charset="-120"/>
              </a:rPr>
              <a:t>6 demotions</a:t>
            </a:r>
            <a:pPr indent="0" marL="0">
              <a:buNone/>
            </a:pPr>
            <a:r>
              <a:rPr lang="en-US" sz="1500" dirty="0">
                <a:solidFill>
                  <a:srgbClr val="CADCFC"/>
                </a:solidFill>
                <a:latin typeface="Calibri" pitchFamily="34" charset="0"/>
                <a:ea typeface="Calibri" pitchFamily="34" charset="-122"/>
                <a:cs typeface="Calibri" pitchFamily="34" charset="-120"/>
              </a:rPr>
              <a:t> from all FP32      </a:t>
            </a:r>
            <a:pPr indent="0" marL="0">
              <a:buNone/>
            </a:pPr>
            <a:r>
              <a:rPr lang="en-US" sz="1500" b="1" dirty="0">
                <a:solidFill>
                  <a:srgbClr val="F6AE2D"/>
                </a:solidFill>
                <a:latin typeface="Calibri" pitchFamily="34" charset="0"/>
                <a:ea typeface="Calibri" pitchFamily="34" charset="-122"/>
                <a:cs typeface="Calibri" pitchFamily="34" charset="-120"/>
              </a:rPr>
              <a:t>4 promotions</a:t>
            </a:r>
            <a:pPr indent="0" marL="0">
              <a:buNone/>
            </a:pPr>
            <a:r>
              <a:rPr lang="en-US" sz="1500" dirty="0">
                <a:solidFill>
                  <a:srgbClr val="CADCFC"/>
                </a:solidFill>
                <a:latin typeface="Calibri" pitchFamily="34" charset="0"/>
                <a:ea typeface="Calibri" pitchFamily="34" charset="-122"/>
                <a:cs typeface="Calibri" pitchFamily="34" charset="-120"/>
              </a:rPr>
              <a:t> restarting from all INT8      </a:t>
            </a:r>
            <a:pPr indent="0" marL="0">
              <a:buNone/>
            </a:pPr>
            <a:r>
              <a:rPr lang="en-US" sz="1500" b="1" dirty="0">
                <a:solidFill>
                  <a:srgbClr val="FFFFFF"/>
                </a:solidFill>
                <a:latin typeface="Calibri" pitchFamily="34" charset="0"/>
                <a:ea typeface="Calibri" pitchFamily="34" charset="-122"/>
                <a:cs typeface="Calibri" pitchFamily="34" charset="-120"/>
              </a:rPr>
              <a:t>same mask both times</a:t>
            </a:r>
            <a:endParaRPr lang="en-US" sz="1500" dirty="0"/>
          </a:p>
        </p:txBody>
      </p:sp>
      <p:sp>
        <p:nvSpPr>
          <p:cNvPr id="19" name="Text 16"/>
          <p:cNvSpPr txBox="1"/>
          <p:nvPr/>
        </p:nvSpPr>
        <p:spPr>
          <a:xfrm>
            <a:off x="960120" y="5559552"/>
            <a:ext cx="10241280" cy="365760"/>
          </a:xfrm>
          <a:prstGeom prst="rect">
            <a:avLst/>
          </a:prstGeom>
          <a:noFill/>
          <a:ln/>
        </p:spPr>
        <p:txBody>
          <a:bodyPr wrap="square" lIns="0" tIns="0" rIns="0" bIns="0" rtlCol="0" anchor="t"/>
          <a:lstStyle/>
          <a:p>
            <a:pPr indent="0" marL="0">
              <a:buNone/>
            </a:pPr>
            <a:r>
              <a:rPr lang="en-US" sz="1300" i="1" dirty="0">
                <a:solidFill>
                  <a:srgbClr val="CADCFC"/>
                </a:solidFill>
                <a:latin typeface="Calibri" pitchFamily="34" charset="0"/>
                <a:ea typeface="Calibri" pitchFamily="34" charset="-122"/>
                <a:cs typeface="Calibri" pitchFamily="34" charset="-120"/>
              </a:rPr>
              <a:t>Converging to the same point from both extremes makes it a property of the silicon, not of where the search began.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METHOD</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What the measurements refuted</a:t>
            </a:r>
            <a:endParaRPr lang="en-US" sz="3400" dirty="0"/>
          </a:p>
        </p:txBody>
      </p:sp>
      <p:sp>
        <p:nvSpPr>
          <p:cNvPr id="4" name="Shape 2"/>
          <p:cNvSpPr/>
          <p:nvPr/>
        </p:nvSpPr>
        <p:spPr>
          <a:xfrm>
            <a:off x="640080" y="1965960"/>
            <a:ext cx="2084832" cy="1965960"/>
          </a:xfrm>
          <a:prstGeom prst="roundRect">
            <a:avLst>
              <a:gd name="adj" fmla="val 4651"/>
            </a:avLst>
          </a:prstGeom>
          <a:solidFill>
            <a:srgbClr val="F4F7FC"/>
          </a:solidFill>
          <a:ln/>
        </p:spPr>
      </p:sp>
      <p:sp>
        <p:nvSpPr>
          <p:cNvPr id="5" name="Text 3"/>
          <p:cNvSpPr txBox="1"/>
          <p:nvPr/>
        </p:nvSpPr>
        <p:spPr>
          <a:xfrm>
            <a:off x="859536"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Predicted</a:t>
            </a:r>
            <a:endParaRPr lang="en-US" sz="1400" dirty="0"/>
          </a:p>
        </p:txBody>
      </p:sp>
      <p:sp>
        <p:nvSpPr>
          <p:cNvPr id="6" name="Text 4"/>
          <p:cNvSpPr txBox="1"/>
          <p:nvPr/>
        </p:nvSpPr>
        <p:spPr>
          <a:xfrm>
            <a:off x="859536"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INT8 is 3 to 4 times faster, from an ALU cycle count argument</a:t>
            </a:r>
            <a:endParaRPr lang="en-US" sz="1150" dirty="0"/>
          </a:p>
        </p:txBody>
      </p:sp>
      <p:sp>
        <p:nvSpPr>
          <p:cNvPr id="7" name="Shape 5"/>
          <p:cNvSpPr/>
          <p:nvPr/>
        </p:nvSpPr>
        <p:spPr>
          <a:xfrm>
            <a:off x="2734056" y="2866644"/>
            <a:ext cx="155448" cy="164592"/>
          </a:xfrm>
          <a:prstGeom prst="rightArrow">
            <a:avLst/>
          </a:prstGeom>
          <a:solidFill>
            <a:srgbClr val="8FA2C4"/>
          </a:solidFill>
          <a:ln/>
        </p:spPr>
      </p:sp>
      <p:sp>
        <p:nvSpPr>
          <p:cNvPr id="8" name="Shape 6"/>
          <p:cNvSpPr/>
          <p:nvPr/>
        </p:nvSpPr>
        <p:spPr>
          <a:xfrm>
            <a:off x="2898648" y="1965960"/>
            <a:ext cx="2084832" cy="1965960"/>
          </a:xfrm>
          <a:prstGeom prst="roundRect">
            <a:avLst>
              <a:gd name="adj" fmla="val 4651"/>
            </a:avLst>
          </a:prstGeom>
          <a:solidFill>
            <a:srgbClr val="FBE8E6"/>
          </a:solidFill>
          <a:ln/>
        </p:spPr>
      </p:sp>
      <p:sp>
        <p:nvSpPr>
          <p:cNvPr id="9" name="Text 7"/>
          <p:cNvSpPr txBox="1"/>
          <p:nvPr/>
        </p:nvSpPr>
        <p:spPr>
          <a:xfrm>
            <a:off x="3118104" y="2203704"/>
            <a:ext cx="1645920" cy="329184"/>
          </a:xfrm>
          <a:prstGeom prst="rect">
            <a:avLst/>
          </a:prstGeom>
          <a:noFill/>
          <a:ln/>
        </p:spPr>
        <p:txBody>
          <a:bodyPr wrap="square" lIns="0" tIns="0" rIns="0" bIns="0" rtlCol="0" anchor="t"/>
          <a:lstStyle/>
          <a:p>
            <a:pPr indent="0" marL="0">
              <a:buNone/>
            </a:pPr>
            <a:r>
              <a:rPr lang="en-US" sz="1400" b="1" dirty="0">
                <a:solidFill>
                  <a:srgbClr val="C0392B"/>
                </a:solidFill>
                <a:latin typeface="Calibri" pitchFamily="34" charset="0"/>
                <a:ea typeface="Calibri" pitchFamily="34" charset="-122"/>
                <a:cs typeface="Calibri" pitchFamily="34" charset="-120"/>
              </a:rPr>
              <a:t>Measured</a:t>
            </a:r>
            <a:endParaRPr lang="en-US" sz="1400" dirty="0"/>
          </a:p>
        </p:txBody>
      </p:sp>
      <p:sp>
        <p:nvSpPr>
          <p:cNvPr id="10" name="Text 8"/>
          <p:cNvSpPr txBox="1"/>
          <p:nvPr/>
        </p:nvSpPr>
        <p:spPr>
          <a:xfrm>
            <a:off x="3118104"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8A3B32"/>
                </a:solidFill>
                <a:latin typeface="Calibri" pitchFamily="34" charset="0"/>
                <a:ea typeface="Calibri" pitchFamily="34" charset="-122"/>
                <a:cs typeface="Calibri" pitchFamily="34" charset="-120"/>
              </a:rPr>
              <a:t>28 percent SLOWER on the first hardware run</a:t>
            </a:r>
            <a:endParaRPr lang="en-US" sz="1150" dirty="0"/>
          </a:p>
        </p:txBody>
      </p:sp>
      <p:sp>
        <p:nvSpPr>
          <p:cNvPr id="11" name="Shape 9"/>
          <p:cNvSpPr/>
          <p:nvPr/>
        </p:nvSpPr>
        <p:spPr>
          <a:xfrm>
            <a:off x="4992624" y="2866644"/>
            <a:ext cx="155448" cy="164592"/>
          </a:xfrm>
          <a:prstGeom prst="rightArrow">
            <a:avLst/>
          </a:prstGeom>
          <a:solidFill>
            <a:srgbClr val="8FA2C4"/>
          </a:solidFill>
          <a:ln/>
        </p:spPr>
      </p:sp>
      <p:sp>
        <p:nvSpPr>
          <p:cNvPr id="12" name="Shape 10"/>
          <p:cNvSpPr/>
          <p:nvPr/>
        </p:nvSpPr>
        <p:spPr>
          <a:xfrm>
            <a:off x="5157216" y="1965960"/>
            <a:ext cx="2084832" cy="1965960"/>
          </a:xfrm>
          <a:prstGeom prst="roundRect">
            <a:avLst>
              <a:gd name="adj" fmla="val 4651"/>
            </a:avLst>
          </a:prstGeom>
          <a:solidFill>
            <a:srgbClr val="F4F7FC"/>
          </a:solidFill>
          <a:ln/>
        </p:spPr>
      </p:sp>
      <p:sp>
        <p:nvSpPr>
          <p:cNvPr id="13" name="Text 11"/>
          <p:cNvSpPr txBox="1"/>
          <p:nvPr/>
        </p:nvSpPr>
        <p:spPr>
          <a:xfrm>
            <a:off x="5376672"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Diagnosed</a:t>
            </a:r>
            <a:endParaRPr lang="en-US" sz="1400" dirty="0"/>
          </a:p>
        </p:txBody>
      </p:sp>
      <p:sp>
        <p:nvSpPr>
          <p:cNvPr id="14" name="Text 12"/>
          <p:cNvSpPr txBox="1"/>
          <p:nvPr/>
        </p:nvSpPr>
        <p:spPr>
          <a:xfrm>
            <a:off x="5376672"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scalar INT8 pays a per element offset add and a 64 bit requantisation while FP32 rides the FPU</a:t>
            </a:r>
            <a:endParaRPr lang="en-US" sz="1150" dirty="0"/>
          </a:p>
        </p:txBody>
      </p:sp>
      <p:sp>
        <p:nvSpPr>
          <p:cNvPr id="15" name="Shape 13"/>
          <p:cNvSpPr/>
          <p:nvPr/>
        </p:nvSpPr>
        <p:spPr>
          <a:xfrm>
            <a:off x="7251192" y="2866644"/>
            <a:ext cx="155448" cy="164592"/>
          </a:xfrm>
          <a:prstGeom prst="rightArrow">
            <a:avLst/>
          </a:prstGeom>
          <a:solidFill>
            <a:srgbClr val="8FA2C4"/>
          </a:solidFill>
          <a:ln/>
        </p:spPr>
      </p:sp>
      <p:sp>
        <p:nvSpPr>
          <p:cNvPr id="16" name="Shape 14"/>
          <p:cNvSpPr/>
          <p:nvPr/>
        </p:nvSpPr>
        <p:spPr>
          <a:xfrm>
            <a:off x="7415784" y="1965960"/>
            <a:ext cx="2084832" cy="1965960"/>
          </a:xfrm>
          <a:prstGeom prst="roundRect">
            <a:avLst>
              <a:gd name="adj" fmla="val 4651"/>
            </a:avLst>
          </a:prstGeom>
          <a:solidFill>
            <a:srgbClr val="F4F7FC"/>
          </a:solidFill>
          <a:ln/>
        </p:spPr>
      </p:sp>
      <p:sp>
        <p:nvSpPr>
          <p:cNvPr id="17" name="Text 15"/>
          <p:cNvSpPr txBox="1"/>
          <p:nvPr/>
        </p:nvSpPr>
        <p:spPr>
          <a:xfrm>
            <a:off x="7635240"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Rewritten</a:t>
            </a:r>
            <a:endParaRPr lang="en-US" sz="1400" dirty="0"/>
          </a:p>
        </p:txBody>
      </p:sp>
      <p:sp>
        <p:nvSpPr>
          <p:cNvPr id="18" name="Text 16"/>
          <p:cNvSpPr txBox="1"/>
          <p:nvPr/>
        </p:nvSpPr>
        <p:spPr>
          <a:xfrm>
            <a:off x="7635240"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folded offsets, packed SXTB16 and SMLAD, bit identical against the golden reference</a:t>
            </a:r>
            <a:endParaRPr lang="en-US" sz="1150" dirty="0"/>
          </a:p>
        </p:txBody>
      </p:sp>
      <p:sp>
        <p:nvSpPr>
          <p:cNvPr id="19" name="Shape 17"/>
          <p:cNvSpPr/>
          <p:nvPr/>
        </p:nvSpPr>
        <p:spPr>
          <a:xfrm>
            <a:off x="9509760" y="2866644"/>
            <a:ext cx="155448" cy="164592"/>
          </a:xfrm>
          <a:prstGeom prst="rightArrow">
            <a:avLst/>
          </a:prstGeom>
          <a:solidFill>
            <a:srgbClr val="8FA2C4"/>
          </a:solidFill>
          <a:ln/>
        </p:spPr>
      </p:sp>
      <p:sp>
        <p:nvSpPr>
          <p:cNvPr id="20" name="Shape 18"/>
          <p:cNvSpPr/>
          <p:nvPr/>
        </p:nvSpPr>
        <p:spPr>
          <a:xfrm>
            <a:off x="9674352" y="1965960"/>
            <a:ext cx="2084832" cy="1965960"/>
          </a:xfrm>
          <a:prstGeom prst="roundRect">
            <a:avLst>
              <a:gd name="adj" fmla="val 4651"/>
            </a:avLst>
          </a:prstGeom>
          <a:solidFill>
            <a:srgbClr val="FDF0D5"/>
          </a:solidFill>
          <a:ln/>
        </p:spPr>
      </p:sp>
      <p:sp>
        <p:nvSpPr>
          <p:cNvPr id="21" name="Text 19"/>
          <p:cNvSpPr txBox="1"/>
          <p:nvPr/>
        </p:nvSpPr>
        <p:spPr>
          <a:xfrm>
            <a:off x="9893808" y="2203704"/>
            <a:ext cx="1645920" cy="329184"/>
          </a:xfrm>
          <a:prstGeom prst="rect">
            <a:avLst/>
          </a:prstGeom>
          <a:noFill/>
          <a:ln/>
        </p:spPr>
        <p:txBody>
          <a:bodyPr wrap="square" lIns="0" tIns="0" rIns="0" bIns="0" rtlCol="0" anchor="t"/>
          <a:lstStyle/>
          <a:p>
            <a:pPr indent="0" marL="0">
              <a:buNone/>
            </a:pPr>
            <a:r>
              <a:rPr lang="en-US" sz="1400" b="1" dirty="0">
                <a:solidFill>
                  <a:srgbClr val="8A6100"/>
                </a:solidFill>
                <a:latin typeface="Calibri" pitchFamily="34" charset="0"/>
                <a:ea typeface="Calibri" pitchFamily="34" charset="-122"/>
                <a:cs typeface="Calibri" pitchFamily="34" charset="-120"/>
              </a:rPr>
              <a:t>Result</a:t>
            </a:r>
            <a:endParaRPr lang="en-US" sz="1400" dirty="0"/>
          </a:p>
        </p:txBody>
      </p:sp>
      <p:sp>
        <p:nvSpPr>
          <p:cNvPr id="22" name="Text 20"/>
          <p:cNvSpPr txBox="1"/>
          <p:nvPr/>
        </p:nvSpPr>
        <p:spPr>
          <a:xfrm>
            <a:off x="9893808"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6B4E0A"/>
                </a:solidFill>
                <a:latin typeface="Calibri" pitchFamily="34" charset="0"/>
                <a:ea typeface="Calibri" pitchFamily="34" charset="-122"/>
                <a:cs typeface="Calibri" pitchFamily="34" charset="-120"/>
              </a:rPr>
              <a:t>1.22 times faster, and the depthwise asymmetry that makes the whole contribution visible</a:t>
            </a:r>
            <a:endParaRPr lang="en-US" sz="1150" dirty="0"/>
          </a:p>
        </p:txBody>
      </p:sp>
      <p:sp>
        <p:nvSpPr>
          <p:cNvPr id="23" name="Shape 21"/>
          <p:cNvSpPr/>
          <p:nvPr/>
        </p:nvSpPr>
        <p:spPr>
          <a:xfrm>
            <a:off x="640080" y="4434840"/>
            <a:ext cx="10881360" cy="1481328"/>
          </a:xfrm>
          <a:prstGeom prst="roundRect">
            <a:avLst>
              <a:gd name="adj" fmla="val 6173"/>
            </a:avLst>
          </a:prstGeom>
          <a:solidFill>
            <a:srgbClr val="1E2761"/>
          </a:solidFill>
          <a:ln/>
        </p:spPr>
      </p:sp>
      <p:sp>
        <p:nvSpPr>
          <p:cNvPr id="24" name="Text 22"/>
          <p:cNvSpPr txBox="1"/>
          <p:nvPr/>
        </p:nvSpPr>
        <p:spPr>
          <a:xfrm>
            <a:off x="960120" y="4718304"/>
            <a:ext cx="10241280" cy="420624"/>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The refutation is what produced the real result.</a:t>
            </a:r>
            <a:endParaRPr lang="en-US" sz="2000" dirty="0"/>
          </a:p>
        </p:txBody>
      </p:sp>
      <p:sp>
        <p:nvSpPr>
          <p:cNvPr id="25" name="Text 23"/>
          <p:cNvSpPr txBox="1"/>
          <p:nvPr/>
        </p:nvSpPr>
        <p:spPr>
          <a:xfrm>
            <a:off x="960120" y="5248656"/>
            <a:ext cx="10241280" cy="45720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Also corrected: this part has no SMPS, so the power measurement point is the IDD jumper, not an SMPS as the program plan stated.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RESULTS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three characteristics the contest rewards</a:t>
            </a:r>
            <a:endParaRPr lang="en-US" sz="3400" dirty="0"/>
          </a:p>
        </p:txBody>
      </p:sp>
      <p:sp>
        <p:nvSpPr>
          <p:cNvPr id="4" name="Shape 2"/>
          <p:cNvSpPr/>
          <p:nvPr/>
        </p:nvSpPr>
        <p:spPr>
          <a:xfrm>
            <a:off x="640080" y="1737360"/>
            <a:ext cx="3456432" cy="4041648"/>
          </a:xfrm>
          <a:prstGeom prst="roundRect">
            <a:avLst>
              <a:gd name="adj" fmla="val 2646"/>
            </a:avLst>
          </a:prstGeom>
          <a:solidFill>
            <a:srgbClr val="F4F7FC"/>
          </a:solidFill>
          <a:ln/>
        </p:spPr>
      </p:sp>
      <p:sp>
        <p:nvSpPr>
          <p:cNvPr id="5" name="Shape 3"/>
          <p:cNvSpPr/>
          <p:nvPr/>
        </p:nvSpPr>
        <p:spPr>
          <a:xfrm>
            <a:off x="914400" y="2048256"/>
            <a:ext cx="384048" cy="384048"/>
          </a:xfrm>
          <a:prstGeom prst="ellipse">
            <a:avLst/>
          </a:prstGeom>
          <a:solidFill>
            <a:srgbClr val="1E2761"/>
          </a:solidFill>
          <a:ln/>
        </p:spPr>
      </p:sp>
      <p:sp>
        <p:nvSpPr>
          <p:cNvPr id="6" name="Text 4"/>
          <p:cNvSpPr txBox="1"/>
          <p:nvPr/>
        </p:nvSpPr>
        <p:spPr>
          <a:xfrm>
            <a:off x="914400"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444752"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Real time</a:t>
            </a:r>
            <a:endParaRPr lang="en-US" sz="1900" dirty="0"/>
          </a:p>
        </p:txBody>
      </p:sp>
      <p:sp>
        <p:nvSpPr>
          <p:cNvPr id="8" name="Text 6"/>
          <p:cNvSpPr txBox="1"/>
          <p:nvPr/>
        </p:nvSpPr>
        <p:spPr>
          <a:xfrm>
            <a:off x="914400"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deadline is derived from the application, not tuned to the answer. Under live pipeline load the converged mask ran every traced inference between 98.3 and 98.8 ms, while static FP32 was over on all 45 of its.</a:t>
            </a:r>
            <a:endParaRPr lang="en-US" sz="1250" dirty="0"/>
          </a:p>
        </p:txBody>
      </p:sp>
      <p:sp>
        <p:nvSpPr>
          <p:cNvPr id="9" name="Text 7"/>
          <p:cNvSpPr txBox="1"/>
          <p:nvPr/>
        </p:nvSpPr>
        <p:spPr>
          <a:xfrm>
            <a:off x="914400"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120 ms</a:t>
            </a:r>
            <a:endParaRPr lang="en-US" sz="3000" dirty="0"/>
          </a:p>
        </p:txBody>
      </p:sp>
      <p:sp>
        <p:nvSpPr>
          <p:cNvPr id="10" name="Text 8"/>
          <p:cNvSpPr txBox="1"/>
          <p:nvPr/>
        </p:nvSpPr>
        <p:spPr>
          <a:xfrm>
            <a:off x="914400"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held under live load</a:t>
            </a:r>
            <a:endParaRPr lang="en-US" sz="1200" dirty="0"/>
          </a:p>
        </p:txBody>
      </p:sp>
      <p:sp>
        <p:nvSpPr>
          <p:cNvPr id="11" name="Shape 9"/>
          <p:cNvSpPr/>
          <p:nvPr/>
        </p:nvSpPr>
        <p:spPr>
          <a:xfrm>
            <a:off x="4352544" y="1737360"/>
            <a:ext cx="3456432" cy="4041648"/>
          </a:xfrm>
          <a:prstGeom prst="roundRect">
            <a:avLst>
              <a:gd name="adj" fmla="val 2646"/>
            </a:avLst>
          </a:prstGeom>
          <a:solidFill>
            <a:srgbClr val="F4F7FC"/>
          </a:solidFill>
          <a:ln/>
        </p:spPr>
      </p:sp>
      <p:sp>
        <p:nvSpPr>
          <p:cNvPr id="12" name="Shape 10"/>
          <p:cNvSpPr/>
          <p:nvPr/>
        </p:nvSpPr>
        <p:spPr>
          <a:xfrm>
            <a:off x="4626864" y="2048256"/>
            <a:ext cx="384048" cy="384048"/>
          </a:xfrm>
          <a:prstGeom prst="ellipse">
            <a:avLst/>
          </a:prstGeom>
          <a:solidFill>
            <a:srgbClr val="1E2761"/>
          </a:solidFill>
          <a:ln/>
        </p:spPr>
      </p:sp>
      <p:sp>
        <p:nvSpPr>
          <p:cNvPr id="13" name="Text 11"/>
          <p:cNvSpPr txBox="1"/>
          <p:nvPr/>
        </p:nvSpPr>
        <p:spPr>
          <a:xfrm>
            <a:off x="4626864"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5157216"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Power</a:t>
            </a:r>
            <a:endParaRPr lang="en-US" sz="1900" dirty="0"/>
          </a:p>
        </p:txBody>
      </p:sp>
      <p:sp>
        <p:nvSpPr>
          <p:cNvPr id="15" name="Text 13"/>
          <p:cNvSpPr txBox="1"/>
          <p:nvPr/>
        </p:nvSpPr>
        <p:spPr>
          <a:xfrm>
            <a:off x="4626864"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kernel idle hook shipped empty, so the core spun at 250 MHz between blocks. It now sleeps under BASEPRI. Identical audio, identical windows.</a:t>
            </a:r>
            <a:endParaRPr lang="en-US" sz="1250" dirty="0"/>
          </a:p>
        </p:txBody>
      </p:sp>
      <p:sp>
        <p:nvSpPr>
          <p:cNvPr id="16" name="Text 14"/>
          <p:cNvSpPr txBox="1"/>
          <p:nvPr/>
        </p:nvSpPr>
        <p:spPr>
          <a:xfrm>
            <a:off x="4626864"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2.11×</a:t>
            </a:r>
            <a:endParaRPr lang="en-US" sz="3000" dirty="0"/>
          </a:p>
        </p:txBody>
      </p:sp>
      <p:sp>
        <p:nvSpPr>
          <p:cNvPr id="17" name="Text 15"/>
          <p:cNvSpPr txBox="1"/>
          <p:nvPr/>
        </p:nvSpPr>
        <p:spPr>
          <a:xfrm>
            <a:off x="4626864"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longer asleep than FP32</a:t>
            </a:r>
            <a:endParaRPr lang="en-US" sz="1200" dirty="0"/>
          </a:p>
        </p:txBody>
      </p:sp>
      <p:sp>
        <p:nvSpPr>
          <p:cNvPr id="18" name="Shape 16"/>
          <p:cNvSpPr/>
          <p:nvPr/>
        </p:nvSpPr>
        <p:spPr>
          <a:xfrm>
            <a:off x="8065008" y="1737360"/>
            <a:ext cx="3456432" cy="4041648"/>
          </a:xfrm>
          <a:prstGeom prst="roundRect">
            <a:avLst>
              <a:gd name="adj" fmla="val 2646"/>
            </a:avLst>
          </a:prstGeom>
          <a:solidFill>
            <a:srgbClr val="F4F7FC"/>
          </a:solidFill>
          <a:ln/>
        </p:spPr>
      </p:sp>
      <p:sp>
        <p:nvSpPr>
          <p:cNvPr id="19" name="Shape 17"/>
          <p:cNvSpPr/>
          <p:nvPr/>
        </p:nvSpPr>
        <p:spPr>
          <a:xfrm>
            <a:off x="8339328" y="2048256"/>
            <a:ext cx="384048" cy="384048"/>
          </a:xfrm>
          <a:prstGeom prst="ellipse">
            <a:avLst/>
          </a:prstGeom>
          <a:solidFill>
            <a:srgbClr val="1E2761"/>
          </a:solidFill>
          <a:ln/>
        </p:spPr>
      </p:sp>
      <p:sp>
        <p:nvSpPr>
          <p:cNvPr id="20" name="Text 18"/>
          <p:cNvSpPr txBox="1"/>
          <p:nvPr/>
        </p:nvSpPr>
        <p:spPr>
          <a:xfrm>
            <a:off x="8339328"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8869680"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Footprint</a:t>
            </a:r>
            <a:endParaRPr lang="en-US" sz="1900" dirty="0"/>
          </a:p>
        </p:txBody>
      </p:sp>
      <p:sp>
        <p:nvSpPr>
          <p:cNvPr id="22" name="Text 20"/>
          <p:cNvSpPr txBox="1"/>
          <p:nvPr/>
        </p:nvSpPr>
        <p:spPr>
          <a:xfrm>
            <a:off x="8339328"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Layer weights are streamed through tk_get_mpl so only the working layer occupies SRAM, with peak pool use measured rather than asserted.</a:t>
            </a:r>
            <a:endParaRPr lang="en-US" sz="1250" dirty="0"/>
          </a:p>
        </p:txBody>
      </p:sp>
      <p:sp>
        <p:nvSpPr>
          <p:cNvPr id="23" name="Text 21"/>
          <p:cNvSpPr txBox="1"/>
          <p:nvPr/>
        </p:nvSpPr>
        <p:spPr>
          <a:xfrm>
            <a:off x="8339328"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117 KB</a:t>
            </a:r>
            <a:endParaRPr lang="en-US" sz="3000" dirty="0"/>
          </a:p>
        </p:txBody>
      </p:sp>
      <p:sp>
        <p:nvSpPr>
          <p:cNvPr id="24" name="Text 22"/>
          <p:cNvSpPr txBox="1"/>
          <p:nvPr/>
        </p:nvSpPr>
        <p:spPr>
          <a:xfrm>
            <a:off x="8339328"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of 272 KB SRAM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CORRECTNESS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device is never the first implementation</a:t>
            </a:r>
            <a:endParaRPr lang="en-US" sz="3400" dirty="0"/>
          </a:p>
        </p:txBody>
      </p:sp>
      <p:sp>
        <p:nvSpPr>
          <p:cNvPr id="4" name="Text 2"/>
          <p:cNvSpPr txBox="1"/>
          <p:nvPr/>
        </p:nvSpPr>
        <p:spPr>
          <a:xfrm>
            <a:off x="640080" y="1627632"/>
            <a:ext cx="10881360" cy="73152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A NumPy reference of exactly the device arithmetic is checked against the trained float model. The real device C is then compiled for the host and checked against that reference. Only then does it reach the board.</a:t>
            </a:r>
            <a:endParaRPr lang="en-US" sz="1500" dirty="0"/>
          </a:p>
        </p:txBody>
      </p:sp>
      <p:sp>
        <p:nvSpPr>
          <p:cNvPr id="5" name="Shape 3"/>
          <p:cNvSpPr/>
          <p:nvPr/>
        </p:nvSpPr>
        <p:spPr>
          <a:xfrm>
            <a:off x="640080" y="2606040"/>
            <a:ext cx="2500884" cy="1280160"/>
          </a:xfrm>
          <a:prstGeom prst="roundRect">
            <a:avLst>
              <a:gd name="adj" fmla="val 7143"/>
            </a:avLst>
          </a:prstGeom>
          <a:solidFill>
            <a:srgbClr val="F4F7FC"/>
          </a:solidFill>
          <a:ln/>
        </p:spPr>
      </p:sp>
      <p:sp>
        <p:nvSpPr>
          <p:cNvPr id="6" name="Text 4"/>
          <p:cNvSpPr txBox="1"/>
          <p:nvPr/>
        </p:nvSpPr>
        <p:spPr>
          <a:xfrm>
            <a:off x="868680"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Float model</a:t>
            </a:r>
            <a:endParaRPr lang="en-US" sz="1400" dirty="0"/>
          </a:p>
        </p:txBody>
      </p:sp>
      <p:sp>
        <p:nvSpPr>
          <p:cNvPr id="7" name="Text 5"/>
          <p:cNvSpPr txBox="1"/>
          <p:nvPr/>
        </p:nvSpPr>
        <p:spPr>
          <a:xfrm>
            <a:off x="868680"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PyTorch, 92.8 % test</a:t>
            </a:r>
            <a:endParaRPr lang="en-US" sz="1150" dirty="0"/>
          </a:p>
        </p:txBody>
      </p:sp>
      <p:sp>
        <p:nvSpPr>
          <p:cNvPr id="8" name="Shape 6"/>
          <p:cNvSpPr/>
          <p:nvPr/>
        </p:nvSpPr>
        <p:spPr>
          <a:xfrm>
            <a:off x="3177540" y="3154680"/>
            <a:ext cx="219456" cy="182880"/>
          </a:xfrm>
          <a:prstGeom prst="rightArrow">
            <a:avLst/>
          </a:prstGeom>
          <a:solidFill>
            <a:srgbClr val="8FA2C4"/>
          </a:solidFill>
          <a:ln/>
        </p:spPr>
      </p:sp>
      <p:sp>
        <p:nvSpPr>
          <p:cNvPr id="9" name="Shape 7"/>
          <p:cNvSpPr/>
          <p:nvPr/>
        </p:nvSpPr>
        <p:spPr>
          <a:xfrm>
            <a:off x="3433572" y="2606040"/>
            <a:ext cx="2500884" cy="1280160"/>
          </a:xfrm>
          <a:prstGeom prst="roundRect">
            <a:avLst>
              <a:gd name="adj" fmla="val 7143"/>
            </a:avLst>
          </a:prstGeom>
          <a:solidFill>
            <a:srgbClr val="F4F7FC"/>
          </a:solidFill>
          <a:ln/>
        </p:spPr>
      </p:sp>
      <p:sp>
        <p:nvSpPr>
          <p:cNvPr id="10" name="Text 8"/>
          <p:cNvSpPr txBox="1"/>
          <p:nvPr/>
        </p:nvSpPr>
        <p:spPr>
          <a:xfrm>
            <a:off x="3662172"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NumPy reference</a:t>
            </a:r>
            <a:endParaRPr lang="en-US" sz="1400" dirty="0"/>
          </a:p>
        </p:txBody>
      </p:sp>
      <p:sp>
        <p:nvSpPr>
          <p:cNvPr id="11" name="Text 9"/>
          <p:cNvSpPr txBox="1"/>
          <p:nvPr/>
        </p:nvSpPr>
        <p:spPr>
          <a:xfrm>
            <a:off x="3662172"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exact device arithmetic</a:t>
            </a:r>
            <a:endParaRPr lang="en-US" sz="1150" dirty="0"/>
          </a:p>
        </p:txBody>
      </p:sp>
      <p:sp>
        <p:nvSpPr>
          <p:cNvPr id="12" name="Shape 10"/>
          <p:cNvSpPr/>
          <p:nvPr/>
        </p:nvSpPr>
        <p:spPr>
          <a:xfrm>
            <a:off x="5971032" y="3154680"/>
            <a:ext cx="219456" cy="182880"/>
          </a:xfrm>
          <a:prstGeom prst="rightArrow">
            <a:avLst/>
          </a:prstGeom>
          <a:solidFill>
            <a:srgbClr val="8FA2C4"/>
          </a:solidFill>
          <a:ln/>
        </p:spPr>
      </p:sp>
      <p:sp>
        <p:nvSpPr>
          <p:cNvPr id="13" name="Shape 11"/>
          <p:cNvSpPr/>
          <p:nvPr/>
        </p:nvSpPr>
        <p:spPr>
          <a:xfrm>
            <a:off x="6227064" y="2606040"/>
            <a:ext cx="2500884" cy="1280160"/>
          </a:xfrm>
          <a:prstGeom prst="roundRect">
            <a:avLst>
              <a:gd name="adj" fmla="val 7143"/>
            </a:avLst>
          </a:prstGeom>
          <a:solidFill>
            <a:srgbClr val="F4F7FC"/>
          </a:solidFill>
          <a:ln/>
        </p:spPr>
      </p:sp>
      <p:sp>
        <p:nvSpPr>
          <p:cNvPr id="14" name="Text 12"/>
          <p:cNvSpPr txBox="1"/>
          <p:nvPr/>
        </p:nvSpPr>
        <p:spPr>
          <a:xfrm>
            <a:off x="6455664"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Device C on host</a:t>
            </a:r>
            <a:endParaRPr lang="en-US" sz="1400" dirty="0"/>
          </a:p>
        </p:txBody>
      </p:sp>
      <p:sp>
        <p:nvSpPr>
          <p:cNvPr id="15" name="Text 13"/>
          <p:cNvSpPr txBox="1"/>
          <p:nvPr/>
        </p:nvSpPr>
        <p:spPr>
          <a:xfrm>
            <a:off x="6455664"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the same source as the board</a:t>
            </a:r>
            <a:endParaRPr lang="en-US" sz="1150" dirty="0"/>
          </a:p>
        </p:txBody>
      </p:sp>
      <p:sp>
        <p:nvSpPr>
          <p:cNvPr id="16" name="Shape 14"/>
          <p:cNvSpPr/>
          <p:nvPr/>
        </p:nvSpPr>
        <p:spPr>
          <a:xfrm>
            <a:off x="8764524" y="3154680"/>
            <a:ext cx="219456" cy="182880"/>
          </a:xfrm>
          <a:prstGeom prst="rightArrow">
            <a:avLst/>
          </a:prstGeom>
          <a:solidFill>
            <a:srgbClr val="8FA2C4"/>
          </a:solidFill>
          <a:ln/>
        </p:spPr>
      </p:sp>
      <p:sp>
        <p:nvSpPr>
          <p:cNvPr id="17" name="Shape 15"/>
          <p:cNvSpPr/>
          <p:nvPr/>
        </p:nvSpPr>
        <p:spPr>
          <a:xfrm>
            <a:off x="9020556" y="2606040"/>
            <a:ext cx="2500884" cy="1280160"/>
          </a:xfrm>
          <a:prstGeom prst="roundRect">
            <a:avLst>
              <a:gd name="adj" fmla="val 7143"/>
            </a:avLst>
          </a:prstGeom>
          <a:solidFill>
            <a:srgbClr val="1E2761"/>
          </a:solidFill>
          <a:ln/>
        </p:spPr>
      </p:sp>
      <p:sp>
        <p:nvSpPr>
          <p:cNvPr id="18" name="Text 16"/>
          <p:cNvSpPr txBox="1"/>
          <p:nvPr/>
        </p:nvSpPr>
        <p:spPr>
          <a:xfrm>
            <a:off x="9249156" y="2880360"/>
            <a:ext cx="2043684" cy="329184"/>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Hardware</a:t>
            </a:r>
            <a:endParaRPr lang="en-US" sz="1400" dirty="0"/>
          </a:p>
        </p:txBody>
      </p:sp>
      <p:sp>
        <p:nvSpPr>
          <p:cNvPr id="19" name="Text 17"/>
          <p:cNvSpPr txBox="1"/>
          <p:nvPr/>
        </p:nvSpPr>
        <p:spPr>
          <a:xfrm>
            <a:off x="9249156"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CADCFC"/>
                </a:solidFill>
                <a:latin typeface="Calibri" pitchFamily="34" charset="0"/>
                <a:ea typeface="Calibri" pitchFamily="34" charset="-122"/>
                <a:cs typeface="Calibri" pitchFamily="34" charset="-120"/>
              </a:rPr>
              <a:t>94.0 % core accuracy</a:t>
            </a:r>
            <a:endParaRPr lang="en-US" sz="1150" dirty="0"/>
          </a:p>
        </p:txBody>
      </p:sp>
      <p:sp>
        <p:nvSpPr>
          <p:cNvPr id="20" name="Text 18"/>
          <p:cNvSpPr txBox="1"/>
          <p:nvPr/>
        </p:nvSpPr>
        <p:spPr>
          <a:xfrm>
            <a:off x="640080" y="4160520"/>
            <a:ext cx="10881360" cy="310896"/>
          </a:xfrm>
          <a:prstGeom prst="rect">
            <a:avLst/>
          </a:prstGeom>
          <a:noFill/>
          <a:ln/>
        </p:spPr>
        <p:txBody>
          <a:bodyPr wrap="square" lIns="0" tIns="0" rIns="0" bIns="0" rtlCol="0" anchor="t"/>
          <a:lstStyle/>
          <a:p>
            <a:pPr indent="0" marL="0">
              <a:buNone/>
            </a:pPr>
            <a:r>
              <a:rPr lang="en-US" sz="1300" b="1" dirty="0">
                <a:solidFill>
                  <a:srgbClr val="12193A"/>
                </a:solidFill>
                <a:latin typeface="Calibri" pitchFamily="34" charset="0"/>
                <a:ea typeface="Calibri" pitchFamily="34" charset="-122"/>
                <a:cs typeface="Calibri" pitchFamily="34" charset="-120"/>
              </a:rPr>
              <a:t>Agreement at every step, on the same inputs</a:t>
            </a:r>
            <a:endParaRPr lang="en-US" sz="1300" dirty="0"/>
          </a:p>
        </p:txBody>
      </p:sp>
      <p:sp>
        <p:nvSpPr>
          <p:cNvPr id="21" name="Shape 19"/>
          <p:cNvSpPr/>
          <p:nvPr/>
        </p:nvSpPr>
        <p:spPr>
          <a:xfrm>
            <a:off x="640080" y="4553712"/>
            <a:ext cx="3456432" cy="1051560"/>
          </a:xfrm>
          <a:prstGeom prst="roundRect">
            <a:avLst>
              <a:gd name="adj" fmla="val 8696"/>
            </a:avLst>
          </a:prstGeom>
          <a:solidFill>
            <a:srgbClr val="F4F7FC"/>
          </a:solidFill>
          <a:ln/>
        </p:spPr>
      </p:sp>
      <p:sp>
        <p:nvSpPr>
          <p:cNvPr id="22" name="Text 20"/>
          <p:cNvSpPr txBox="1"/>
          <p:nvPr/>
        </p:nvSpPr>
        <p:spPr>
          <a:xfrm>
            <a:off x="896112"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transform</a:t>
            </a:r>
            <a:endParaRPr lang="en-US" sz="1250" dirty="0"/>
          </a:p>
        </p:txBody>
      </p:sp>
      <p:sp>
        <p:nvSpPr>
          <p:cNvPr id="23" name="Text 21"/>
          <p:cNvSpPr txBox="1"/>
          <p:nvPr/>
        </p:nvSpPr>
        <p:spPr>
          <a:xfrm>
            <a:off x="896112"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1.4 × 10⁻⁵</a:t>
            </a:r>
            <a:endParaRPr lang="en-US" sz="1900" dirty="0"/>
          </a:p>
        </p:txBody>
      </p:sp>
      <p:sp>
        <p:nvSpPr>
          <p:cNvPr id="24" name="Shape 22"/>
          <p:cNvSpPr/>
          <p:nvPr/>
        </p:nvSpPr>
        <p:spPr>
          <a:xfrm>
            <a:off x="4352544" y="4553712"/>
            <a:ext cx="3456432" cy="1051560"/>
          </a:xfrm>
          <a:prstGeom prst="roundRect">
            <a:avLst>
              <a:gd name="adj" fmla="val 8696"/>
            </a:avLst>
          </a:prstGeom>
          <a:solidFill>
            <a:srgbClr val="F4F7FC"/>
          </a:solidFill>
          <a:ln/>
        </p:spPr>
      </p:sp>
      <p:sp>
        <p:nvSpPr>
          <p:cNvPr id="25" name="Text 23"/>
          <p:cNvSpPr txBox="1"/>
          <p:nvPr/>
        </p:nvSpPr>
        <p:spPr>
          <a:xfrm>
            <a:off x="4608576"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MFCC frame</a:t>
            </a:r>
            <a:endParaRPr lang="en-US" sz="1250" dirty="0"/>
          </a:p>
        </p:txBody>
      </p:sp>
      <p:sp>
        <p:nvSpPr>
          <p:cNvPr id="26" name="Text 24"/>
          <p:cNvSpPr txBox="1"/>
          <p:nvPr/>
        </p:nvSpPr>
        <p:spPr>
          <a:xfrm>
            <a:off x="4608576"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5.5 × 10⁻⁶</a:t>
            </a:r>
            <a:endParaRPr lang="en-US" sz="1900" dirty="0"/>
          </a:p>
        </p:txBody>
      </p:sp>
      <p:sp>
        <p:nvSpPr>
          <p:cNvPr id="27" name="Shape 25"/>
          <p:cNvSpPr/>
          <p:nvPr/>
        </p:nvSpPr>
        <p:spPr>
          <a:xfrm>
            <a:off x="8065008" y="4553712"/>
            <a:ext cx="3456432" cy="1051560"/>
          </a:xfrm>
          <a:prstGeom prst="roundRect">
            <a:avLst>
              <a:gd name="adj" fmla="val 8696"/>
            </a:avLst>
          </a:prstGeom>
          <a:solidFill>
            <a:srgbClr val="F4F7FC"/>
          </a:solidFill>
          <a:ln/>
        </p:spPr>
      </p:sp>
      <p:sp>
        <p:nvSpPr>
          <p:cNvPr id="28" name="Text 26"/>
          <p:cNvSpPr txBox="1"/>
          <p:nvPr/>
        </p:nvSpPr>
        <p:spPr>
          <a:xfrm>
            <a:off x="8321040"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inference logits</a:t>
            </a:r>
            <a:endParaRPr lang="en-US" sz="1250" dirty="0"/>
          </a:p>
        </p:txBody>
      </p:sp>
      <p:sp>
        <p:nvSpPr>
          <p:cNvPr id="29" name="Text 27"/>
          <p:cNvSpPr txBox="1"/>
          <p:nvPr/>
        </p:nvSpPr>
        <p:spPr>
          <a:xfrm>
            <a:off x="8321040"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5 × 10⁻⁸</a:t>
            </a:r>
            <a:endParaRPr lang="en-US" sz="1900" dirty="0"/>
          </a:p>
        </p:txBody>
      </p:sp>
      <p:sp>
        <p:nvSpPr>
          <p:cNvPr id="30" name="Text 28"/>
          <p:cNvSpPr txBox="1"/>
          <p:nvPr/>
        </p:nvSpPr>
        <p:spPr>
          <a:xfrm>
            <a:off x="640080" y="5870448"/>
            <a:ext cx="10881360" cy="365760"/>
          </a:xfrm>
          <a:prstGeom prst="rect">
            <a:avLst/>
          </a:prstGeom>
          <a:noFill/>
          <a:ln/>
        </p:spPr>
        <p:txBody>
          <a:bodyPr wrap="square" lIns="0" tIns="0" rIns="0" bIns="0" rtlCol="0" anchor="t"/>
          <a:lstStyle/>
          <a:p>
            <a:pPr indent="0" marL="0">
              <a:buNone/>
            </a:pPr>
            <a:r>
              <a:rPr lang="en-US" sz="1400" i="1" dirty="0">
                <a:solidFill>
                  <a:srgbClr val="5A6B8C"/>
                </a:solidFill>
                <a:latin typeface="Calibri" pitchFamily="34" charset="0"/>
                <a:ea typeface="Calibri" pitchFamily="34" charset="-122"/>
                <a:cs typeface="Calibri" pitchFamily="34" charset="-120"/>
              </a:rPr>
              <a:t>A disagreement on hardware is therefore a hardware question, never an open one.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LIMITS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What is not claimed</a:t>
            </a:r>
            <a:endParaRPr lang="en-US" sz="3400" dirty="0"/>
          </a:p>
        </p:txBody>
      </p:sp>
      <p:sp>
        <p:nvSpPr>
          <p:cNvPr id="4" name="Text 2"/>
          <p:cNvSpPr txBox="1"/>
          <p:nvPr/>
        </p:nvSpPr>
        <p:spPr>
          <a:xfrm>
            <a:off x="640080" y="1627632"/>
            <a:ext cx="10881360" cy="365760"/>
          </a:xfrm>
          <a:prstGeom prst="rect">
            <a:avLst/>
          </a:prstGeom>
          <a:noFill/>
          <a:ln/>
        </p:spPr>
        <p:txBody>
          <a:bodyPr wrap="square" lIns="0" tIns="0" rIns="0" bIns="0" rtlCol="0" anchor="t"/>
          <a:lstStyle/>
          <a:p>
            <a:pPr indent="0" marL="0">
              <a:buNone/>
            </a:pPr>
            <a:r>
              <a:rPr lang="en-US" sz="1500" dirty="0">
                <a:solidFill>
                  <a:srgbClr val="5A6B8C"/>
                </a:solidFill>
                <a:latin typeface="Calibri" pitchFamily="34" charset="0"/>
                <a:ea typeface="Calibri" pitchFamily="34" charset="-122"/>
                <a:cs typeface="Calibri" pitchFamily="34" charset="-120"/>
              </a:rPr>
              <a:t>Stating the limits precisely is part of the result.</a:t>
            </a:r>
            <a:endParaRPr lang="en-US" sz="1500" dirty="0"/>
          </a:p>
        </p:txBody>
      </p:sp>
      <p:sp>
        <p:nvSpPr>
          <p:cNvPr id="5" name="Shape 3"/>
          <p:cNvSpPr/>
          <p:nvPr/>
        </p:nvSpPr>
        <p:spPr>
          <a:xfrm>
            <a:off x="640080" y="2194560"/>
            <a:ext cx="3456432" cy="3474720"/>
          </a:xfrm>
          <a:prstGeom prst="roundRect">
            <a:avLst>
              <a:gd name="adj" fmla="val 2646"/>
            </a:avLst>
          </a:prstGeom>
          <a:solidFill>
            <a:srgbClr val="F4F7FC"/>
          </a:solidFill>
          <a:ln/>
        </p:spPr>
      </p:sp>
      <p:sp>
        <p:nvSpPr>
          <p:cNvPr id="6" name="Text 4"/>
          <p:cNvSpPr txBox="1"/>
          <p:nvPr/>
        </p:nvSpPr>
        <p:spPr>
          <a:xfrm>
            <a:off x="914400"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Two different accuracies</a:t>
            </a:r>
            <a:endParaRPr lang="en-US" sz="1700" dirty="0"/>
          </a:p>
        </p:txBody>
      </p:sp>
      <p:sp>
        <p:nvSpPr>
          <p:cNvPr id="7" name="Text 5"/>
          <p:cNvSpPr txBox="1"/>
          <p:nvPr/>
        </p:nvSpPr>
        <p:spPr>
          <a:xfrm>
            <a:off x="914400"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94.0 percent is core accuracy on grids across all twelve classes. End to end through the pipeline is 98.9, 98.8 and 100 percent on three keywords and silence: no loss in the pipeline, not a better model.</a:t>
            </a:r>
            <a:endParaRPr lang="en-US" sz="1250" dirty="0"/>
          </a:p>
        </p:txBody>
      </p:sp>
      <p:sp>
        <p:nvSpPr>
          <p:cNvPr id="8" name="Text 6"/>
          <p:cNvSpPr txBox="1"/>
          <p:nvPr/>
        </p:nvSpPr>
        <p:spPr>
          <a:xfrm>
            <a:off x="914400"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9" name="Text 7"/>
          <p:cNvSpPr txBox="1"/>
          <p:nvPr/>
        </p:nvSpPr>
        <p:spPr>
          <a:xfrm>
            <a:off x="914400"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replay corpus spanning all twelve classes</a:t>
            </a:r>
            <a:endParaRPr lang="en-US" sz="1250" dirty="0"/>
          </a:p>
        </p:txBody>
      </p:sp>
      <p:sp>
        <p:nvSpPr>
          <p:cNvPr id="10" name="Shape 8"/>
          <p:cNvSpPr/>
          <p:nvPr/>
        </p:nvSpPr>
        <p:spPr>
          <a:xfrm>
            <a:off x="4352544" y="2194560"/>
            <a:ext cx="3456432" cy="3474720"/>
          </a:xfrm>
          <a:prstGeom prst="roundRect">
            <a:avLst>
              <a:gd name="adj" fmla="val 2646"/>
            </a:avLst>
          </a:prstGeom>
          <a:solidFill>
            <a:srgbClr val="F4F7FC"/>
          </a:solidFill>
          <a:ln/>
        </p:spPr>
      </p:sp>
      <p:sp>
        <p:nvSpPr>
          <p:cNvPr id="11" name="Text 9"/>
          <p:cNvSpPr txBox="1"/>
          <p:nvPr/>
        </p:nvSpPr>
        <p:spPr>
          <a:xfrm>
            <a:off x="4626864"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Power is a ratio</a:t>
            </a:r>
            <a:endParaRPr lang="en-US" sz="1700" dirty="0"/>
          </a:p>
        </p:txBody>
      </p:sp>
      <p:sp>
        <p:nvSpPr>
          <p:cNvPr id="12" name="Text 10"/>
          <p:cNvSpPr txBox="1"/>
          <p:nvPr/>
        </p:nvSpPr>
        <p:spPr>
          <a:xfrm>
            <a:off x="4626864"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Idle residency, not a wattage. No ammeter was used. The firmware side is ready and the absolute current at the IDD jumper is still to be measured.</a:t>
            </a:r>
            <a:endParaRPr lang="en-US" sz="1250" dirty="0"/>
          </a:p>
        </p:txBody>
      </p:sp>
      <p:sp>
        <p:nvSpPr>
          <p:cNvPr id="13" name="Text 11"/>
          <p:cNvSpPr txBox="1"/>
          <p:nvPr/>
        </p:nvSpPr>
        <p:spPr>
          <a:xfrm>
            <a:off x="4626864"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14" name="Text 12"/>
          <p:cNvSpPr txBox="1"/>
          <p:nvPr/>
        </p:nvSpPr>
        <p:spPr>
          <a:xfrm>
            <a:off x="4626864"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DC ammeter in series at the IDD jumper</a:t>
            </a:r>
            <a:endParaRPr lang="en-US" sz="1250" dirty="0"/>
          </a:p>
        </p:txBody>
      </p:sp>
      <p:sp>
        <p:nvSpPr>
          <p:cNvPr id="15" name="Shape 13"/>
          <p:cNvSpPr/>
          <p:nvPr/>
        </p:nvSpPr>
        <p:spPr>
          <a:xfrm>
            <a:off x="8065008" y="2194560"/>
            <a:ext cx="3456432" cy="3474720"/>
          </a:xfrm>
          <a:prstGeom prst="roundRect">
            <a:avLst>
              <a:gd name="adj" fmla="val 2646"/>
            </a:avLst>
          </a:prstGeom>
          <a:solidFill>
            <a:srgbClr val="F4F7FC"/>
          </a:solidFill>
          <a:ln/>
        </p:spPr>
      </p:sp>
      <p:sp>
        <p:nvSpPr>
          <p:cNvPr id="16" name="Text 14"/>
          <p:cNvSpPr txBox="1"/>
          <p:nvPr/>
        </p:nvSpPr>
        <p:spPr>
          <a:xfrm>
            <a:off x="8339328"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TrustZone is cut</a:t>
            </a:r>
            <a:endParaRPr lang="en-US" sz="1700" dirty="0"/>
          </a:p>
        </p:txBody>
      </p:sp>
      <p:sp>
        <p:nvSpPr>
          <p:cNvPr id="17" name="Text 15"/>
          <p:cNvSpPr txBox="1"/>
          <p:nvPr/>
        </p:nvSpPr>
        <p:spPr>
          <a:xfrm>
            <a:off x="8339328"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program plan promised secure world weight isolation in section 6.6. It was cut as separable from the co-optimisation thesis, and the descope is documented rather than glossed over.</a:t>
            </a:r>
            <a:endParaRPr lang="en-US" sz="1250" dirty="0"/>
          </a:p>
        </p:txBody>
      </p:sp>
      <p:sp>
        <p:nvSpPr>
          <p:cNvPr id="18" name="Text 16"/>
          <p:cNvSpPr txBox="1"/>
          <p:nvPr/>
        </p:nvSpPr>
        <p:spPr>
          <a:xfrm>
            <a:off x="8339328"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19" name="Text 17"/>
          <p:cNvSpPr txBox="1"/>
          <p:nvPr/>
        </p:nvSpPr>
        <p:spPr>
          <a:xfrm>
            <a:off x="8339328"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secure world partition behind an NSC veneer</a:t>
            </a:r>
            <a:endParaRPr lang="en-US" sz="1250" dirty="0"/>
          </a:p>
        </p:txBody>
      </p:sp>
      <p:sp>
        <p:nvSpPr>
          <p:cNvPr id="20" name="Text 18"/>
          <p:cNvSpPr txBox="1"/>
          <p:nvPr/>
        </p:nvSpPr>
        <p:spPr>
          <a:xfrm>
            <a:off x="640080" y="5943600"/>
            <a:ext cx="10881360" cy="36576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Every figure in this deck traces back to a timestamped run under experiments/ with its raw device capture alongside 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SELECTED REFERENCES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Built on four lines of research</a:t>
            </a:r>
            <a:endParaRPr lang="en-US" sz="3400" dirty="0"/>
          </a:p>
        </p:txBody>
      </p:sp>
      <p:sp>
        <p:nvSpPr>
          <p:cNvPr id="4" name="Shape 2"/>
          <p:cNvSpPr/>
          <p:nvPr/>
        </p:nvSpPr>
        <p:spPr>
          <a:xfrm>
            <a:off x="640080" y="1600200"/>
            <a:ext cx="5303520" cy="1965960"/>
          </a:xfrm>
          <a:prstGeom prst="roundRect">
            <a:avLst>
              <a:gd name="adj" fmla="val 4651"/>
            </a:avLst>
          </a:prstGeom>
          <a:solidFill>
            <a:srgbClr val="1E2761"/>
          </a:solidFill>
          <a:ln/>
        </p:spPr>
      </p:sp>
      <p:sp>
        <p:nvSpPr>
          <p:cNvPr id="5" name="Text 3"/>
          <p:cNvSpPr txBox="1"/>
          <p:nvPr/>
        </p:nvSpPr>
        <p:spPr>
          <a:xfrm>
            <a:off x="914400" y="1801368"/>
            <a:ext cx="4754880" cy="329184"/>
          </a:xfrm>
          <a:prstGeom prst="rect">
            <a:avLst/>
          </a:prstGeom>
          <a:noFill/>
          <a:ln/>
        </p:spPr>
        <p:txBody>
          <a:bodyPr wrap="square" lIns="0" tIns="0" rIns="0" bIns="0" rtlCol="0" anchor="t"/>
          <a:lstStyle/>
          <a:p>
            <a:pPr indent="0" marL="0">
              <a:buNone/>
            </a:pPr>
            <a:r>
              <a:rPr lang="en-US" sz="1400" b="1" dirty="0">
                <a:solidFill>
                  <a:srgbClr val="F6AE2D"/>
                </a:solidFill>
                <a:latin typeface="Calibri" pitchFamily="34" charset="0"/>
                <a:ea typeface="Calibri" pitchFamily="34" charset="-122"/>
                <a:cs typeface="Calibri" pitchFamily="34" charset="-120"/>
              </a:rPr>
              <a:t>Real time foundations</a:t>
            </a:r>
            <a:endParaRPr lang="en-US" sz="1400" dirty="0"/>
          </a:p>
        </p:txBody>
      </p:sp>
      <p:sp>
        <p:nvSpPr>
          <p:cNvPr id="6" name="Text 4"/>
          <p:cNvSpPr txBox="1"/>
          <p:nvPr/>
        </p:nvSpPr>
        <p:spPr>
          <a:xfrm>
            <a:off x="914400" y="2221992"/>
            <a:ext cx="4754880" cy="292608"/>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Sakamura, IEEE Micro 1987</a:t>
            </a:r>
            <a:pPr indent="0" marL="0">
              <a:buNone/>
            </a:pPr>
            <a:r>
              <a:rPr lang="en-US" sz="1150" dirty="0">
                <a:solidFill>
                  <a:srgbClr val="CADCFC"/>
                </a:solidFill>
                <a:latin typeface="Calibri" pitchFamily="34" charset="0"/>
                <a:ea typeface="Calibri" pitchFamily="34" charset="-122"/>
                <a:cs typeface="Calibri" pitchFamily="34" charset="-120"/>
              </a:rPr>
              <a:t>   ·   the TRON project</a:t>
            </a:r>
            <a:endParaRPr lang="en-US" sz="1150" dirty="0"/>
          </a:p>
        </p:txBody>
      </p:sp>
      <p:sp>
        <p:nvSpPr>
          <p:cNvPr id="7" name="Text 5"/>
          <p:cNvSpPr txBox="1"/>
          <p:nvPr/>
        </p:nvSpPr>
        <p:spPr>
          <a:xfrm>
            <a:off x="914400" y="2542032"/>
            <a:ext cx="4754880" cy="292608"/>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Liu and Layland, JACM 1973</a:t>
            </a:r>
            <a:pPr indent="0" marL="0">
              <a:buNone/>
            </a:pPr>
            <a:r>
              <a:rPr lang="en-US" sz="1150" dirty="0">
                <a:solidFill>
                  <a:srgbClr val="CADCFC"/>
                </a:solidFill>
                <a:latin typeface="Calibri" pitchFamily="34" charset="0"/>
                <a:ea typeface="Calibri" pitchFamily="34" charset="-122"/>
                <a:cs typeface="Calibri" pitchFamily="34" charset="-120"/>
              </a:rPr>
              <a:t>   ·   scheduling to periodic deadlines</a:t>
            </a:r>
            <a:endParaRPr lang="en-US" sz="1150" dirty="0"/>
          </a:p>
        </p:txBody>
      </p:sp>
      <p:sp>
        <p:nvSpPr>
          <p:cNvPr id="8" name="Text 6"/>
          <p:cNvSpPr txBox="1"/>
          <p:nvPr/>
        </p:nvSpPr>
        <p:spPr>
          <a:xfrm>
            <a:off x="914400" y="2862072"/>
            <a:ext cx="4754880" cy="292608"/>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Liu et al., Proc. IEEE 1994</a:t>
            </a:r>
            <a:pPr indent="0" marL="0">
              <a:buNone/>
            </a:pPr>
            <a:r>
              <a:rPr lang="en-US" sz="1150" dirty="0">
                <a:solidFill>
                  <a:srgbClr val="CADCFC"/>
                </a:solidFill>
                <a:latin typeface="Calibri" pitchFamily="34" charset="0"/>
                <a:ea typeface="Calibri" pitchFamily="34" charset="-122"/>
                <a:cs typeface="Calibri" pitchFamily="34" charset="-120"/>
              </a:rPr>
              <a:t>   ·   imprecise computation</a:t>
            </a:r>
            <a:endParaRPr lang="en-US" sz="1150" dirty="0"/>
          </a:p>
        </p:txBody>
      </p:sp>
      <p:sp>
        <p:nvSpPr>
          <p:cNvPr id="9" name="Text 7"/>
          <p:cNvSpPr txBox="1"/>
          <p:nvPr/>
        </p:nvSpPr>
        <p:spPr>
          <a:xfrm>
            <a:off x="914400" y="3182112"/>
            <a:ext cx="4754880" cy="292608"/>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Lu et al., Real-Time Systems 2002</a:t>
            </a:r>
            <a:pPr indent="0" marL="0">
              <a:buNone/>
            </a:pPr>
            <a:r>
              <a:rPr lang="en-US" sz="1150" dirty="0">
                <a:solidFill>
                  <a:srgbClr val="CADCFC"/>
                </a:solidFill>
                <a:latin typeface="Calibri" pitchFamily="34" charset="0"/>
                <a:ea typeface="Calibri" pitchFamily="34" charset="-122"/>
                <a:cs typeface="Calibri" pitchFamily="34" charset="-120"/>
              </a:rPr>
              <a:t>   ·   feedback control scheduling</a:t>
            </a:r>
            <a:endParaRPr lang="en-US" sz="1150" dirty="0"/>
          </a:p>
        </p:txBody>
      </p:sp>
      <p:sp>
        <p:nvSpPr>
          <p:cNvPr id="10" name="Shape 8"/>
          <p:cNvSpPr/>
          <p:nvPr/>
        </p:nvSpPr>
        <p:spPr>
          <a:xfrm>
            <a:off x="6217920" y="1600200"/>
            <a:ext cx="5303520" cy="1965960"/>
          </a:xfrm>
          <a:prstGeom prst="roundRect">
            <a:avLst>
              <a:gd name="adj" fmla="val 4651"/>
            </a:avLst>
          </a:prstGeom>
          <a:solidFill>
            <a:srgbClr val="F4F7FC"/>
          </a:solidFill>
          <a:ln/>
        </p:spPr>
      </p:sp>
      <p:sp>
        <p:nvSpPr>
          <p:cNvPr id="11" name="Text 9"/>
          <p:cNvSpPr txBox="1"/>
          <p:nvPr/>
        </p:nvSpPr>
        <p:spPr>
          <a:xfrm>
            <a:off x="6492240" y="1801368"/>
            <a:ext cx="475488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Adaptive inference under deadlines</a:t>
            </a:r>
            <a:endParaRPr lang="en-US" sz="1400" dirty="0"/>
          </a:p>
        </p:txBody>
      </p:sp>
      <p:sp>
        <p:nvSpPr>
          <p:cNvPr id="12" name="Text 10"/>
          <p:cNvSpPr txBox="1"/>
          <p:nvPr/>
        </p:nvSpPr>
        <p:spPr>
          <a:xfrm>
            <a:off x="6492240" y="2221992"/>
            <a:ext cx="4754880" cy="292608"/>
          </a:xfrm>
          <a:prstGeom prst="rect">
            <a:avLst/>
          </a:prstGeom>
          <a:noFill/>
          <a:ln/>
        </p:spPr>
        <p:txBody>
          <a:bodyPr wrap="square" lIns="0" tIns="0" rIns="0" bIns="0" rtlCol="0" anchor="t"/>
          <a:lstStyle/>
          <a:p>
            <a:pPr indent="0" marL="0">
              <a:buNone/>
            </a:pPr>
            <a:r>
              <a:rPr lang="en-US" sz="1150" b="1" dirty="0">
                <a:solidFill>
                  <a:srgbClr val="1E2761"/>
                </a:solidFill>
                <a:latin typeface="Calibri" pitchFamily="34" charset="0"/>
                <a:ea typeface="Calibri" pitchFamily="34" charset="-122"/>
                <a:cs typeface="Calibri" pitchFamily="34" charset="-120"/>
              </a:rPr>
              <a:t>Bateni and Liu, RTSS 2018</a:t>
            </a:r>
            <a:pPr indent="0" marL="0">
              <a:buNone/>
            </a:pPr>
            <a:r>
              <a:rPr lang="en-US" sz="1150" dirty="0">
                <a:solidFill>
                  <a:srgbClr val="5A6B8C"/>
                </a:solidFill>
                <a:latin typeface="Calibri" pitchFamily="34" charset="0"/>
                <a:ea typeface="Calibri" pitchFamily="34" charset="-122"/>
                <a:cs typeface="Calibri" pitchFamily="34" charset="-120"/>
              </a:rPr>
              <a:t>   ·   ApNet, layer wise approximation</a:t>
            </a:r>
            <a:endParaRPr lang="en-US" sz="1150" dirty="0"/>
          </a:p>
        </p:txBody>
      </p:sp>
      <p:sp>
        <p:nvSpPr>
          <p:cNvPr id="13" name="Text 11"/>
          <p:cNvSpPr txBox="1"/>
          <p:nvPr/>
        </p:nvSpPr>
        <p:spPr>
          <a:xfrm>
            <a:off x="6492240" y="2542032"/>
            <a:ext cx="4754880" cy="292608"/>
          </a:xfrm>
          <a:prstGeom prst="rect">
            <a:avLst/>
          </a:prstGeom>
          <a:noFill/>
          <a:ln/>
        </p:spPr>
        <p:txBody>
          <a:bodyPr wrap="square" lIns="0" tIns="0" rIns="0" bIns="0" rtlCol="0" anchor="t"/>
          <a:lstStyle/>
          <a:p>
            <a:pPr indent="0" marL="0">
              <a:buNone/>
            </a:pPr>
            <a:r>
              <a:rPr lang="en-US" sz="1150" b="1" dirty="0">
                <a:solidFill>
                  <a:srgbClr val="1E2761"/>
                </a:solidFill>
                <a:latin typeface="Calibri" pitchFamily="34" charset="0"/>
                <a:ea typeface="Calibri" pitchFamily="34" charset="-122"/>
                <a:cs typeface="Calibri" pitchFamily="34" charset="-120"/>
              </a:rPr>
              <a:t>Kang et al., RTSS 2021</a:t>
            </a:r>
            <a:pPr indent="0" marL="0">
              <a:buNone/>
            </a:pPr>
            <a:r>
              <a:rPr lang="en-US" sz="1150" dirty="0">
                <a:solidFill>
                  <a:srgbClr val="5A6B8C"/>
                </a:solidFill>
                <a:latin typeface="Calibri" pitchFamily="34" charset="0"/>
                <a:ea typeface="Calibri" pitchFamily="34" charset="-122"/>
                <a:cs typeface="Calibri" pitchFamily="34" charset="-120"/>
              </a:rPr>
              <a:t>   ·   LaLaRAND, layer level scheduling</a:t>
            </a:r>
            <a:endParaRPr lang="en-US" sz="1150" dirty="0"/>
          </a:p>
        </p:txBody>
      </p:sp>
      <p:sp>
        <p:nvSpPr>
          <p:cNvPr id="14" name="Text 12"/>
          <p:cNvSpPr txBox="1"/>
          <p:nvPr/>
        </p:nvSpPr>
        <p:spPr>
          <a:xfrm>
            <a:off x="6492240" y="2862072"/>
            <a:ext cx="4754880" cy="292608"/>
          </a:xfrm>
          <a:prstGeom prst="rect">
            <a:avLst/>
          </a:prstGeom>
          <a:noFill/>
          <a:ln/>
        </p:spPr>
        <p:txBody>
          <a:bodyPr wrap="square" lIns="0" tIns="0" rIns="0" bIns="0" rtlCol="0" anchor="t"/>
          <a:lstStyle/>
          <a:p>
            <a:pPr indent="0" marL="0">
              <a:buNone/>
            </a:pPr>
            <a:r>
              <a:rPr lang="en-US" sz="1150" b="1" dirty="0">
                <a:solidFill>
                  <a:srgbClr val="1E2761"/>
                </a:solidFill>
                <a:latin typeface="Calibri" pitchFamily="34" charset="0"/>
                <a:ea typeface="Calibri" pitchFamily="34" charset="-122"/>
                <a:cs typeface="Calibri" pitchFamily="34" charset="-120"/>
              </a:rPr>
              <a:t>Islam and Nirjon, IMWUT 2020</a:t>
            </a:r>
            <a:pPr indent="0" marL="0">
              <a:buNone/>
            </a:pPr>
            <a:r>
              <a:rPr lang="en-US" sz="1150" dirty="0">
                <a:solidFill>
                  <a:srgbClr val="5A6B8C"/>
                </a:solidFill>
                <a:latin typeface="Calibri" pitchFamily="34" charset="0"/>
                <a:ea typeface="Calibri" pitchFamily="34" charset="-122"/>
                <a:cs typeface="Calibri" pitchFamily="34" charset="-120"/>
              </a:rPr>
              <a:t>   ·   Zygarde, batteryless inference</a:t>
            </a:r>
            <a:endParaRPr lang="en-US" sz="1150" dirty="0"/>
          </a:p>
        </p:txBody>
      </p:sp>
      <p:sp>
        <p:nvSpPr>
          <p:cNvPr id="15" name="Text 13"/>
          <p:cNvSpPr txBox="1"/>
          <p:nvPr/>
        </p:nvSpPr>
        <p:spPr>
          <a:xfrm>
            <a:off x="6492240" y="3182112"/>
            <a:ext cx="4754880" cy="292608"/>
          </a:xfrm>
          <a:prstGeom prst="rect">
            <a:avLst/>
          </a:prstGeom>
          <a:noFill/>
          <a:ln/>
        </p:spPr>
        <p:txBody>
          <a:bodyPr wrap="square" lIns="0" tIns="0" rIns="0" bIns="0" rtlCol="0" anchor="t"/>
          <a:lstStyle/>
          <a:p>
            <a:pPr indent="0" marL="0">
              <a:buNone/>
            </a:pPr>
            <a:r>
              <a:rPr lang="en-US" sz="1150" b="1" dirty="0">
                <a:solidFill>
                  <a:srgbClr val="1E2761"/>
                </a:solidFill>
                <a:latin typeface="Calibri" pitchFamily="34" charset="0"/>
                <a:ea typeface="Calibri" pitchFamily="34" charset="-122"/>
                <a:cs typeface="Calibri" pitchFamily="34" charset="-120"/>
              </a:rPr>
              <a:t>Han et al., TPAMI 2022</a:t>
            </a:r>
            <a:pPr indent="0" marL="0">
              <a:buNone/>
            </a:pPr>
            <a:r>
              <a:rPr lang="en-US" sz="1150" dirty="0">
                <a:solidFill>
                  <a:srgbClr val="5A6B8C"/>
                </a:solidFill>
                <a:latin typeface="Calibri" pitchFamily="34" charset="0"/>
                <a:ea typeface="Calibri" pitchFamily="34" charset="-122"/>
                <a:cs typeface="Calibri" pitchFamily="34" charset="-120"/>
              </a:rPr>
              <a:t>   ·   dynamic neural networks</a:t>
            </a:r>
            <a:endParaRPr lang="en-US" sz="1150" dirty="0"/>
          </a:p>
        </p:txBody>
      </p:sp>
      <p:sp>
        <p:nvSpPr>
          <p:cNvPr id="16" name="Shape 14"/>
          <p:cNvSpPr/>
          <p:nvPr/>
        </p:nvSpPr>
        <p:spPr>
          <a:xfrm>
            <a:off x="640080" y="3767328"/>
            <a:ext cx="5303520" cy="1965960"/>
          </a:xfrm>
          <a:prstGeom prst="roundRect">
            <a:avLst>
              <a:gd name="adj" fmla="val 4651"/>
            </a:avLst>
          </a:prstGeom>
          <a:solidFill>
            <a:srgbClr val="F4F7FC"/>
          </a:solidFill>
          <a:ln/>
        </p:spPr>
      </p:sp>
      <p:sp>
        <p:nvSpPr>
          <p:cNvPr id="17" name="Text 15"/>
          <p:cNvSpPr txBox="1"/>
          <p:nvPr/>
        </p:nvSpPr>
        <p:spPr>
          <a:xfrm>
            <a:off x="914400" y="3968496"/>
            <a:ext cx="475488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Quantisation and precision</a:t>
            </a:r>
            <a:endParaRPr lang="en-US" sz="1400" dirty="0"/>
          </a:p>
        </p:txBody>
      </p:sp>
      <p:sp>
        <p:nvSpPr>
          <p:cNvPr id="18" name="Text 16"/>
          <p:cNvSpPr txBox="1"/>
          <p:nvPr/>
        </p:nvSpPr>
        <p:spPr>
          <a:xfrm>
            <a:off x="914400" y="4389120"/>
            <a:ext cx="4754880" cy="292608"/>
          </a:xfrm>
          <a:prstGeom prst="rect">
            <a:avLst/>
          </a:prstGeom>
          <a:noFill/>
          <a:ln/>
        </p:spPr>
        <p:txBody>
          <a:bodyPr wrap="square" lIns="0" tIns="0" rIns="0" bIns="0" rtlCol="0" anchor="t"/>
          <a:lstStyle/>
          <a:p>
            <a:pPr indent="0" marL="0">
              <a:buNone/>
            </a:pPr>
            <a:r>
              <a:rPr lang="en-US" sz="1150" b="1" dirty="0">
                <a:solidFill>
                  <a:srgbClr val="1E2761"/>
                </a:solidFill>
                <a:latin typeface="Calibri" pitchFamily="34" charset="0"/>
                <a:ea typeface="Calibri" pitchFamily="34" charset="-122"/>
                <a:cs typeface="Calibri" pitchFamily="34" charset="-120"/>
              </a:rPr>
              <a:t>Jacob et al., CVPR 2018</a:t>
            </a:r>
            <a:pPr indent="0" marL="0">
              <a:buNone/>
            </a:pPr>
            <a:r>
              <a:rPr lang="en-US" sz="1150" dirty="0">
                <a:solidFill>
                  <a:srgbClr val="5A6B8C"/>
                </a:solidFill>
                <a:latin typeface="Calibri" pitchFamily="34" charset="0"/>
                <a:ea typeface="Calibri" pitchFamily="34" charset="-122"/>
                <a:cs typeface="Calibri" pitchFamily="34" charset="-120"/>
              </a:rPr>
              <a:t>   ·   integer only inference</a:t>
            </a:r>
            <a:endParaRPr lang="en-US" sz="1150" dirty="0"/>
          </a:p>
        </p:txBody>
      </p:sp>
      <p:sp>
        <p:nvSpPr>
          <p:cNvPr id="19" name="Text 17"/>
          <p:cNvSpPr txBox="1"/>
          <p:nvPr/>
        </p:nvSpPr>
        <p:spPr>
          <a:xfrm>
            <a:off x="914400" y="4709160"/>
            <a:ext cx="4754880" cy="292608"/>
          </a:xfrm>
          <a:prstGeom prst="rect">
            <a:avLst/>
          </a:prstGeom>
          <a:noFill/>
          <a:ln/>
        </p:spPr>
        <p:txBody>
          <a:bodyPr wrap="square" lIns="0" tIns="0" rIns="0" bIns="0" rtlCol="0" anchor="t"/>
          <a:lstStyle/>
          <a:p>
            <a:pPr indent="0" marL="0">
              <a:buNone/>
            </a:pPr>
            <a:r>
              <a:rPr lang="en-US" sz="1150" b="1" dirty="0">
                <a:solidFill>
                  <a:srgbClr val="1E2761"/>
                </a:solidFill>
                <a:latin typeface="Calibri" pitchFamily="34" charset="0"/>
                <a:ea typeface="Calibri" pitchFamily="34" charset="-122"/>
                <a:cs typeface="Calibri" pitchFamily="34" charset="-120"/>
              </a:rPr>
              <a:t>Wang et al., CVPR 2019</a:t>
            </a:r>
            <a:pPr indent="0" marL="0">
              <a:buNone/>
            </a:pPr>
            <a:r>
              <a:rPr lang="en-US" sz="1150" dirty="0">
                <a:solidFill>
                  <a:srgbClr val="5A6B8C"/>
                </a:solidFill>
                <a:latin typeface="Calibri" pitchFamily="34" charset="0"/>
                <a:ea typeface="Calibri" pitchFamily="34" charset="-122"/>
                <a:cs typeface="Calibri" pitchFamily="34" charset="-120"/>
              </a:rPr>
              <a:t>   ·   HAQ, hardware aware precision</a:t>
            </a:r>
            <a:endParaRPr lang="en-US" sz="1150" dirty="0"/>
          </a:p>
        </p:txBody>
      </p:sp>
      <p:sp>
        <p:nvSpPr>
          <p:cNvPr id="20" name="Text 18"/>
          <p:cNvSpPr txBox="1"/>
          <p:nvPr/>
        </p:nvSpPr>
        <p:spPr>
          <a:xfrm>
            <a:off x="914400" y="5029200"/>
            <a:ext cx="4754880" cy="292608"/>
          </a:xfrm>
          <a:prstGeom prst="rect">
            <a:avLst/>
          </a:prstGeom>
          <a:noFill/>
          <a:ln/>
        </p:spPr>
        <p:txBody>
          <a:bodyPr wrap="square" lIns="0" tIns="0" rIns="0" bIns="0" rtlCol="0" anchor="t"/>
          <a:lstStyle/>
          <a:p>
            <a:pPr indent="0" marL="0">
              <a:buNone/>
            </a:pPr>
            <a:r>
              <a:rPr lang="en-US" sz="1150" b="1" dirty="0">
                <a:solidFill>
                  <a:srgbClr val="1E2761"/>
                </a:solidFill>
                <a:latin typeface="Calibri" pitchFamily="34" charset="0"/>
                <a:ea typeface="Calibri" pitchFamily="34" charset="-122"/>
                <a:cs typeface="Calibri" pitchFamily="34" charset="-120"/>
              </a:rPr>
              <a:t>Rusci et al., MLSys 2020</a:t>
            </a:r>
            <a:pPr indent="0" marL="0">
              <a:buNone/>
            </a:pPr>
            <a:r>
              <a:rPr lang="en-US" sz="1150" dirty="0">
                <a:solidFill>
                  <a:srgbClr val="5A6B8C"/>
                </a:solidFill>
                <a:latin typeface="Calibri" pitchFamily="34" charset="0"/>
                <a:ea typeface="Calibri" pitchFamily="34" charset="-122"/>
                <a:cs typeface="Calibri" pitchFamily="34" charset="-120"/>
              </a:rPr>
              <a:t>   ·   mixed precision on microcontrollers</a:t>
            </a:r>
            <a:endParaRPr lang="en-US" sz="1150" dirty="0"/>
          </a:p>
        </p:txBody>
      </p:sp>
      <p:sp>
        <p:nvSpPr>
          <p:cNvPr id="21" name="Text 19"/>
          <p:cNvSpPr txBox="1"/>
          <p:nvPr/>
        </p:nvSpPr>
        <p:spPr>
          <a:xfrm>
            <a:off x="914400" y="5349240"/>
            <a:ext cx="4754880" cy="292608"/>
          </a:xfrm>
          <a:prstGeom prst="rect">
            <a:avLst/>
          </a:prstGeom>
          <a:noFill/>
          <a:ln/>
        </p:spPr>
        <p:txBody>
          <a:bodyPr wrap="square" lIns="0" tIns="0" rIns="0" bIns="0" rtlCol="0" anchor="t"/>
          <a:lstStyle/>
          <a:p>
            <a:pPr indent="0" marL="0">
              <a:buNone/>
            </a:pPr>
            <a:r>
              <a:rPr lang="en-US" sz="1150" b="1" dirty="0">
                <a:solidFill>
                  <a:srgbClr val="1E2761"/>
                </a:solidFill>
                <a:latin typeface="Calibri" pitchFamily="34" charset="0"/>
                <a:ea typeface="Calibri" pitchFamily="34" charset="-122"/>
                <a:cs typeface="Calibri" pitchFamily="34" charset="-120"/>
              </a:rPr>
              <a:t>Bulat and Tzimiropoulos, ICCV 2021</a:t>
            </a:r>
            <a:pPr indent="0" marL="0">
              <a:buNone/>
            </a:pPr>
            <a:r>
              <a:rPr lang="en-US" sz="1150" dirty="0">
                <a:solidFill>
                  <a:srgbClr val="5A6B8C"/>
                </a:solidFill>
                <a:latin typeface="Calibri" pitchFamily="34" charset="0"/>
                <a:ea typeface="Calibri" pitchFamily="34" charset="-122"/>
                <a:cs typeface="Calibri" pitchFamily="34" charset="-120"/>
              </a:rPr>
              <a:t>   ·   Bit-Mixer, runtime precision</a:t>
            </a:r>
            <a:endParaRPr lang="en-US" sz="1150" dirty="0"/>
          </a:p>
        </p:txBody>
      </p:sp>
      <p:sp>
        <p:nvSpPr>
          <p:cNvPr id="22" name="Shape 20"/>
          <p:cNvSpPr/>
          <p:nvPr/>
        </p:nvSpPr>
        <p:spPr>
          <a:xfrm>
            <a:off x="6217920" y="3767328"/>
            <a:ext cx="5303520" cy="1965960"/>
          </a:xfrm>
          <a:prstGeom prst="roundRect">
            <a:avLst>
              <a:gd name="adj" fmla="val 4651"/>
            </a:avLst>
          </a:prstGeom>
          <a:solidFill>
            <a:srgbClr val="F4F7FC"/>
          </a:solidFill>
          <a:ln/>
        </p:spPr>
      </p:sp>
      <p:sp>
        <p:nvSpPr>
          <p:cNvPr id="23" name="Text 21"/>
          <p:cNvSpPr txBox="1"/>
          <p:nvPr/>
        </p:nvSpPr>
        <p:spPr>
          <a:xfrm>
            <a:off x="6492240" y="3968496"/>
            <a:ext cx="475488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Microcontroller ML and speech</a:t>
            </a:r>
            <a:endParaRPr lang="en-US" sz="1400" dirty="0"/>
          </a:p>
        </p:txBody>
      </p:sp>
      <p:sp>
        <p:nvSpPr>
          <p:cNvPr id="24" name="Text 22"/>
          <p:cNvSpPr txBox="1"/>
          <p:nvPr/>
        </p:nvSpPr>
        <p:spPr>
          <a:xfrm>
            <a:off x="6492240" y="4389120"/>
            <a:ext cx="4754880" cy="292608"/>
          </a:xfrm>
          <a:prstGeom prst="rect">
            <a:avLst/>
          </a:prstGeom>
          <a:noFill/>
          <a:ln/>
        </p:spPr>
        <p:txBody>
          <a:bodyPr wrap="square" lIns="0" tIns="0" rIns="0" bIns="0" rtlCol="0" anchor="t"/>
          <a:lstStyle/>
          <a:p>
            <a:pPr indent="0" marL="0">
              <a:buNone/>
            </a:pPr>
            <a:r>
              <a:rPr lang="en-US" sz="1150" b="1" dirty="0">
                <a:solidFill>
                  <a:srgbClr val="1E2761"/>
                </a:solidFill>
                <a:latin typeface="Calibri" pitchFamily="34" charset="0"/>
                <a:ea typeface="Calibri" pitchFamily="34" charset="-122"/>
                <a:cs typeface="Calibri" pitchFamily="34" charset="-120"/>
              </a:rPr>
              <a:t>Lin et al., NeurIPS 2020</a:t>
            </a:r>
            <a:pPr indent="0" marL="0">
              <a:buNone/>
            </a:pPr>
            <a:r>
              <a:rPr lang="en-US" sz="1150" dirty="0">
                <a:solidFill>
                  <a:srgbClr val="5A6B8C"/>
                </a:solidFill>
                <a:latin typeface="Calibri" pitchFamily="34" charset="0"/>
                <a:ea typeface="Calibri" pitchFamily="34" charset="-122"/>
                <a:cs typeface="Calibri" pitchFamily="34" charset="-120"/>
              </a:rPr>
              <a:t>   ·   MCUNet</a:t>
            </a:r>
            <a:endParaRPr lang="en-US" sz="1150" dirty="0"/>
          </a:p>
        </p:txBody>
      </p:sp>
      <p:sp>
        <p:nvSpPr>
          <p:cNvPr id="25" name="Text 23"/>
          <p:cNvSpPr txBox="1"/>
          <p:nvPr/>
        </p:nvSpPr>
        <p:spPr>
          <a:xfrm>
            <a:off x="6492240" y="4709160"/>
            <a:ext cx="4754880" cy="292608"/>
          </a:xfrm>
          <a:prstGeom prst="rect">
            <a:avLst/>
          </a:prstGeom>
          <a:noFill/>
          <a:ln/>
        </p:spPr>
        <p:txBody>
          <a:bodyPr wrap="square" lIns="0" tIns="0" rIns="0" bIns="0" rtlCol="0" anchor="t"/>
          <a:lstStyle/>
          <a:p>
            <a:pPr indent="0" marL="0">
              <a:buNone/>
            </a:pPr>
            <a:r>
              <a:rPr lang="en-US" sz="1150" b="1" dirty="0">
                <a:solidFill>
                  <a:srgbClr val="1E2761"/>
                </a:solidFill>
                <a:latin typeface="Calibri" pitchFamily="34" charset="0"/>
                <a:ea typeface="Calibri" pitchFamily="34" charset="-122"/>
                <a:cs typeface="Calibri" pitchFamily="34" charset="-120"/>
              </a:rPr>
              <a:t>David et al., MLSys 2021</a:t>
            </a:r>
            <a:pPr indent="0" marL="0">
              <a:buNone/>
            </a:pPr>
            <a:r>
              <a:rPr lang="en-US" sz="1150" dirty="0">
                <a:solidFill>
                  <a:srgbClr val="5A6B8C"/>
                </a:solidFill>
                <a:latin typeface="Calibri" pitchFamily="34" charset="0"/>
                <a:ea typeface="Calibri" pitchFamily="34" charset="-122"/>
                <a:cs typeface="Calibri" pitchFamily="34" charset="-120"/>
              </a:rPr>
              <a:t>   ·   TensorFlow Lite Micro</a:t>
            </a:r>
            <a:endParaRPr lang="en-US" sz="1150" dirty="0"/>
          </a:p>
        </p:txBody>
      </p:sp>
      <p:sp>
        <p:nvSpPr>
          <p:cNvPr id="26" name="Text 24"/>
          <p:cNvSpPr txBox="1"/>
          <p:nvPr/>
        </p:nvSpPr>
        <p:spPr>
          <a:xfrm>
            <a:off x="6492240" y="5029200"/>
            <a:ext cx="4754880" cy="292608"/>
          </a:xfrm>
          <a:prstGeom prst="rect">
            <a:avLst/>
          </a:prstGeom>
          <a:noFill/>
          <a:ln/>
        </p:spPr>
        <p:txBody>
          <a:bodyPr wrap="square" lIns="0" tIns="0" rIns="0" bIns="0" rtlCol="0" anchor="t"/>
          <a:lstStyle/>
          <a:p>
            <a:pPr indent="0" marL="0">
              <a:buNone/>
            </a:pPr>
            <a:r>
              <a:rPr lang="en-US" sz="1150" b="1" dirty="0">
                <a:solidFill>
                  <a:srgbClr val="1E2761"/>
                </a:solidFill>
                <a:latin typeface="Calibri" pitchFamily="34" charset="0"/>
                <a:ea typeface="Calibri" pitchFamily="34" charset="-122"/>
                <a:cs typeface="Calibri" pitchFamily="34" charset="-120"/>
              </a:rPr>
              <a:t>Sainath and Parada, Interspeech 2015</a:t>
            </a:r>
            <a:pPr indent="0" marL="0">
              <a:buNone/>
            </a:pPr>
            <a:r>
              <a:rPr lang="en-US" sz="1150" dirty="0">
                <a:solidFill>
                  <a:srgbClr val="5A6B8C"/>
                </a:solidFill>
                <a:latin typeface="Calibri" pitchFamily="34" charset="0"/>
                <a:ea typeface="Calibri" pitchFamily="34" charset="-122"/>
                <a:cs typeface="Calibri" pitchFamily="34" charset="-120"/>
              </a:rPr>
              <a:t>   ·   CNN keyword spotting</a:t>
            </a:r>
            <a:endParaRPr lang="en-US" sz="1150" dirty="0"/>
          </a:p>
        </p:txBody>
      </p:sp>
      <p:sp>
        <p:nvSpPr>
          <p:cNvPr id="27" name="Text 25"/>
          <p:cNvSpPr txBox="1"/>
          <p:nvPr/>
        </p:nvSpPr>
        <p:spPr>
          <a:xfrm>
            <a:off x="6492240" y="5349240"/>
            <a:ext cx="4754880" cy="292608"/>
          </a:xfrm>
          <a:prstGeom prst="rect">
            <a:avLst/>
          </a:prstGeom>
          <a:noFill/>
          <a:ln/>
        </p:spPr>
        <p:txBody>
          <a:bodyPr wrap="square" lIns="0" tIns="0" rIns="0" bIns="0" rtlCol="0" anchor="t"/>
          <a:lstStyle/>
          <a:p>
            <a:pPr indent="0" marL="0">
              <a:buNone/>
            </a:pPr>
            <a:r>
              <a:rPr lang="en-US" sz="1150" b="1" dirty="0">
                <a:solidFill>
                  <a:srgbClr val="1E2761"/>
                </a:solidFill>
                <a:latin typeface="Calibri" pitchFamily="34" charset="0"/>
                <a:ea typeface="Calibri" pitchFamily="34" charset="-122"/>
                <a:cs typeface="Calibri" pitchFamily="34" charset="-120"/>
              </a:rPr>
              <a:t>Horowitz, ISSCC 2014</a:t>
            </a:r>
            <a:pPr indent="0" marL="0">
              <a:buNone/>
            </a:pPr>
            <a:r>
              <a:rPr lang="en-US" sz="1150" dirty="0">
                <a:solidFill>
                  <a:srgbClr val="5A6B8C"/>
                </a:solidFill>
                <a:latin typeface="Calibri" pitchFamily="34" charset="0"/>
                <a:ea typeface="Calibri" pitchFamily="34" charset="-122"/>
                <a:cs typeface="Calibri" pitchFamily="34" charset="-120"/>
              </a:rPr>
              <a:t>   ·   the energy cost of computing</a:t>
            </a:r>
            <a:endParaRPr lang="en-US" sz="1150" dirty="0"/>
          </a:p>
        </p:txBody>
      </p:sp>
      <p:sp>
        <p:nvSpPr>
          <p:cNvPr id="28" name="Text 26"/>
          <p:cNvSpPr txBox="1"/>
          <p:nvPr/>
        </p:nvSpPr>
        <p:spPr>
          <a:xfrm>
            <a:off x="640080" y="6053328"/>
            <a:ext cx="10881360" cy="329184"/>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Sixteen of the sixty journal and conference references listed with their DOIs in the README.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645920" y="3840480"/>
            <a:ext cx="4206240" cy="4206240"/>
          </a:xfrm>
          <a:prstGeom prst="ellipse">
            <a:avLst/>
          </a:prstGeom>
          <a:solidFill>
            <a:srgbClr val="27306E"/>
          </a:solidFill>
          <a:ln/>
        </p:spPr>
      </p:sp>
      <p:sp>
        <p:nvSpPr>
          <p:cNvPr id="3" name="Shape 1"/>
          <p:cNvSpPr/>
          <p:nvPr/>
        </p:nvSpPr>
        <p:spPr>
          <a:xfrm>
            <a:off x="9966960" y="-1097280"/>
            <a:ext cx="4023360" cy="4023360"/>
          </a:xfrm>
          <a:prstGeom prst="ellipse">
            <a:avLst/>
          </a:prstGeom>
          <a:solidFill>
            <a:srgbClr val="27306E"/>
          </a:solidFill>
          <a:ln/>
        </p:spPr>
      </p:sp>
      <p:sp>
        <p:nvSpPr>
          <p:cNvPr id="4" name="Text 2"/>
          <p:cNvSpPr txBox="1"/>
          <p:nvPr/>
        </p:nvSpPr>
        <p:spPr>
          <a:xfrm>
            <a:off x="640080" y="1051560"/>
            <a:ext cx="8778240" cy="68580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What this generalises to</a:t>
            </a:r>
            <a:endParaRPr lang="en-US" sz="3800" dirty="0"/>
          </a:p>
        </p:txBody>
      </p:sp>
      <p:sp>
        <p:nvSpPr>
          <p:cNvPr id="5" name="Text 3"/>
          <p:cNvSpPr txBox="1"/>
          <p:nvPr/>
        </p:nvSpPr>
        <p:spPr>
          <a:xfrm>
            <a:off x="640080" y="1847088"/>
            <a:ext cx="8778240" cy="457200"/>
          </a:xfrm>
          <a:prstGeom prst="rect">
            <a:avLst/>
          </a:prstGeom>
          <a:noFill/>
          <a:ln/>
        </p:spPr>
        <p:txBody>
          <a:bodyPr wrap="square" lIns="0" tIns="0" rIns="0" bIns="0" rtlCol="0" anchor="t"/>
          <a:lstStyle/>
          <a:p>
            <a:pPr indent="0" marL="0">
              <a:buNone/>
            </a:pPr>
            <a:r>
              <a:rPr lang="en-US" sz="1500" dirty="0">
                <a:solidFill>
                  <a:srgbClr val="CADCFC"/>
                </a:solidFill>
                <a:latin typeface="Calibri" pitchFamily="34" charset="0"/>
                <a:ea typeface="Calibri" pitchFamily="34" charset="-122"/>
                <a:cs typeface="Calibri" pitchFamily="34" charset="-120"/>
              </a:rPr>
              <a:t>The operating point is a property of relative per layer cost, and of nothing else. Three experiments pin that down.</a:t>
            </a:r>
            <a:endParaRPr lang="en-US" sz="1500" dirty="0"/>
          </a:p>
        </p:txBody>
      </p:sp>
      <p:sp>
        <p:nvSpPr>
          <p:cNvPr id="6" name="Shape 4"/>
          <p:cNvSpPr/>
          <p:nvPr/>
        </p:nvSpPr>
        <p:spPr>
          <a:xfrm>
            <a:off x="640080" y="2487168"/>
            <a:ext cx="3456432" cy="2286000"/>
          </a:xfrm>
          <a:prstGeom prst="roundRect">
            <a:avLst>
              <a:gd name="adj" fmla="val 4000"/>
            </a:avLst>
          </a:prstGeom>
          <a:solidFill>
            <a:srgbClr val="27306E"/>
          </a:solidFill>
          <a:ln/>
        </p:spPr>
      </p:sp>
      <p:sp>
        <p:nvSpPr>
          <p:cNvPr id="7" name="Text 5"/>
          <p:cNvSpPr txBox="1"/>
          <p:nvPr/>
        </p:nvSpPr>
        <p:spPr>
          <a:xfrm>
            <a:off x="914400" y="2724912"/>
            <a:ext cx="2907792" cy="731520"/>
          </a:xfrm>
          <a:prstGeom prst="rect">
            <a:avLst/>
          </a:prstGeom>
          <a:noFill/>
          <a:ln/>
        </p:spPr>
        <p:txBody>
          <a:bodyPr wrap="square" lIns="0" tIns="0" rIns="0" bIns="0" rtlCol="0" anchor="t"/>
          <a:lstStyle/>
          <a:p>
            <a:pPr indent="0" marL="0">
              <a:buNone/>
            </a:pPr>
            <a:r>
              <a:rPr lang="en-US" sz="1500" b="1" dirty="0">
                <a:solidFill>
                  <a:srgbClr val="F6AE2D"/>
                </a:solidFill>
                <a:latin typeface="Cambria" pitchFamily="34" charset="0"/>
                <a:ea typeface="Cambria" pitchFamily="34" charset="-122"/>
                <a:cs typeface="Cambria" pitchFamily="34" charset="-120"/>
              </a:rPr>
              <a:t>Remove the DSP extension</a:t>
            </a:r>
            <a:endParaRPr lang="en-US" sz="1500" dirty="0"/>
          </a:p>
        </p:txBody>
      </p:sp>
      <p:sp>
        <p:nvSpPr>
          <p:cNvPr id="8" name="Text 6"/>
          <p:cNvSpPr txBox="1"/>
          <p:nvPr/>
        </p:nvSpPr>
        <p:spPr>
          <a:xfrm>
            <a:off x="914400" y="3456432"/>
            <a:ext cx="2907792" cy="1188720"/>
          </a:xfrm>
          <a:prstGeom prst="rect">
            <a:avLst/>
          </a:prstGeom>
          <a:noFill/>
          <a:ln/>
        </p:spPr>
        <p:txBody>
          <a:bodyPr wrap="square" lIns="0" tIns="0" rIns="0" bIns="0" rtlCol="0" anchor="t"/>
          <a:lstStyle/>
          <a:p>
            <a:pPr indent="0" marL="0">
              <a:lnSpc>
                <a:spcPct val="115000"/>
              </a:lnSpc>
              <a:buNone/>
            </a:pPr>
            <a:r>
              <a:rPr lang="en-US" sz="1150" dirty="0">
                <a:solidFill>
                  <a:srgbClr val="CADCFC"/>
                </a:solidFill>
                <a:latin typeface="Calibri" pitchFamily="34" charset="0"/>
                <a:ea typeface="Calibri" pitchFamily="34" charset="-122"/>
                <a:cs typeface="Calibri" pitchFamily="34" charset="-120"/>
              </a:rPr>
              <a:t>Same mask. The depthwise layers do not move, they never used the packed path. The inversion is structural to depthwise separable convolution, so it is there in MobileNet and DS-CNN alike.</a:t>
            </a:r>
            <a:endParaRPr lang="en-US" sz="1150" dirty="0"/>
          </a:p>
        </p:txBody>
      </p:sp>
      <p:sp>
        <p:nvSpPr>
          <p:cNvPr id="9" name="Shape 7"/>
          <p:cNvSpPr/>
          <p:nvPr/>
        </p:nvSpPr>
        <p:spPr>
          <a:xfrm>
            <a:off x="4352544" y="2487168"/>
            <a:ext cx="3456432" cy="2286000"/>
          </a:xfrm>
          <a:prstGeom prst="roundRect">
            <a:avLst>
              <a:gd name="adj" fmla="val 4000"/>
            </a:avLst>
          </a:prstGeom>
          <a:solidFill>
            <a:srgbClr val="27306E"/>
          </a:solidFill>
          <a:ln/>
        </p:spPr>
      </p:sp>
      <p:sp>
        <p:nvSpPr>
          <p:cNvPr id="10" name="Text 8"/>
          <p:cNvSpPr txBox="1"/>
          <p:nvPr/>
        </p:nvSpPr>
        <p:spPr>
          <a:xfrm>
            <a:off x="4626864" y="2724912"/>
            <a:ext cx="2907792" cy="731520"/>
          </a:xfrm>
          <a:prstGeom prst="rect">
            <a:avLst/>
          </a:prstGeom>
          <a:noFill/>
          <a:ln/>
        </p:spPr>
        <p:txBody>
          <a:bodyPr wrap="square" lIns="0" tIns="0" rIns="0" bIns="0" rtlCol="0" anchor="t"/>
          <a:lstStyle/>
          <a:p>
            <a:pPr indent="0" marL="0">
              <a:buNone/>
            </a:pPr>
            <a:r>
              <a:rPr lang="en-US" sz="1500" b="1" dirty="0">
                <a:solidFill>
                  <a:srgbClr val="F6AE2D"/>
                </a:solidFill>
                <a:latin typeface="Cambria" pitchFamily="34" charset="0"/>
                <a:ea typeface="Cambria" pitchFamily="34" charset="-122"/>
                <a:cs typeface="Cambria" pitchFamily="34" charset="-120"/>
              </a:rPr>
              <a:t>Double every cycle count</a:t>
            </a:r>
            <a:endParaRPr lang="en-US" sz="1500" dirty="0"/>
          </a:p>
        </p:txBody>
      </p:sp>
      <p:sp>
        <p:nvSpPr>
          <p:cNvPr id="11" name="Text 9"/>
          <p:cNvSpPr txBox="1"/>
          <p:nvPr/>
        </p:nvSpPr>
        <p:spPr>
          <a:xfrm>
            <a:off x="4626864" y="3456432"/>
            <a:ext cx="2907792" cy="1188720"/>
          </a:xfrm>
          <a:prstGeom prst="rect">
            <a:avLst/>
          </a:prstGeom>
          <a:noFill/>
          <a:ln/>
        </p:spPr>
        <p:txBody>
          <a:bodyPr wrap="square" lIns="0" tIns="0" rIns="0" bIns="0" rtlCol="0" anchor="t"/>
          <a:lstStyle/>
          <a:p>
            <a:pPr indent="0" marL="0">
              <a:lnSpc>
                <a:spcPct val="115000"/>
              </a:lnSpc>
              <a:buNone/>
            </a:pPr>
            <a:r>
              <a:rPr lang="en-US" sz="1150" dirty="0">
                <a:solidFill>
                  <a:srgbClr val="CADCFC"/>
                </a:solidFill>
                <a:latin typeface="Calibri" pitchFamily="34" charset="0"/>
                <a:ea typeface="Calibri" pitchFamily="34" charset="-122"/>
                <a:cs typeface="Calibri" pitchFamily="34" charset="-120"/>
              </a:rPr>
              <a:t>Same mask. A slower clock or a thermal throttle changes whether the deadline is met, never which configuration is cheapest.</a:t>
            </a:r>
            <a:endParaRPr lang="en-US" sz="1150" dirty="0"/>
          </a:p>
        </p:txBody>
      </p:sp>
      <p:sp>
        <p:nvSpPr>
          <p:cNvPr id="12" name="Shape 10"/>
          <p:cNvSpPr/>
          <p:nvPr/>
        </p:nvSpPr>
        <p:spPr>
          <a:xfrm>
            <a:off x="8065008" y="2487168"/>
            <a:ext cx="3456432" cy="2286000"/>
          </a:xfrm>
          <a:prstGeom prst="roundRect">
            <a:avLst>
              <a:gd name="adj" fmla="val 4000"/>
            </a:avLst>
          </a:prstGeom>
          <a:solidFill>
            <a:srgbClr val="27306E"/>
          </a:solidFill>
          <a:ln/>
        </p:spPr>
      </p:sp>
      <p:sp>
        <p:nvSpPr>
          <p:cNvPr id="13" name="Text 11"/>
          <p:cNvSpPr txBox="1"/>
          <p:nvPr/>
        </p:nvSpPr>
        <p:spPr>
          <a:xfrm>
            <a:off x="8339328" y="2724912"/>
            <a:ext cx="2907792" cy="731520"/>
          </a:xfrm>
          <a:prstGeom prst="rect">
            <a:avLst/>
          </a:prstGeom>
          <a:noFill/>
          <a:ln/>
        </p:spPr>
        <p:txBody>
          <a:bodyPr wrap="square" lIns="0" tIns="0" rIns="0" bIns="0" rtlCol="0" anchor="t"/>
          <a:lstStyle/>
          <a:p>
            <a:pPr indent="0" marL="0">
              <a:buNone/>
            </a:pPr>
            <a:r>
              <a:rPr lang="en-US" sz="1500" b="1" dirty="0">
                <a:solidFill>
                  <a:srgbClr val="F6AE2D"/>
                </a:solidFill>
                <a:latin typeface="Cambria" pitchFamily="34" charset="0"/>
                <a:ea typeface="Cambria" pitchFamily="34" charset="-122"/>
                <a:cs typeface="Cambria" pitchFamily="34" charset="-120"/>
              </a:rPr>
              <a:t>Give depthwise a kernel that wins</a:t>
            </a:r>
            <a:endParaRPr lang="en-US" sz="1500" dirty="0"/>
          </a:p>
        </p:txBody>
      </p:sp>
      <p:sp>
        <p:nvSpPr>
          <p:cNvPr id="14" name="Text 12"/>
          <p:cNvSpPr txBox="1"/>
          <p:nvPr/>
        </p:nvSpPr>
        <p:spPr>
          <a:xfrm>
            <a:off x="8339328" y="3456432"/>
            <a:ext cx="2907792" cy="1188720"/>
          </a:xfrm>
          <a:prstGeom prst="rect">
            <a:avLst/>
          </a:prstGeom>
          <a:noFill/>
          <a:ln/>
        </p:spPr>
        <p:txBody>
          <a:bodyPr wrap="square" lIns="0" tIns="0" rIns="0" bIns="0" rtlCol="0" anchor="t"/>
          <a:lstStyle/>
          <a:p>
            <a:pPr indent="0" marL="0">
              <a:lnSpc>
                <a:spcPct val="115000"/>
              </a:lnSpc>
              <a:buNone/>
            </a:pPr>
            <a:r>
              <a:rPr lang="en-US" sz="1150" dirty="0">
                <a:solidFill>
                  <a:srgbClr val="CADCFC"/>
                </a:solidFill>
                <a:latin typeface="Calibri" pitchFamily="34" charset="0"/>
                <a:ea typeface="Calibri" pitchFamily="34" charset="-122"/>
                <a:cs typeface="Calibri" pitchFamily="34" charset="-120"/>
              </a:rPr>
              <a:t>Optimum collapses to plain INT8 in ten demotions. The mixed answer lasts exactly as long as the inversion, and the controller finds the new one unprompted.</a:t>
            </a:r>
            <a:endParaRPr lang="en-US" sz="1150" dirty="0"/>
          </a:p>
        </p:txBody>
      </p:sp>
      <p:sp>
        <p:nvSpPr>
          <p:cNvPr id="15" name="Text 13"/>
          <p:cNvSpPr txBox="1"/>
          <p:nvPr/>
        </p:nvSpPr>
        <p:spPr>
          <a:xfrm>
            <a:off x="640080" y="4956048"/>
            <a:ext cx="10881360" cy="45720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To port it: swap the signal source behind one interface, the model, and the test for an interesting frame. Controller, calibration, deadline logic and weight streaming are untouched.</a:t>
            </a:r>
            <a:endParaRPr lang="en-US" sz="1300" dirty="0"/>
          </a:p>
        </p:txBody>
      </p:sp>
      <p:sp>
        <p:nvSpPr>
          <p:cNvPr id="16" name="Text 14"/>
          <p:cNvSpPr txBox="1"/>
          <p:nvPr/>
        </p:nvSpPr>
        <p:spPr>
          <a:xfrm>
            <a:off x="640080" y="5559552"/>
            <a:ext cx="1088136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github.com/kushal-script/utkernel-rtos-adaptive-edge-ai</a:t>
            </a:r>
            <a:endParaRPr lang="en-US" sz="1600" dirty="0"/>
          </a:p>
        </p:txBody>
      </p:sp>
      <p:sp>
        <p:nvSpPr>
          <p:cNvPr id="17" name="Text 15"/>
          <p:cNvSpPr txBox="1"/>
          <p:nvPr/>
        </p:nvSpPr>
        <p:spPr>
          <a:xfrm>
            <a:off x="640080" y="5989320"/>
            <a:ext cx="10881360" cy="365760"/>
          </a:xfrm>
          <a:prstGeom prst="rect">
            <a:avLst/>
          </a:prstGeom>
          <a:noFill/>
          <a:ln/>
        </p:spPr>
        <p:txBody>
          <a:bodyPr wrap="square" lIns="0" tIns="0" rIns="0" bIns="0" rtlCol="0" anchor="t"/>
          <a:lstStyle/>
          <a:p>
            <a:pPr indent="0" marL="0">
              <a:buNone/>
            </a:pPr>
            <a:r>
              <a:rPr lang="en-US" sz="1250" dirty="0">
                <a:solidFill>
                  <a:srgbClr val="8FA2C4"/>
                </a:solidFill>
                <a:latin typeface="Calibri" pitchFamily="34" charset="0"/>
                <a:ea typeface="Calibri" pitchFamily="34" charset="-122"/>
                <a:cs typeface="Calibri" pitchFamily="34" charset="-120"/>
              </a:rPr>
              <a:t>Project code MIT, vendored µT-Kernel 3.0 under T-License 2.1 and 2.2   ·   reproduces every number from the board alone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µT-Kernel RTOS-Coupled Adaptive Edge AI</dc:title>
  <dc:subject>TRON Programming Contest 2026, RTOS Application, Students</dc:subject>
  <dc:creator>Kushal Sathyanarayan</dc:creator>
  <cp:lastModifiedBy>Kushal Sathyanarayan</cp:lastModifiedBy>
  <cp:revision>1</cp:revision>
  <dcterms:created xsi:type="dcterms:W3CDTF">2026-09-28T06:15:42Z</dcterms:created>
  <dcterms:modified xsi:type="dcterms:W3CDTF">2026-09-28T06:15:42Z</dcterms:modified>
</cp:coreProperties>
</file>